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51"/>
  </p:notesMasterIdLst>
  <p:sldIdLst>
    <p:sldId id="257" r:id="rId3"/>
    <p:sldId id="258" r:id="rId4"/>
    <p:sldId id="263" r:id="rId5"/>
    <p:sldId id="303" r:id="rId6"/>
    <p:sldId id="304" r:id="rId7"/>
    <p:sldId id="268" r:id="rId8"/>
    <p:sldId id="269" r:id="rId9"/>
    <p:sldId id="293" r:id="rId10"/>
    <p:sldId id="291" r:id="rId11"/>
    <p:sldId id="292" r:id="rId12"/>
    <p:sldId id="270" r:id="rId13"/>
    <p:sldId id="307" r:id="rId14"/>
    <p:sldId id="308" r:id="rId15"/>
    <p:sldId id="331" r:id="rId16"/>
    <p:sldId id="321" r:id="rId17"/>
    <p:sldId id="322" r:id="rId18"/>
    <p:sldId id="323" r:id="rId19"/>
    <p:sldId id="318" r:id="rId20"/>
    <p:sldId id="312" r:id="rId21"/>
    <p:sldId id="310" r:id="rId22"/>
    <p:sldId id="324" r:id="rId23"/>
    <p:sldId id="311" r:id="rId24"/>
    <p:sldId id="313" r:id="rId25"/>
    <p:sldId id="325" r:id="rId26"/>
    <p:sldId id="326" r:id="rId27"/>
    <p:sldId id="314" r:id="rId28"/>
    <p:sldId id="327" r:id="rId29"/>
    <p:sldId id="273" r:id="rId30"/>
    <p:sldId id="315" r:id="rId31"/>
    <p:sldId id="328" r:id="rId32"/>
    <p:sldId id="319" r:id="rId33"/>
    <p:sldId id="272" r:id="rId34"/>
    <p:sldId id="329" r:id="rId35"/>
    <p:sldId id="330" r:id="rId36"/>
    <p:sldId id="278" r:id="rId37"/>
    <p:sldId id="280" r:id="rId38"/>
    <p:sldId id="281" r:id="rId39"/>
    <p:sldId id="282" r:id="rId40"/>
    <p:sldId id="283" r:id="rId41"/>
    <p:sldId id="284" r:id="rId42"/>
    <p:sldId id="285" r:id="rId43"/>
    <p:sldId id="286" r:id="rId44"/>
    <p:sldId id="287" r:id="rId45"/>
    <p:sldId id="306" r:id="rId46"/>
    <p:sldId id="288" r:id="rId47"/>
    <p:sldId id="289" r:id="rId48"/>
    <p:sldId id="332" r:id="rId49"/>
    <p:sldId id="290" r:id="rId5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4C30FAF-E129-457A-AE18-943A13ACF27D}" v="44" dt="2020-11-20T13:21:40.69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3953" autoAdjust="0"/>
  </p:normalViewPr>
  <p:slideViewPr>
    <p:cSldViewPr snapToGrid="0">
      <p:cViewPr varScale="1">
        <p:scale>
          <a:sx n="52" d="100"/>
          <a:sy n="52" d="100"/>
        </p:scale>
        <p:origin x="972" y="60"/>
      </p:cViewPr>
      <p:guideLst/>
    </p:cSldViewPr>
  </p:slideViewPr>
  <p:notesTextViewPr>
    <p:cViewPr>
      <p:scale>
        <a:sx n="1" d="1"/>
        <a:sy n="1" d="1"/>
      </p:scale>
      <p:origin x="0" y="0"/>
    </p:cViewPr>
  </p:notesTextViewPr>
  <p:sorterViewPr>
    <p:cViewPr>
      <p:scale>
        <a:sx n="100" d="100"/>
        <a:sy n="100" d="100"/>
      </p:scale>
      <p:origin x="0" y="-110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tableStyles" Target="tableStyle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viewProps" Target="viewProp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microsoft.com/office/2015/10/relationships/revisionInfo" Target="revisionInfo.xml"/><Relationship Id="rId8" Type="http://schemas.openxmlformats.org/officeDocument/2006/relationships/slide" Target="slides/slide6.xml"/><Relationship Id="rId51" Type="http://schemas.openxmlformats.org/officeDocument/2006/relationships/notesMaster" Target="notesMasters/notesMaster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1E690-1D66-4C8E-8719-C20EE1A8274F}" type="datetimeFigureOut">
              <a:rPr lang="en-GB" smtClean="0"/>
              <a:t>08/12/2021</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23020BC-C4C0-41E2-A054-1B9BA7D405A7}" type="slidenum">
              <a:rPr lang="en-GB" smtClean="0"/>
              <a:t>‹#›</a:t>
            </a:fld>
            <a:endParaRPr lang="en-GB"/>
          </a:p>
        </p:txBody>
      </p:sp>
    </p:spTree>
    <p:extLst>
      <p:ext uri="{BB962C8B-B14F-4D97-AF65-F5344CB8AC3E}">
        <p14:creationId xmlns:p14="http://schemas.microsoft.com/office/powerpoint/2010/main" val="3419535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en.wikipedia.org/wiki/Deamination#Cytosine"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en.wikipedia.org/wiki/DNA_glycosylase#Uracil_DNA_glycosylases"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423020BC-C4C0-41E2-A054-1B9BA7D405A7}" type="slidenum">
              <a:rPr lang="en-GB" smtClean="0"/>
              <a:t>2</a:t>
            </a:fld>
            <a:endParaRPr lang="en-GB"/>
          </a:p>
        </p:txBody>
      </p:sp>
    </p:spTree>
    <p:extLst>
      <p:ext uri="{BB962C8B-B14F-4D97-AF65-F5344CB8AC3E}">
        <p14:creationId xmlns:p14="http://schemas.microsoft.com/office/powerpoint/2010/main" val="15072406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4AD4579C-D677-4BE3-9E6B-3BE1155132E2}" type="slidenum">
              <a:rPr lang="en-GB" smtClean="0"/>
              <a:t>3</a:t>
            </a:fld>
            <a:endParaRPr lang="en-GB"/>
          </a:p>
        </p:txBody>
      </p:sp>
    </p:spTree>
    <p:extLst>
      <p:ext uri="{BB962C8B-B14F-4D97-AF65-F5344CB8AC3E}">
        <p14:creationId xmlns:p14="http://schemas.microsoft.com/office/powerpoint/2010/main" val="1788306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Unlike double-stranded DNA, </a:t>
            </a:r>
            <a:r>
              <a:rPr lang="en-GB" sz="1200" b="1" i="0" kern="1200" dirty="0">
                <a:solidFill>
                  <a:schemeClr val="tx1"/>
                </a:solidFill>
                <a:effectLst/>
                <a:latin typeface="+mn-lt"/>
                <a:ea typeface="+mn-ea"/>
                <a:cs typeface="+mn-cs"/>
              </a:rPr>
              <a:t>RNA</a:t>
            </a:r>
            <a:r>
              <a:rPr lang="en-GB" sz="1200" b="0" i="0" kern="1200" dirty="0">
                <a:solidFill>
                  <a:schemeClr val="tx1"/>
                </a:solidFill>
                <a:effectLst/>
                <a:latin typeface="+mn-lt"/>
                <a:ea typeface="+mn-ea"/>
                <a:cs typeface="+mn-cs"/>
              </a:rPr>
              <a:t> is a </a:t>
            </a:r>
            <a:r>
              <a:rPr lang="en-GB" sz="1200" b="1" i="0" kern="1200" dirty="0">
                <a:solidFill>
                  <a:schemeClr val="tx1"/>
                </a:solidFill>
                <a:effectLst/>
                <a:latin typeface="+mn-lt"/>
                <a:ea typeface="+mn-ea"/>
                <a:cs typeface="+mn-cs"/>
              </a:rPr>
              <a:t>single-stranded</a:t>
            </a:r>
            <a:r>
              <a:rPr lang="en-GB" sz="1200" b="0" i="0" kern="1200" dirty="0">
                <a:solidFill>
                  <a:schemeClr val="tx1"/>
                </a:solidFill>
                <a:effectLst/>
                <a:latin typeface="+mn-lt"/>
                <a:ea typeface="+mn-ea"/>
                <a:cs typeface="+mn-cs"/>
              </a:rPr>
              <a:t> molecule in many of its biological roles and consists of much shorter chains of nucleotides. </a:t>
            </a:r>
          </a:p>
          <a:p>
            <a:r>
              <a:rPr lang="en-GB" sz="1200" b="0" i="0" kern="1200" dirty="0">
                <a:solidFill>
                  <a:schemeClr val="tx1"/>
                </a:solidFill>
                <a:effectLst/>
                <a:latin typeface="+mn-lt"/>
                <a:ea typeface="+mn-ea"/>
                <a:cs typeface="+mn-cs"/>
              </a:rPr>
              <a:t>However, a single </a:t>
            </a:r>
            <a:r>
              <a:rPr lang="en-GB" sz="1200" b="1" i="0" kern="1200" dirty="0">
                <a:solidFill>
                  <a:schemeClr val="tx1"/>
                </a:solidFill>
                <a:effectLst/>
                <a:latin typeface="+mn-lt"/>
                <a:ea typeface="+mn-ea"/>
                <a:cs typeface="+mn-cs"/>
              </a:rPr>
              <a:t>RNA</a:t>
            </a:r>
            <a:r>
              <a:rPr lang="en-GB" sz="1200" b="0" i="0" kern="1200" dirty="0">
                <a:solidFill>
                  <a:schemeClr val="tx1"/>
                </a:solidFill>
                <a:effectLst/>
                <a:latin typeface="+mn-lt"/>
                <a:ea typeface="+mn-ea"/>
                <a:cs typeface="+mn-cs"/>
              </a:rPr>
              <a:t> molecule can, by complementary base pairing, form </a:t>
            </a:r>
            <a:r>
              <a:rPr lang="en-GB" sz="1200" b="0" i="0" kern="1200" dirty="0" err="1">
                <a:solidFill>
                  <a:schemeClr val="tx1"/>
                </a:solidFill>
                <a:effectLst/>
                <a:latin typeface="+mn-lt"/>
                <a:ea typeface="+mn-ea"/>
                <a:cs typeface="+mn-cs"/>
              </a:rPr>
              <a:t>intrastrand</a:t>
            </a:r>
            <a:r>
              <a:rPr lang="en-GB" sz="1200" b="0" i="0" kern="1200" dirty="0">
                <a:solidFill>
                  <a:schemeClr val="tx1"/>
                </a:solidFill>
                <a:effectLst/>
                <a:latin typeface="+mn-lt"/>
                <a:ea typeface="+mn-ea"/>
                <a:cs typeface="+mn-cs"/>
              </a:rPr>
              <a:t> </a:t>
            </a:r>
            <a:r>
              <a:rPr lang="en-GB" sz="1200" b="1" i="0" kern="1200" dirty="0">
                <a:solidFill>
                  <a:schemeClr val="tx1"/>
                </a:solidFill>
                <a:effectLst/>
                <a:latin typeface="+mn-lt"/>
                <a:ea typeface="+mn-ea"/>
                <a:cs typeface="+mn-cs"/>
              </a:rPr>
              <a:t>double</a:t>
            </a:r>
            <a:r>
              <a:rPr lang="en-GB" sz="1200" b="0" i="0" kern="1200" dirty="0">
                <a:solidFill>
                  <a:schemeClr val="tx1"/>
                </a:solidFill>
                <a:effectLst/>
                <a:latin typeface="+mn-lt"/>
                <a:ea typeface="+mn-ea"/>
                <a:cs typeface="+mn-cs"/>
              </a:rPr>
              <a:t> helixes, as in </a:t>
            </a:r>
            <a:r>
              <a:rPr lang="en-GB" sz="1200" b="0" i="0" kern="1200" dirty="0" err="1">
                <a:solidFill>
                  <a:schemeClr val="tx1"/>
                </a:solidFill>
                <a:effectLst/>
                <a:latin typeface="+mn-lt"/>
                <a:ea typeface="+mn-ea"/>
                <a:cs typeface="+mn-cs"/>
              </a:rPr>
              <a:t>tRNA</a:t>
            </a:r>
            <a:r>
              <a:rPr lang="en-GB" sz="1200" b="0" i="0" kern="1200" dirty="0">
                <a:solidFill>
                  <a:schemeClr val="tx1"/>
                </a:solidFill>
                <a:effectLst/>
                <a:latin typeface="+mn-lt"/>
                <a:ea typeface="+mn-ea"/>
                <a:cs typeface="+mn-cs"/>
              </a:rPr>
              <a:t>.</a:t>
            </a:r>
            <a:endParaRPr lang="en-GB"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AD4579C-D677-4BE3-9E6B-3BE1155132E2}"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93390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3BA01E-CB06-294F-AE73-08DF7FCF7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243827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fontAlgn="base"/>
            <a:endParaRPr lang="en-GB" sz="1200" kern="1200" dirty="0">
              <a:solidFill>
                <a:schemeClr val="tx1"/>
              </a:solidFill>
              <a:effectLst/>
              <a:latin typeface="+mn-lt"/>
              <a:ea typeface="+mn-ea"/>
              <a:cs typeface="+mn-cs"/>
            </a:endParaRPr>
          </a:p>
          <a:p>
            <a:pPr fontAlgn="base"/>
            <a:r>
              <a:rPr lang="en-GB" sz="1200" kern="1200" dirty="0">
                <a:solidFill>
                  <a:schemeClr val="tx1"/>
                </a:solidFill>
                <a:effectLst/>
                <a:latin typeface="+mn-lt"/>
                <a:ea typeface="+mn-ea"/>
                <a:cs typeface="+mn-cs"/>
              </a:rPr>
              <a:t>One major problem with using uracil as a base is that </a:t>
            </a:r>
            <a:r>
              <a:rPr lang="en-GB" sz="1200" u="none" strike="noStrike" kern="1200" dirty="0">
                <a:solidFill>
                  <a:schemeClr val="tx1"/>
                </a:solidFill>
                <a:effectLst/>
                <a:latin typeface="+mn-lt"/>
                <a:ea typeface="+mn-ea"/>
                <a:cs typeface="+mn-cs"/>
                <a:hlinkClick r:id="rId3"/>
              </a:rPr>
              <a:t>cytosine can be </a:t>
            </a:r>
            <a:r>
              <a:rPr lang="en-GB" sz="1200" u="none" strike="noStrike" kern="1200" dirty="0" err="1">
                <a:solidFill>
                  <a:schemeClr val="tx1"/>
                </a:solidFill>
                <a:effectLst/>
                <a:latin typeface="+mn-lt"/>
                <a:ea typeface="+mn-ea"/>
                <a:cs typeface="+mn-cs"/>
                <a:hlinkClick r:id="rId3"/>
              </a:rPr>
              <a:t>deaminated</a:t>
            </a:r>
            <a:r>
              <a:rPr lang="en-GB" sz="1200" kern="1200" dirty="0">
                <a:solidFill>
                  <a:schemeClr val="tx1"/>
                </a:solidFill>
                <a:effectLst/>
                <a:latin typeface="+mn-lt"/>
                <a:ea typeface="+mn-ea"/>
                <a:cs typeface="+mn-cs"/>
              </a:rPr>
              <a:t>, which converts it into uracil. This is not a rare reaction; it happens around 100 times per cell, per day. This is no major problem when using thymine, as the cell can easily recognize that the uracil doesn't belong there and can repair it by substituting it by a cytosine again.</a:t>
            </a:r>
          </a:p>
          <a:p>
            <a:pPr fontAlgn="base"/>
            <a:r>
              <a:rPr lang="en-GB" sz="1200" kern="1200" dirty="0">
                <a:solidFill>
                  <a:schemeClr val="tx1"/>
                </a:solidFill>
                <a:effectLst/>
                <a:latin typeface="+mn-lt"/>
                <a:ea typeface="+mn-ea"/>
                <a:cs typeface="+mn-cs"/>
              </a:rPr>
              <a:t>There is an enzyme, </a:t>
            </a:r>
            <a:r>
              <a:rPr lang="en-GB" sz="1200" u="none" strike="noStrike" kern="1200" dirty="0">
                <a:solidFill>
                  <a:schemeClr val="tx1"/>
                </a:solidFill>
                <a:effectLst/>
                <a:latin typeface="+mn-lt"/>
                <a:ea typeface="+mn-ea"/>
                <a:cs typeface="+mn-cs"/>
                <a:hlinkClick r:id="rId4"/>
              </a:rPr>
              <a:t>uracil DNA glycosylase</a:t>
            </a:r>
            <a:r>
              <a:rPr lang="en-GB" sz="1200" kern="1200" dirty="0">
                <a:solidFill>
                  <a:schemeClr val="tx1"/>
                </a:solidFill>
                <a:effectLst/>
                <a:latin typeface="+mn-lt"/>
                <a:ea typeface="+mn-ea"/>
                <a:cs typeface="+mn-cs"/>
              </a:rPr>
              <a:t>, that does exactly that; it excises uracil bases from double-stranded DNA. It can safely do that as uracil is not supposed to be present in the DNA and has to be the result of a base modification.</a:t>
            </a:r>
          </a:p>
          <a:p>
            <a:pPr fontAlgn="base"/>
            <a:r>
              <a:rPr lang="en-GB" sz="1200" kern="1200" dirty="0">
                <a:solidFill>
                  <a:schemeClr val="tx1"/>
                </a:solidFill>
                <a:effectLst/>
                <a:latin typeface="+mn-lt"/>
                <a:ea typeface="+mn-ea"/>
                <a:cs typeface="+mn-cs"/>
              </a:rPr>
              <a:t>Now, if we would use uracil in DNA it would not be so easy to decide how to repair that error. It would prevent the usage of this important repair pathway.</a:t>
            </a:r>
          </a:p>
          <a:p>
            <a:pPr fontAlgn="base"/>
            <a:r>
              <a:rPr lang="en-GB" sz="1200" kern="1200" dirty="0">
                <a:solidFill>
                  <a:schemeClr val="tx1"/>
                </a:solidFill>
                <a:effectLst/>
                <a:latin typeface="+mn-lt"/>
                <a:ea typeface="+mn-ea"/>
                <a:cs typeface="+mn-cs"/>
              </a:rPr>
              <a:t>The inability to repair such damage doesn't matter for RNA as the mRNA is comparatively short-lived and any potential errors don't lead to any lasting damage. It matters a lot for DNA as the errors are continued through every replication. Now, this explains why there is an advantage to using thymine in DNA, it doesn't explain why RNA uses uracil. I'd guess it just evolved that way and there was no significant drawback that could be selected against, but there might be a better reason (more difficult biosynthesis of thymine, maybe?).</a:t>
            </a:r>
          </a:p>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03BA01E-CB06-294F-AE73-08DF7FCF7FE4}"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88104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dirty="0"/>
              <a:t>Review table.</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28530C4-D230-A34A-9E9C-71DA4AC1A9AF}"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80137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GB"/>
              <a:t>3 out of 64 codons are stop codons and they do not encode an amino acid. Thus, 61 codons encode 20 amino acids.</a:t>
            </a:r>
          </a:p>
        </p:txBody>
      </p:sp>
      <p:sp>
        <p:nvSpPr>
          <p:cNvPr id="4" name="Slide Number Placeholder 3"/>
          <p:cNvSpPr>
            <a:spLocks noGrp="1"/>
          </p:cNvSpPr>
          <p:nvPr>
            <p:ph type="sldNum" sz="quarter" idx="5"/>
          </p:nvPr>
        </p:nvSpPr>
        <p:spPr/>
        <p:txBody>
          <a:bodyPr/>
          <a:lstStyle/>
          <a:p>
            <a:fld id="{4AD4579C-D677-4BE3-9E6B-3BE1155132E2}" type="slidenum">
              <a:rPr lang="en-GB" smtClean="0"/>
              <a:t>28</a:t>
            </a:fld>
            <a:endParaRPr lang="en-GB"/>
          </a:p>
        </p:txBody>
      </p:sp>
    </p:spTree>
    <p:extLst>
      <p:ext uri="{BB962C8B-B14F-4D97-AF65-F5344CB8AC3E}">
        <p14:creationId xmlns:p14="http://schemas.microsoft.com/office/powerpoint/2010/main" val="8625659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fontAlgn="base"/>
            <a:r>
              <a:rPr lang="en-GB" sz="1200" b="0" i="0" kern="1200" dirty="0">
                <a:solidFill>
                  <a:schemeClr val="tx1"/>
                </a:solidFill>
                <a:effectLst/>
                <a:latin typeface="+mn-lt"/>
                <a:ea typeface="+mn-ea"/>
                <a:cs typeface="+mn-cs"/>
              </a:rPr>
              <a:t>In order for translation to start, we need a few key ingredients. These include:</a:t>
            </a:r>
          </a:p>
          <a:p>
            <a:pPr fontAlgn="base"/>
            <a:r>
              <a:rPr lang="en-GB" sz="1200" b="0" i="0" kern="1200" dirty="0">
                <a:solidFill>
                  <a:schemeClr val="tx1"/>
                </a:solidFill>
                <a:effectLst/>
                <a:latin typeface="+mn-lt"/>
                <a:ea typeface="+mn-ea"/>
                <a:cs typeface="+mn-cs"/>
              </a:rPr>
              <a:t>A ribosome;</a:t>
            </a:r>
          </a:p>
          <a:p>
            <a:pPr fontAlgn="base"/>
            <a:r>
              <a:rPr lang="en-GB" sz="1200" b="0" i="0" kern="1200" dirty="0">
                <a:solidFill>
                  <a:schemeClr val="tx1"/>
                </a:solidFill>
                <a:effectLst/>
                <a:latin typeface="+mn-lt"/>
                <a:ea typeface="+mn-ea"/>
                <a:cs typeface="+mn-cs"/>
              </a:rPr>
              <a:t>An mRNA with instructions for the protein synthesis;</a:t>
            </a:r>
          </a:p>
          <a:p>
            <a:pPr fontAlgn="base"/>
            <a:r>
              <a:rPr lang="en-GB" sz="1200" b="0" i="0" kern="1200" dirty="0">
                <a:solidFill>
                  <a:schemeClr val="tx1"/>
                </a:solidFill>
                <a:effectLst/>
                <a:latin typeface="+mn-lt"/>
                <a:ea typeface="+mn-ea"/>
                <a:cs typeface="+mn-cs"/>
              </a:rPr>
              <a:t>An "initiator" </a:t>
            </a:r>
            <a:r>
              <a:rPr lang="en-GB" sz="1200" b="0" i="0" kern="1200" dirty="0" err="1">
                <a:solidFill>
                  <a:schemeClr val="tx1"/>
                </a:solidFill>
                <a:effectLst/>
                <a:latin typeface="+mn-lt"/>
                <a:ea typeface="+mn-ea"/>
                <a:cs typeface="+mn-cs"/>
              </a:rPr>
              <a:t>tRNA</a:t>
            </a:r>
            <a:r>
              <a:rPr lang="en-GB" sz="1200" b="0" i="0" kern="1200" dirty="0">
                <a:solidFill>
                  <a:schemeClr val="tx1"/>
                </a:solidFill>
                <a:effectLst/>
                <a:latin typeface="+mn-lt"/>
                <a:ea typeface="+mn-ea"/>
                <a:cs typeface="+mn-cs"/>
              </a:rPr>
              <a:t> carrying the first amino acid in the protein, which is almost always methionine (Met);</a:t>
            </a:r>
          </a:p>
          <a:p>
            <a:pPr fontAlgn="base"/>
            <a:r>
              <a:rPr lang="en-GB" sz="1200" b="0" i="0" kern="1200" dirty="0">
                <a:solidFill>
                  <a:schemeClr val="tx1"/>
                </a:solidFill>
                <a:effectLst/>
                <a:latin typeface="+mn-lt"/>
                <a:ea typeface="+mn-ea"/>
                <a:cs typeface="+mn-cs"/>
              </a:rPr>
              <a:t>During initiation, these pieces must come together forming the </a:t>
            </a:r>
            <a:r>
              <a:rPr lang="en-GB" sz="1200" b="1" i="0" kern="1200" dirty="0">
                <a:solidFill>
                  <a:schemeClr val="tx1"/>
                </a:solidFill>
                <a:effectLst/>
                <a:latin typeface="+mn-lt"/>
                <a:ea typeface="+mn-ea"/>
                <a:cs typeface="+mn-cs"/>
              </a:rPr>
              <a:t>initiation complex</a:t>
            </a:r>
            <a:r>
              <a:rPr lang="en-GB" sz="1200" b="0" i="0" kern="1200" dirty="0">
                <a:solidFill>
                  <a:schemeClr val="tx1"/>
                </a:solidFill>
                <a:effectLst/>
                <a:latin typeface="+mn-lt"/>
                <a:ea typeface="+mn-ea"/>
                <a:cs typeface="+mn-cs"/>
              </a:rPr>
              <a:t>, the molecular setup needed to start making a new protein.</a:t>
            </a:r>
          </a:p>
          <a:p>
            <a:pPr fontAlgn="base"/>
            <a:endParaRPr lang="en-GB" sz="1200" b="0" i="0" kern="1200" dirty="0">
              <a:solidFill>
                <a:schemeClr val="tx1"/>
              </a:solidFill>
              <a:effectLst/>
              <a:latin typeface="+mn-lt"/>
              <a:ea typeface="+mn-ea"/>
              <a:cs typeface="+mn-cs"/>
            </a:endParaRPr>
          </a:p>
          <a:p>
            <a:pPr fontAlgn="base"/>
            <a:r>
              <a:rPr lang="en-GB" sz="1200" b="0" i="0" kern="1200" dirty="0">
                <a:solidFill>
                  <a:schemeClr val="tx1"/>
                </a:solidFill>
                <a:effectLst/>
                <a:latin typeface="+mn-lt"/>
                <a:ea typeface="+mn-ea"/>
                <a:cs typeface="+mn-cs"/>
              </a:rPr>
              <a:t>In translation, the codons of an mRNA are read in order (from the 5' end to the 3' end) by molecules called </a:t>
            </a:r>
            <a:r>
              <a:rPr lang="en-GB" sz="1200" b="1" i="0" kern="1200" dirty="0">
                <a:solidFill>
                  <a:schemeClr val="tx1"/>
                </a:solidFill>
                <a:effectLst/>
                <a:latin typeface="+mn-lt"/>
                <a:ea typeface="+mn-ea"/>
                <a:cs typeface="+mn-cs"/>
              </a:rPr>
              <a:t>transfer RNAs</a:t>
            </a:r>
            <a:r>
              <a:rPr lang="en-GB" sz="1200" b="0" i="0" kern="1200" dirty="0">
                <a:solidFill>
                  <a:schemeClr val="tx1"/>
                </a:solidFill>
                <a:effectLst/>
                <a:latin typeface="+mn-lt"/>
                <a:ea typeface="+mn-ea"/>
                <a:cs typeface="+mn-cs"/>
              </a:rPr>
              <a:t>, or </a:t>
            </a:r>
            <a:r>
              <a:rPr lang="en-GB" sz="1200" b="1" i="0" kern="1200" dirty="0" err="1">
                <a:solidFill>
                  <a:schemeClr val="tx1"/>
                </a:solidFill>
                <a:effectLst/>
                <a:latin typeface="+mn-lt"/>
                <a:ea typeface="+mn-ea"/>
                <a:cs typeface="+mn-cs"/>
              </a:rPr>
              <a:t>tRNAs</a:t>
            </a:r>
            <a:r>
              <a:rPr lang="en-GB" sz="1200" b="0" i="0" kern="1200" dirty="0">
                <a:solidFill>
                  <a:schemeClr val="tx1"/>
                </a:solidFill>
                <a:effectLst/>
                <a:latin typeface="+mn-lt"/>
                <a:ea typeface="+mn-ea"/>
                <a:cs typeface="+mn-cs"/>
              </a:rPr>
              <a:t>.</a:t>
            </a:r>
          </a:p>
          <a:p>
            <a:pPr fontAlgn="base"/>
            <a:r>
              <a:rPr lang="en-GB" sz="1200" b="0" i="0" kern="1200" dirty="0">
                <a:solidFill>
                  <a:schemeClr val="tx1"/>
                </a:solidFill>
                <a:effectLst/>
                <a:latin typeface="+mn-lt"/>
                <a:ea typeface="+mn-ea"/>
                <a:cs typeface="+mn-cs"/>
              </a:rPr>
              <a:t>Each </a:t>
            </a:r>
            <a:r>
              <a:rPr lang="en-GB" sz="1200" b="0" i="0" kern="1200" dirty="0" err="1">
                <a:solidFill>
                  <a:schemeClr val="tx1"/>
                </a:solidFill>
                <a:effectLst/>
                <a:latin typeface="+mn-lt"/>
                <a:ea typeface="+mn-ea"/>
                <a:cs typeface="+mn-cs"/>
              </a:rPr>
              <a:t>tRNA</a:t>
            </a:r>
            <a:r>
              <a:rPr lang="en-GB" sz="1200" b="0" i="0" kern="1200" dirty="0">
                <a:solidFill>
                  <a:schemeClr val="tx1"/>
                </a:solidFill>
                <a:effectLst/>
                <a:latin typeface="+mn-lt"/>
                <a:ea typeface="+mn-ea"/>
                <a:cs typeface="+mn-cs"/>
              </a:rPr>
              <a:t> has an </a:t>
            </a:r>
            <a:r>
              <a:rPr lang="en-GB" sz="1200" b="1" i="0" kern="1200" dirty="0">
                <a:solidFill>
                  <a:schemeClr val="tx1"/>
                </a:solidFill>
                <a:effectLst/>
                <a:latin typeface="+mn-lt"/>
                <a:ea typeface="+mn-ea"/>
                <a:cs typeface="+mn-cs"/>
              </a:rPr>
              <a:t>anticodon</a:t>
            </a:r>
            <a:r>
              <a:rPr lang="en-GB" sz="1200" b="0" i="0" kern="1200" dirty="0">
                <a:solidFill>
                  <a:schemeClr val="tx1"/>
                </a:solidFill>
                <a:effectLst/>
                <a:latin typeface="+mn-lt"/>
                <a:ea typeface="+mn-ea"/>
                <a:cs typeface="+mn-cs"/>
              </a:rPr>
              <a:t>, a set of three nucleotides that binds to a matching mRNA codon through base pairing. The other end of the </a:t>
            </a:r>
            <a:r>
              <a:rPr lang="en-GB" sz="1200" b="0" i="0" kern="1200" dirty="0" err="1">
                <a:solidFill>
                  <a:schemeClr val="tx1"/>
                </a:solidFill>
                <a:effectLst/>
                <a:latin typeface="+mn-lt"/>
                <a:ea typeface="+mn-ea"/>
                <a:cs typeface="+mn-cs"/>
              </a:rPr>
              <a:t>tRNA</a:t>
            </a:r>
            <a:r>
              <a:rPr lang="en-GB" sz="1200" b="0" i="0" kern="1200" dirty="0">
                <a:solidFill>
                  <a:schemeClr val="tx1"/>
                </a:solidFill>
                <a:effectLst/>
                <a:latin typeface="+mn-lt"/>
                <a:ea typeface="+mn-ea"/>
                <a:cs typeface="+mn-cs"/>
              </a:rPr>
              <a:t> carries the amino acid that's specified by the codon of mRNA.</a:t>
            </a:r>
          </a:p>
          <a:p>
            <a:endParaRPr lang="en-GB" dirty="0"/>
          </a:p>
        </p:txBody>
      </p:sp>
      <p:sp>
        <p:nvSpPr>
          <p:cNvPr id="4" name="Slide Number Placeholder 3"/>
          <p:cNvSpPr>
            <a:spLocks noGrp="1"/>
          </p:cNvSpPr>
          <p:nvPr>
            <p:ph type="sldNum" sz="quarter" idx="5"/>
          </p:nvPr>
        </p:nvSpPr>
        <p:spPr/>
        <p:txBody>
          <a:bodyPr/>
          <a:lstStyle/>
          <a:p>
            <a:fld id="{4AD4579C-D677-4BE3-9E6B-3BE1155132E2}" type="slidenum">
              <a:rPr lang="en-GB" smtClean="0"/>
              <a:t>36</a:t>
            </a:fld>
            <a:endParaRPr lang="en-GB"/>
          </a:p>
        </p:txBody>
      </p:sp>
    </p:spTree>
    <p:extLst>
      <p:ext uri="{BB962C8B-B14F-4D97-AF65-F5344CB8AC3E}">
        <p14:creationId xmlns:p14="http://schemas.microsoft.com/office/powerpoint/2010/main" val="417702640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fontAlgn="base"/>
            <a:r>
              <a:rPr lang="en-GB" sz="1200" b="0" i="0" kern="1200" dirty="0">
                <a:solidFill>
                  <a:schemeClr val="tx1"/>
                </a:solidFill>
                <a:effectLst/>
                <a:latin typeface="+mn-lt"/>
                <a:ea typeface="+mn-ea"/>
                <a:cs typeface="+mn-cs"/>
              </a:rPr>
              <a:t>Translation continues until a </a:t>
            </a:r>
            <a:r>
              <a:rPr lang="en-GB" sz="1200" b="1" i="0" kern="1200" dirty="0">
                <a:solidFill>
                  <a:schemeClr val="tx1"/>
                </a:solidFill>
                <a:effectLst/>
                <a:latin typeface="+mn-lt"/>
                <a:ea typeface="+mn-ea"/>
                <a:cs typeface="+mn-cs"/>
              </a:rPr>
              <a:t>stop codon</a:t>
            </a:r>
            <a:r>
              <a:rPr lang="en-GB" sz="1200" b="0" i="0" kern="1200" dirty="0">
                <a:solidFill>
                  <a:schemeClr val="tx1"/>
                </a:solidFill>
                <a:effectLst/>
                <a:latin typeface="+mn-lt"/>
                <a:ea typeface="+mn-ea"/>
                <a:cs typeface="+mn-cs"/>
              </a:rPr>
              <a:t> is reached. There are three stop codons in the genetic code, UAA, UAG, and UGA. Unlike start codons, stop codons don't correspond to an amino acid. Instead, they act as "stop" signals, indicating that the polypeptide is complete and causing it to be released from the ribosome. More nucleotides may appear after the stop codon in the mRNA, but will not be translated as part of the polypeptide.</a:t>
            </a:r>
          </a:p>
          <a:p>
            <a:pPr fontAlgn="base"/>
            <a:r>
              <a:rPr lang="en-GB" sz="1200" b="0" i="0" kern="1200" dirty="0">
                <a:solidFill>
                  <a:schemeClr val="tx1"/>
                </a:solidFill>
                <a:effectLst/>
                <a:latin typeface="+mn-lt"/>
                <a:ea typeface="+mn-ea"/>
                <a:cs typeface="+mn-cs"/>
              </a:rPr>
              <a:t>N-terminus and C-terminus are the two ends of the polypeptide. N-terminus is always methionine and C-terminus is the last amino acid produced (the one coded by the second last codon).</a:t>
            </a:r>
            <a:br>
              <a:rPr lang="en-GB" sz="1200" b="0" i="0" kern="1200" dirty="0">
                <a:solidFill>
                  <a:schemeClr val="tx1"/>
                </a:solidFill>
                <a:effectLst/>
                <a:latin typeface="+mn-lt"/>
                <a:ea typeface="+mn-ea"/>
                <a:cs typeface="+mn-cs"/>
              </a:rPr>
            </a:br>
            <a:endParaRPr lang="en-GB" dirty="0"/>
          </a:p>
        </p:txBody>
      </p:sp>
      <p:sp>
        <p:nvSpPr>
          <p:cNvPr id="4" name="Slide Number Placeholder 3"/>
          <p:cNvSpPr>
            <a:spLocks noGrp="1"/>
          </p:cNvSpPr>
          <p:nvPr>
            <p:ph type="sldNum" sz="quarter" idx="5"/>
          </p:nvPr>
        </p:nvSpPr>
        <p:spPr/>
        <p:txBody>
          <a:bodyPr/>
          <a:lstStyle/>
          <a:p>
            <a:fld id="{4AD4579C-D677-4BE3-9E6B-3BE1155132E2}" type="slidenum">
              <a:rPr lang="en-GB" smtClean="0"/>
              <a:t>40</a:t>
            </a:fld>
            <a:endParaRPr lang="en-GB"/>
          </a:p>
        </p:txBody>
      </p:sp>
    </p:spTree>
    <p:extLst>
      <p:ext uri="{BB962C8B-B14F-4D97-AF65-F5344CB8AC3E}">
        <p14:creationId xmlns:p14="http://schemas.microsoft.com/office/powerpoint/2010/main" val="30647309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The </a:t>
            </a:r>
            <a:r>
              <a:rPr lang="en-GB" sz="1200" b="1" i="0" kern="1200" dirty="0">
                <a:solidFill>
                  <a:schemeClr val="tx1"/>
                </a:solidFill>
                <a:effectLst/>
                <a:latin typeface="+mn-lt"/>
                <a:ea typeface="+mn-ea"/>
                <a:cs typeface="+mn-cs"/>
              </a:rPr>
              <a:t>start codon</a:t>
            </a:r>
            <a:r>
              <a:rPr lang="en-GB" sz="1200" b="0" i="0" kern="1200" dirty="0">
                <a:solidFill>
                  <a:schemeClr val="tx1"/>
                </a:solidFill>
                <a:effectLst/>
                <a:latin typeface="+mn-lt"/>
                <a:ea typeface="+mn-ea"/>
                <a:cs typeface="+mn-cs"/>
              </a:rPr>
              <a:t> is </a:t>
            </a:r>
            <a:r>
              <a:rPr lang="en-GB" sz="1200" b="1" i="0" kern="1200" dirty="0">
                <a:solidFill>
                  <a:schemeClr val="tx1"/>
                </a:solidFill>
                <a:effectLst/>
                <a:latin typeface="+mn-lt"/>
                <a:ea typeface="+mn-ea"/>
                <a:cs typeface="+mn-cs"/>
              </a:rPr>
              <a:t>critical</a:t>
            </a:r>
            <a:r>
              <a:rPr lang="en-GB" sz="1200" b="0" i="0" kern="1200" dirty="0">
                <a:solidFill>
                  <a:schemeClr val="tx1"/>
                </a:solidFill>
                <a:effectLst/>
                <a:latin typeface="+mn-lt"/>
                <a:ea typeface="+mn-ea"/>
                <a:cs typeface="+mn-cs"/>
              </a:rPr>
              <a:t> because it determines where translation will begin on the mRNA. Most importantly, the position of the start codon determines the </a:t>
            </a:r>
            <a:r>
              <a:rPr lang="en-GB" sz="1200" b="1" i="0" kern="1200" dirty="0">
                <a:solidFill>
                  <a:schemeClr val="tx1"/>
                </a:solidFill>
                <a:effectLst/>
                <a:latin typeface="+mn-lt"/>
                <a:ea typeface="+mn-ea"/>
                <a:cs typeface="+mn-cs"/>
              </a:rPr>
              <a:t>reading frame</a:t>
            </a:r>
            <a:r>
              <a:rPr lang="en-GB" sz="1200" b="0" i="0" kern="1200" dirty="0">
                <a:solidFill>
                  <a:schemeClr val="tx1"/>
                </a:solidFill>
                <a:effectLst/>
                <a:latin typeface="+mn-lt"/>
                <a:ea typeface="+mn-ea"/>
                <a:cs typeface="+mn-cs"/>
              </a:rPr>
              <a:t>, or how the mRNA sequence is divided up into groups of three nucleotides inside the ribosome. As shown in the diagram above, the same sequence of nucleotides can encode completely different polypeptides depending on the frame in which it's read. The start codon determines which frame is chosen and thus ensures that the correct polypeptide is produced (frame 3).</a:t>
            </a:r>
          </a:p>
          <a:p>
            <a:pPr fontAlgn="base"/>
            <a:r>
              <a:rPr lang="en-GB" sz="1200" b="0" i="0" kern="1200" dirty="0">
                <a:solidFill>
                  <a:schemeClr val="tx1"/>
                </a:solidFill>
                <a:effectLst/>
                <a:latin typeface="+mn-lt"/>
                <a:ea typeface="+mn-ea"/>
                <a:cs typeface="+mn-cs"/>
              </a:rPr>
              <a:t>An important point to note here is that the nucleotides in a gene are not physically organised into groups of three. Instead, what constitutes a codon is simply a matter of where the ribosome begins reading, and of what sequence of nucleotides comes after the start codon. </a:t>
            </a:r>
          </a:p>
          <a:p>
            <a:pPr fontAlgn="base"/>
            <a:r>
              <a:rPr lang="en-GB" sz="1200" b="0" i="0" kern="1200" dirty="0">
                <a:solidFill>
                  <a:schemeClr val="tx1"/>
                </a:solidFill>
                <a:effectLst/>
                <a:latin typeface="+mn-lt"/>
                <a:ea typeface="+mn-ea"/>
                <a:cs typeface="+mn-cs"/>
              </a:rPr>
              <a:t>Mutations that insert or delete a single nucleotide may alter reading frame, resulting in the production of an incorrect protein.</a:t>
            </a:r>
          </a:p>
          <a:p>
            <a:endParaRPr lang="en-GB" dirty="0"/>
          </a:p>
        </p:txBody>
      </p:sp>
      <p:sp>
        <p:nvSpPr>
          <p:cNvPr id="4" name="Slide Number Placeholder 3"/>
          <p:cNvSpPr>
            <a:spLocks noGrp="1"/>
          </p:cNvSpPr>
          <p:nvPr>
            <p:ph type="sldNum" sz="quarter" idx="5"/>
          </p:nvPr>
        </p:nvSpPr>
        <p:spPr/>
        <p:txBody>
          <a:bodyPr/>
          <a:lstStyle/>
          <a:p>
            <a:fld id="{4AD4579C-D677-4BE3-9E6B-3BE1155132E2}" type="slidenum">
              <a:rPr lang="en-GB" smtClean="0"/>
              <a:t>42</a:t>
            </a:fld>
            <a:endParaRPr lang="en-GB"/>
          </a:p>
        </p:txBody>
      </p:sp>
    </p:spTree>
    <p:extLst>
      <p:ext uri="{BB962C8B-B14F-4D97-AF65-F5344CB8AC3E}">
        <p14:creationId xmlns:p14="http://schemas.microsoft.com/office/powerpoint/2010/main" val="189137508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GB" sz="1200" b="0" i="0" kern="1200" dirty="0">
                <a:solidFill>
                  <a:schemeClr val="tx1"/>
                </a:solidFill>
                <a:effectLst/>
                <a:latin typeface="+mn-lt"/>
                <a:ea typeface="+mn-ea"/>
                <a:cs typeface="+mn-cs"/>
              </a:rPr>
              <a:t>Frameshift mutations result from environmental factors such as ultraviolet radiation from the sun, or can occur if an error is made as DNA copies itself during cell division.</a:t>
            </a:r>
          </a:p>
          <a:p>
            <a:r>
              <a:rPr lang="en-GB" sz="1200" b="0" i="0" kern="1200" dirty="0">
                <a:solidFill>
                  <a:schemeClr val="tx1"/>
                </a:solidFill>
                <a:effectLst/>
                <a:latin typeface="+mn-lt"/>
                <a:ea typeface="+mn-ea"/>
                <a:cs typeface="+mn-cs"/>
              </a:rPr>
              <a:t>An illness such as cancer can also cause these mutations.</a:t>
            </a:r>
            <a:endParaRPr lang="en-GB" dirty="0"/>
          </a:p>
        </p:txBody>
      </p:sp>
      <p:sp>
        <p:nvSpPr>
          <p:cNvPr id="4" name="Slide Number Placeholder 3"/>
          <p:cNvSpPr>
            <a:spLocks noGrp="1"/>
          </p:cNvSpPr>
          <p:nvPr>
            <p:ph type="sldNum" sz="quarter" idx="5"/>
          </p:nvPr>
        </p:nvSpPr>
        <p:spPr/>
        <p:txBody>
          <a:bodyPr/>
          <a:lstStyle/>
          <a:p>
            <a:fld id="{4AD4579C-D677-4BE3-9E6B-3BE1155132E2}" type="slidenum">
              <a:rPr lang="en-GB" smtClean="0"/>
              <a:t>45</a:t>
            </a:fld>
            <a:endParaRPr lang="en-GB"/>
          </a:p>
        </p:txBody>
      </p:sp>
    </p:spTree>
    <p:extLst>
      <p:ext uri="{BB962C8B-B14F-4D97-AF65-F5344CB8AC3E}">
        <p14:creationId xmlns:p14="http://schemas.microsoft.com/office/powerpoint/2010/main" val="25960460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DFBF428-1F35-4439-9837-B0AAD025B3DA}" type="datetimeFigureOut">
              <a:rPr lang="en-GB" smtClean="0"/>
              <a:t>08/12/2021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1093081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BF428-1F35-4439-9837-B0AAD025B3DA}" type="datetimeFigureOut">
              <a:rPr lang="en-GB" smtClean="0"/>
              <a:t>08/12/2021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1470899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DFBF428-1F35-4439-9837-B0AAD025B3DA}" type="datetimeFigureOut">
              <a:rPr lang="en-GB" smtClean="0"/>
              <a:t>08/12/2021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118878560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DFBF428-1F35-4439-9837-B0AAD025B3DA}" type="datetimeFigureOut">
              <a:rPr lang="en-GB" smtClean="0"/>
              <a:t>08/12/2021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23562859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DFBF428-1F35-4439-9837-B0AAD025B3DA}" type="datetimeFigureOut">
              <a:rPr lang="en-GB" smtClean="0"/>
              <a:t>08/12/2021</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2480033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FBF428-1F35-4439-9837-B0AAD025B3DA}" type="datetimeFigureOut">
              <a:rPr lang="en-GB" smtClean="0"/>
              <a:t>08/12/2021</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4918348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DFBF428-1F35-4439-9837-B0AAD025B3DA}" type="datetimeFigureOut">
              <a:rPr lang="en-GB" smtClean="0"/>
              <a:t>08/12/2021</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24937030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BF428-1F35-4439-9837-B0AAD025B3DA}" type="datetimeFigureOut">
              <a:rPr lang="en-GB" smtClean="0"/>
              <a:t>08/12/2021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4136025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DFBF428-1F35-4439-9837-B0AAD025B3DA}" type="datetimeFigureOut">
              <a:rPr lang="en-GB" smtClean="0"/>
              <a:t>08/12/2021</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5756757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BF428-1F35-4439-9837-B0AAD025B3DA}" type="datetimeFigureOut">
              <a:rPr lang="en-GB" smtClean="0"/>
              <a:t>08/12/2021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5635257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DFBF428-1F35-4439-9837-B0AAD025B3DA}" type="datetimeFigureOut">
              <a:rPr lang="en-GB" smtClean="0"/>
              <a:t>08/12/2021</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A4E3C475-5107-44FB-BED0-43B16C6AB4D9}" type="slidenum">
              <a:rPr lang="en-GB" smtClean="0"/>
              <a:t>‹#›</a:t>
            </a:fld>
            <a:endParaRPr lang="en-GB"/>
          </a:p>
        </p:txBody>
      </p:sp>
    </p:spTree>
    <p:extLst>
      <p:ext uri="{BB962C8B-B14F-4D97-AF65-F5344CB8AC3E}">
        <p14:creationId xmlns:p14="http://schemas.microsoft.com/office/powerpoint/2010/main" val="407124803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December 8, 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09484303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December 8, 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538912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December 8, 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extLst>
      <p:ext uri="{BB962C8B-B14F-4D97-AF65-F5344CB8AC3E}">
        <p14:creationId xmlns:p14="http://schemas.microsoft.com/office/powerpoint/2010/main" val="4981401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December 8, 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extLst>
      <p:ext uri="{BB962C8B-B14F-4D97-AF65-F5344CB8AC3E}">
        <p14:creationId xmlns:p14="http://schemas.microsoft.com/office/powerpoint/2010/main" val="29737894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image" Target="../media/image2.jpeg"/><Relationship Id="rId5" Type="http://schemas.openxmlformats.org/officeDocument/2006/relationships/theme" Target="../theme/theme2.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DFBF428-1F35-4439-9837-B0AAD025B3DA}" type="datetimeFigureOut">
              <a:rPr lang="en-GB" smtClean="0"/>
              <a:t>08/12/2021</a:t>
            </a:fld>
            <a:endParaRPr lang="en-GB"/>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E3C475-5107-44FB-BED0-43B16C6AB4D9}" type="slidenum">
              <a:rPr lang="en-GB" smtClean="0"/>
              <a:t>‹#›</a:t>
            </a:fld>
            <a:endParaRPr lang="en-GB"/>
          </a:p>
        </p:txBody>
      </p:sp>
    </p:spTree>
    <p:extLst>
      <p:ext uri="{BB962C8B-B14F-4D97-AF65-F5344CB8AC3E}">
        <p14:creationId xmlns:p14="http://schemas.microsoft.com/office/powerpoint/2010/main" val="165374096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6" cstate="print"/>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December 8, 2021</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extLst>
      <p:ext uri="{BB962C8B-B14F-4D97-AF65-F5344CB8AC3E}">
        <p14:creationId xmlns:p14="http://schemas.microsoft.com/office/powerpoint/2010/main" val="60588248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slideLayout" Target="../slideLayouts/slideLayout2.xml"/><Relationship Id="rId1" Type="http://schemas.openxmlformats.org/officeDocument/2006/relationships/video" Target="https://www.youtube.com/embed/DA2t5N72mgw?feature=oembed"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youtube.com/watch?v=WsofH466lqk" TargetMode="Externa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slideLayout" Target="../slideLayouts/slideLayout2.xml"/><Relationship Id="rId1" Type="http://schemas.openxmlformats.org/officeDocument/2006/relationships/video" Target="https://www.youtube.com/embed/jr_oeNns3nc?feature=oembed" TargetMode="External"/></Relationships>
</file>

<file path=ppt/slides/_rels/slide4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5.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4426AB7-D619-4515-962A-BC83909EC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72695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E47DF98-723F-4AAC-ABCF-CACBC438F7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2880" y="256540"/>
            <a:ext cx="8778240" cy="6365239"/>
          </a:xfrm>
          <a:prstGeom prst="rect">
            <a:avLst/>
          </a:prstGeom>
          <a:solidFill>
            <a:srgbClr val="FFFFFF"/>
          </a:solidFill>
          <a:ln w="12700">
            <a:noFill/>
          </a:ln>
        </p:spPr>
        <p:style>
          <a:lnRef idx="2">
            <a:schemeClr val="accent1">
              <a:shade val="50000"/>
            </a:schemeClr>
          </a:lnRef>
          <a:fillRef idx="1">
            <a:schemeClr val="accent1"/>
          </a:fillRef>
          <a:effectRef idx="0">
            <a:schemeClr val="accent1"/>
          </a:effectRef>
          <a:fontRef idx="minor">
            <a:schemeClr val="lt1"/>
          </a:fontRef>
        </p:style>
      </p:sp>
      <p:cxnSp>
        <p:nvCxnSpPr>
          <p:cNvPr id="13" name="Straight Connector 12">
            <a:extLst>
              <a:ext uri="{FF2B5EF4-FFF2-40B4-BE49-F238E27FC236}">
                <a16:creationId xmlns:a16="http://schemas.microsoft.com/office/drawing/2014/main" id="{EA29FC7C-9308-4FDE-8DCA-405668055B0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171700" y="5768204"/>
            <a:ext cx="4800600" cy="0"/>
          </a:xfrm>
          <a:prstGeom prst="line">
            <a:avLst/>
          </a:prstGeom>
          <a:ln>
            <a:solidFill>
              <a:srgbClr val="72695E"/>
            </a:solidFill>
          </a:ln>
        </p:spPr>
        <p:style>
          <a:lnRef idx="1">
            <a:schemeClr val="accent1"/>
          </a:lnRef>
          <a:fillRef idx="0">
            <a:schemeClr val="accent1"/>
          </a:fillRef>
          <a:effectRef idx="0">
            <a:schemeClr val="accent1"/>
          </a:effectRef>
          <a:fontRef idx="minor">
            <a:schemeClr val="tx1"/>
          </a:fontRef>
        </p:style>
      </p:cxnSp>
      <p:sp>
        <p:nvSpPr>
          <p:cNvPr id="3" name="Text Box 1026"/>
          <p:cNvSpPr txBox="1">
            <a:spLocks noChangeArrowheads="1"/>
          </p:cNvSpPr>
          <p:nvPr/>
        </p:nvSpPr>
        <p:spPr bwMode="auto">
          <a:xfrm>
            <a:off x="832485" y="4277356"/>
            <a:ext cx="7475220" cy="156032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rtlCol="0" anchor="b">
            <a:norm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defTabSz="914400">
              <a:lnSpc>
                <a:spcPct val="90000"/>
              </a:lnSpc>
              <a:spcBef>
                <a:spcPct val="0"/>
              </a:spcBef>
              <a:spcAft>
                <a:spcPts val="600"/>
              </a:spcAft>
              <a:buNone/>
            </a:pPr>
            <a:endParaRPr lang="en-US" altLang="en-US" sz="5000" b="1">
              <a:solidFill>
                <a:srgbClr val="72695E"/>
              </a:solidFill>
              <a:latin typeface="+mj-lt"/>
              <a:ea typeface="+mj-ea"/>
              <a:cs typeface="+mj-cs"/>
            </a:endParaRPr>
          </a:p>
          <a:p>
            <a:pPr algn="ctr" defTabSz="914400">
              <a:lnSpc>
                <a:spcPct val="90000"/>
              </a:lnSpc>
              <a:spcBef>
                <a:spcPct val="0"/>
              </a:spcBef>
              <a:spcAft>
                <a:spcPts val="600"/>
              </a:spcAft>
              <a:buNone/>
            </a:pPr>
            <a:r>
              <a:rPr lang="en-US" altLang="en-US" sz="5000" b="1">
                <a:solidFill>
                  <a:srgbClr val="72695E"/>
                </a:solidFill>
                <a:latin typeface="+mj-lt"/>
                <a:ea typeface="+mj-ea"/>
                <a:cs typeface="+mj-cs"/>
              </a:rPr>
              <a:t>Genes and Proteins</a:t>
            </a:r>
          </a:p>
        </p:txBody>
      </p:sp>
      <p:pic>
        <p:nvPicPr>
          <p:cNvPr id="4" name="Picture 2" descr="Related image">
            <a:extLst>
              <a:ext uri="{FF2B5EF4-FFF2-40B4-BE49-F238E27FC236}">
                <a16:creationId xmlns:a16="http://schemas.microsoft.com/office/drawing/2014/main" id="{A0C654ED-C3AF-4327-B155-87658CAF7A6B}"/>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7781" r="2" b="2"/>
          <a:stretch/>
        </p:blipFill>
        <p:spPr bwMode="auto">
          <a:xfrm>
            <a:off x="182880" y="256540"/>
            <a:ext cx="8778240" cy="37642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35671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txBox="1">
            <a:spLocks/>
          </p:cNvSpPr>
          <p:nvPr/>
        </p:nvSpPr>
        <p:spPr>
          <a:xfrm>
            <a:off x="417399" y="643467"/>
            <a:ext cx="8408193" cy="744836"/>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nSpc>
                <a:spcPct val="90000"/>
              </a:lnSpc>
              <a:spcAft>
                <a:spcPts val="600"/>
              </a:spcAft>
            </a:pPr>
            <a:r>
              <a:rPr lang="en-US" sz="2800" kern="1200">
                <a:solidFill>
                  <a:schemeClr val="bg1"/>
                </a:solidFill>
                <a:latin typeface="+mj-lt"/>
                <a:ea typeface="+mj-ea"/>
                <a:cs typeface="+mj-cs"/>
              </a:rPr>
              <a:t>Learning Outcomes</a:t>
            </a:r>
          </a:p>
        </p:txBody>
      </p:sp>
      <p:graphicFrame>
        <p:nvGraphicFramePr>
          <p:cNvPr id="4" name="Table 3">
            <a:extLst>
              <a:ext uri="{FF2B5EF4-FFF2-40B4-BE49-F238E27FC236}">
                <a16:creationId xmlns:a16="http://schemas.microsoft.com/office/drawing/2014/main" id="{8B65DEED-7AEA-4DDB-94B1-A6345E19FF10}"/>
              </a:ext>
            </a:extLst>
          </p:cNvPr>
          <p:cNvGraphicFramePr>
            <a:graphicFrameLocks noGrp="1"/>
          </p:cNvGraphicFramePr>
          <p:nvPr>
            <p:extLst>
              <p:ext uri="{D42A27DB-BD31-4B8C-83A1-F6EECF244321}">
                <p14:modId xmlns:p14="http://schemas.microsoft.com/office/powerpoint/2010/main" val="808231671"/>
              </p:ext>
            </p:extLst>
          </p:nvPr>
        </p:nvGraphicFramePr>
        <p:xfrm>
          <a:off x="482600" y="2034857"/>
          <a:ext cx="8178799" cy="4095216"/>
        </p:xfrm>
        <a:graphic>
          <a:graphicData uri="http://schemas.openxmlformats.org/drawingml/2006/table">
            <a:tbl>
              <a:tblPr firstRow="1" firstCol="1" bandRow="1"/>
              <a:tblGrid>
                <a:gridCol w="8178799">
                  <a:extLst>
                    <a:ext uri="{9D8B030D-6E8A-4147-A177-3AD203B41FA5}">
                      <a16:colId xmlns:a16="http://schemas.microsoft.com/office/drawing/2014/main" val="1397094678"/>
                    </a:ext>
                  </a:extLst>
                </a:gridCol>
              </a:tblGrid>
              <a:tr h="1375714">
                <a:tc>
                  <a:txBody>
                    <a:bodyPr/>
                    <a:lstStyle/>
                    <a:p>
                      <a:pPr>
                        <a:lnSpc>
                          <a:spcPct val="107000"/>
                        </a:lnSpc>
                        <a:spcAft>
                          <a:spcPts val="0"/>
                        </a:spcAft>
                        <a:tabLst>
                          <a:tab pos="7043420" algn="r"/>
                        </a:tabLst>
                      </a:pPr>
                      <a:r>
                        <a:rPr lang="en-US" sz="2800" dirty="0">
                          <a:effectLst/>
                          <a:latin typeface="Arial" panose="020B0604020202020204" pitchFamily="34" charset="0"/>
                          <a:ea typeface="Calibri" panose="020F0502020204030204" pitchFamily="34" charset="0"/>
                          <a:cs typeface="Arial" panose="020B0604020202020204" pitchFamily="34" charset="0"/>
                        </a:rPr>
                        <a:t>Explain how the genetic code determines the amino acid sequence in proteins</a:t>
                      </a:r>
                      <a:r>
                        <a:rPr lang="en-US" sz="2800" b="1" dirty="0">
                          <a:effectLst/>
                          <a:latin typeface="Arial" panose="020B0604020202020204" pitchFamily="34" charset="0"/>
                          <a:ea typeface="Calibri" panose="020F0502020204030204" pitchFamily="34" charset="0"/>
                          <a:cs typeface="Arial" panose="020B0604020202020204" pitchFamily="34" charset="0"/>
                        </a:rPr>
                        <a:t>;</a:t>
                      </a:r>
                    </a:p>
                    <a:p>
                      <a:pPr>
                        <a:lnSpc>
                          <a:spcPct val="107000"/>
                        </a:lnSpc>
                        <a:spcAft>
                          <a:spcPts val="0"/>
                        </a:spcAft>
                        <a:tabLst>
                          <a:tab pos="7043420" algn="r"/>
                        </a:tabLst>
                      </a:pPr>
                      <a:endParaRPr lang="en-GB" sz="2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0735" marR="70735" marT="0" marB="0">
                    <a:lnL>
                      <a:noFill/>
                    </a:lnL>
                    <a:lnR>
                      <a:noFill/>
                    </a:lnR>
                    <a:lnT>
                      <a:noFill/>
                    </a:lnT>
                    <a:lnB>
                      <a:noFill/>
                    </a:lnB>
                  </a:tcPr>
                </a:tc>
                <a:extLst>
                  <a:ext uri="{0D108BD9-81ED-4DB2-BD59-A6C34878D82A}">
                    <a16:rowId xmlns:a16="http://schemas.microsoft.com/office/drawing/2014/main" val="3832623601"/>
                  </a:ext>
                </a:extLst>
              </a:tr>
              <a:tr h="918624">
                <a:tc>
                  <a:txBody>
                    <a:bodyPr/>
                    <a:lstStyle/>
                    <a:p>
                      <a:pPr>
                        <a:lnSpc>
                          <a:spcPct val="107000"/>
                        </a:lnSpc>
                        <a:spcAft>
                          <a:spcPts val="0"/>
                        </a:spcAft>
                        <a:tabLst>
                          <a:tab pos="7043420" algn="r"/>
                        </a:tabLst>
                      </a:pPr>
                      <a:r>
                        <a:rPr lang="en-US" sz="2800" dirty="0">
                          <a:effectLst/>
                          <a:latin typeface="Arial" panose="020B0604020202020204" pitchFamily="34" charset="0"/>
                          <a:ea typeface="Calibri" panose="020F0502020204030204" pitchFamily="34" charset="0"/>
                          <a:cs typeface="Arial" panose="020B0604020202020204" pitchFamily="34" charset="0"/>
                        </a:rPr>
                        <a:t>Describe transcription in Prokaryotes and Eukaryotes; </a:t>
                      </a:r>
                    </a:p>
                    <a:p>
                      <a:pPr>
                        <a:lnSpc>
                          <a:spcPct val="107000"/>
                        </a:lnSpc>
                        <a:spcAft>
                          <a:spcPts val="0"/>
                        </a:spcAft>
                        <a:tabLst>
                          <a:tab pos="7043420" algn="r"/>
                        </a:tabLst>
                      </a:pPr>
                      <a:endParaRPr lang="en-GB" sz="2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0735" marR="70735" marT="0" marB="0">
                    <a:lnL>
                      <a:noFill/>
                    </a:lnL>
                    <a:lnR>
                      <a:noFill/>
                    </a:lnR>
                    <a:lnT>
                      <a:noFill/>
                    </a:lnT>
                    <a:lnB>
                      <a:noFill/>
                    </a:lnB>
                  </a:tcPr>
                </a:tc>
                <a:extLst>
                  <a:ext uri="{0D108BD9-81ED-4DB2-BD59-A6C34878D82A}">
                    <a16:rowId xmlns:a16="http://schemas.microsoft.com/office/drawing/2014/main" val="1423336198"/>
                  </a:ext>
                </a:extLst>
              </a:tr>
              <a:tr h="918624">
                <a:tc>
                  <a:txBody>
                    <a:bodyPr/>
                    <a:lstStyle/>
                    <a:p>
                      <a:pPr>
                        <a:lnSpc>
                          <a:spcPct val="107000"/>
                        </a:lnSpc>
                        <a:spcAft>
                          <a:spcPts val="0"/>
                        </a:spcAft>
                        <a:tabLst>
                          <a:tab pos="7043420" algn="r"/>
                        </a:tabLst>
                      </a:pPr>
                      <a:r>
                        <a:rPr lang="en-US" sz="2800" dirty="0">
                          <a:effectLst/>
                          <a:latin typeface="Arial" panose="020B0604020202020204" pitchFamily="34" charset="0"/>
                          <a:ea typeface="Calibri" panose="020F0502020204030204" pitchFamily="34" charset="0"/>
                          <a:cs typeface="Arial" panose="020B0604020202020204" pitchFamily="34" charset="0"/>
                        </a:rPr>
                        <a:t>Explain RNA processing in Eukaryotes;</a:t>
                      </a:r>
                    </a:p>
                    <a:p>
                      <a:pPr>
                        <a:lnSpc>
                          <a:spcPct val="107000"/>
                        </a:lnSpc>
                        <a:spcAft>
                          <a:spcPts val="0"/>
                        </a:spcAft>
                        <a:tabLst>
                          <a:tab pos="7043420" algn="r"/>
                        </a:tabLst>
                      </a:pPr>
                      <a:r>
                        <a:rPr lang="en-US" sz="2800" dirty="0">
                          <a:effectLst/>
                          <a:latin typeface="Arial" panose="020B0604020202020204" pitchFamily="34" charset="0"/>
                          <a:ea typeface="Calibri" panose="020F0502020204030204" pitchFamily="34" charset="0"/>
                          <a:cs typeface="Arial" panose="020B0604020202020204" pitchFamily="34" charset="0"/>
                        </a:rPr>
                        <a:t> </a:t>
                      </a:r>
                      <a:endParaRPr lang="en-GB" sz="2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0735" marR="70735" marT="0" marB="0">
                    <a:lnL>
                      <a:noFill/>
                    </a:lnL>
                    <a:lnR>
                      <a:noFill/>
                    </a:lnR>
                    <a:lnT>
                      <a:noFill/>
                    </a:lnT>
                    <a:lnB>
                      <a:noFill/>
                    </a:lnB>
                  </a:tcPr>
                </a:tc>
                <a:extLst>
                  <a:ext uri="{0D108BD9-81ED-4DB2-BD59-A6C34878D82A}">
                    <a16:rowId xmlns:a16="http://schemas.microsoft.com/office/drawing/2014/main" val="2475659837"/>
                  </a:ext>
                </a:extLst>
              </a:tr>
              <a:tr h="461980">
                <a:tc>
                  <a:txBody>
                    <a:bodyPr/>
                    <a:lstStyle/>
                    <a:p>
                      <a:pPr>
                        <a:lnSpc>
                          <a:spcPct val="107000"/>
                        </a:lnSpc>
                        <a:spcAft>
                          <a:spcPts val="0"/>
                        </a:spcAft>
                        <a:tabLst>
                          <a:tab pos="7043420" algn="r"/>
                        </a:tabLst>
                      </a:pPr>
                      <a:r>
                        <a:rPr lang="en-US" sz="2800" dirty="0">
                          <a:effectLst/>
                          <a:latin typeface="Arial" panose="020B0604020202020204" pitchFamily="34" charset="0"/>
                          <a:ea typeface="Calibri" panose="020F0502020204030204" pitchFamily="34" charset="0"/>
                          <a:cs typeface="Arial" panose="020B0604020202020204" pitchFamily="34" charset="0"/>
                        </a:rPr>
                        <a:t>Explain the process of protein synthesis;</a:t>
                      </a:r>
                      <a:endParaRPr lang="en-GB" sz="2800" dirty="0">
                        <a:effectLst/>
                        <a:latin typeface="Times New Roman" panose="02020603050405020304" pitchFamily="18" charset="0"/>
                        <a:ea typeface="Times New Roman" panose="02020603050405020304" pitchFamily="18" charset="0"/>
                        <a:cs typeface="Arial" panose="020B0604020202020204" pitchFamily="34" charset="0"/>
                      </a:endParaRPr>
                    </a:p>
                  </a:txBody>
                  <a:tcPr marL="70735" marR="70735" marT="0" marB="0">
                    <a:lnL>
                      <a:noFill/>
                    </a:lnL>
                    <a:lnR>
                      <a:noFill/>
                    </a:lnR>
                    <a:lnT>
                      <a:noFill/>
                    </a:lnT>
                    <a:lnB>
                      <a:noFill/>
                    </a:lnB>
                  </a:tcPr>
                </a:tc>
                <a:extLst>
                  <a:ext uri="{0D108BD9-81ED-4DB2-BD59-A6C34878D82A}">
                    <a16:rowId xmlns:a16="http://schemas.microsoft.com/office/drawing/2014/main" val="953154818"/>
                  </a:ext>
                </a:extLst>
              </a:tr>
            </a:tbl>
          </a:graphicData>
        </a:graphic>
      </p:graphicFrame>
    </p:spTree>
    <p:extLst>
      <p:ext uri="{BB962C8B-B14F-4D97-AF65-F5344CB8AC3E}">
        <p14:creationId xmlns:p14="http://schemas.microsoft.com/office/powerpoint/2010/main" val="23597921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FF56F22-49EE-417E-AE6E-00FE77A0CA7E}"/>
              </a:ext>
            </a:extLst>
          </p:cNvPr>
          <p:cNvSpPr/>
          <p:nvPr/>
        </p:nvSpPr>
        <p:spPr>
          <a:xfrm>
            <a:off x="460353" y="1248258"/>
            <a:ext cx="8513379" cy="1328569"/>
          </a:xfrm>
          <a:prstGeom prst="rect">
            <a:avLst/>
          </a:prstGeom>
        </p:spPr>
        <p:txBody>
          <a:bodyPr wrap="square">
            <a:spAutoFit/>
          </a:bodyPr>
          <a:lstStyle/>
          <a:p>
            <a:pPr>
              <a:spcBef>
                <a:spcPts val="450"/>
              </a:spcBef>
              <a:spcAft>
                <a:spcPts val="450"/>
              </a:spcAft>
            </a:pPr>
            <a:r>
              <a:rPr lang="en-GB" sz="2400" dirty="0">
                <a:solidFill>
                  <a:srgbClr val="0070C0"/>
                </a:solidFill>
                <a:latin typeface="Arial" panose="020B0604020202020204" pitchFamily="34" charset="0"/>
              </a:rPr>
              <a:t>The genetic code </a:t>
            </a:r>
            <a:r>
              <a:rPr lang="en-GB" sz="2400" dirty="0">
                <a:latin typeface="Arial" panose="020B0604020202020204" pitchFamily="34" charset="0"/>
              </a:rPr>
              <a:t>determines the amino acid sequence in proteins;</a:t>
            </a:r>
          </a:p>
          <a:p>
            <a:pPr>
              <a:spcBef>
                <a:spcPts val="450"/>
              </a:spcBef>
              <a:spcAft>
                <a:spcPts val="450"/>
              </a:spcAft>
            </a:pPr>
            <a:r>
              <a:rPr lang="en-GB" sz="2400" dirty="0">
                <a:latin typeface="Arial" panose="020B0604020202020204" pitchFamily="34" charset="0"/>
              </a:rPr>
              <a:t>The </a:t>
            </a:r>
            <a:r>
              <a:rPr lang="en-GB" sz="2400" dirty="0">
                <a:solidFill>
                  <a:srgbClr val="7030A0"/>
                </a:solidFill>
                <a:latin typeface="Arial" panose="020B0604020202020204" pitchFamily="34" charset="0"/>
              </a:rPr>
              <a:t>central dogma </a:t>
            </a:r>
            <a:r>
              <a:rPr lang="en-GB" sz="2400" dirty="0">
                <a:latin typeface="Arial" panose="020B0604020202020204" pitchFamily="34" charset="0"/>
              </a:rPr>
              <a:t>defines protein synthesis;</a:t>
            </a:r>
          </a:p>
        </p:txBody>
      </p:sp>
      <p:sp>
        <p:nvSpPr>
          <p:cNvPr id="3" name="Title 1">
            <a:extLst>
              <a:ext uri="{FF2B5EF4-FFF2-40B4-BE49-F238E27FC236}">
                <a16:creationId xmlns:a16="http://schemas.microsoft.com/office/drawing/2014/main" id="{7877FAEE-14B9-4BF2-BBB4-445255D07923}"/>
              </a:ext>
            </a:extLst>
          </p:cNvPr>
          <p:cNvSpPr txBox="1">
            <a:spLocks/>
          </p:cNvSpPr>
          <p:nvPr/>
        </p:nvSpPr>
        <p:spPr>
          <a:xfrm>
            <a:off x="2151407" y="396085"/>
            <a:ext cx="4337679"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dirty="0">
                <a:solidFill>
                  <a:srgbClr val="FF0000"/>
                </a:solidFill>
                <a:latin typeface="Arial" panose="020B0604020202020204" pitchFamily="34" charset="0"/>
                <a:cs typeface="Arial" panose="020B0604020202020204" pitchFamily="34" charset="0"/>
              </a:rPr>
              <a:t>Central Dogma</a:t>
            </a:r>
          </a:p>
        </p:txBody>
      </p:sp>
      <p:sp>
        <p:nvSpPr>
          <p:cNvPr id="5" name="Rectangle 4">
            <a:extLst>
              <a:ext uri="{FF2B5EF4-FFF2-40B4-BE49-F238E27FC236}">
                <a16:creationId xmlns:a16="http://schemas.microsoft.com/office/drawing/2014/main" id="{9A1C6106-0043-4EC7-BA84-424EEF686174}"/>
              </a:ext>
            </a:extLst>
          </p:cNvPr>
          <p:cNvSpPr/>
          <p:nvPr/>
        </p:nvSpPr>
        <p:spPr>
          <a:xfrm>
            <a:off x="460353" y="3014367"/>
            <a:ext cx="8431399" cy="2870016"/>
          </a:xfrm>
          <a:prstGeom prst="rect">
            <a:avLst/>
          </a:prstGeom>
        </p:spPr>
        <p:txBody>
          <a:bodyPr wrap="square">
            <a:spAutoFit/>
          </a:bodyPr>
          <a:lstStyle/>
          <a:p>
            <a:r>
              <a:rPr lang="en-GB" sz="2400" b="1" dirty="0">
                <a:solidFill>
                  <a:srgbClr val="0070C0"/>
                </a:solidFill>
                <a:latin typeface="Arial" panose="020B0604020202020204" pitchFamily="34" charset="0"/>
                <a:cs typeface="Arial" panose="020B0604020202020204" pitchFamily="34" charset="0"/>
              </a:rPr>
              <a:t>Central Dogma</a:t>
            </a:r>
          </a:p>
          <a:p>
            <a:r>
              <a:rPr lang="en-GB" sz="2400" i="1" dirty="0">
                <a:solidFill>
                  <a:srgbClr val="C00000"/>
                </a:solidFill>
                <a:latin typeface="Arial" panose="020B0604020202020204" pitchFamily="34" charset="0"/>
                <a:cs typeface="Arial" panose="020B0604020202020204" pitchFamily="34" charset="0"/>
              </a:rPr>
              <a:t>DNA → RNA → Protein</a:t>
            </a:r>
          </a:p>
          <a:p>
            <a:pPr>
              <a:spcBef>
                <a:spcPts val="450"/>
              </a:spcBef>
              <a:spcAft>
                <a:spcPts val="450"/>
              </a:spcAft>
            </a:pPr>
            <a:r>
              <a:rPr lang="en-GB" sz="2400" dirty="0">
                <a:latin typeface="Arial" panose="020B0604020202020204" pitchFamily="34" charset="0"/>
                <a:cs typeface="Arial" panose="020B0604020202020204" pitchFamily="34" charset="0"/>
              </a:rPr>
              <a:t>This unidirectional flow represents the </a:t>
            </a:r>
            <a:r>
              <a:rPr lang="en-GB" sz="2400" i="1" dirty="0">
                <a:latin typeface="Arial" panose="020B0604020202020204" pitchFamily="34" charset="0"/>
                <a:cs typeface="Arial" panose="020B0604020202020204" pitchFamily="34" charset="0"/>
              </a:rPr>
              <a:t>Central Dogma </a:t>
            </a:r>
            <a:r>
              <a:rPr lang="en-GB" sz="2400" dirty="0">
                <a:latin typeface="Arial" panose="020B0604020202020204" pitchFamily="34" charset="0"/>
                <a:cs typeface="Arial" panose="020B0604020202020204" pitchFamily="34" charset="0"/>
              </a:rPr>
              <a:t>(fundamental law) of</a:t>
            </a:r>
            <a:r>
              <a:rPr lang="en-GB" sz="2400" i="1" dirty="0">
                <a:latin typeface="Arial" panose="020B0604020202020204" pitchFamily="34" charset="0"/>
                <a:cs typeface="Arial" panose="020B0604020202020204" pitchFamily="34" charset="0"/>
              </a:rPr>
              <a:t> </a:t>
            </a:r>
            <a:r>
              <a:rPr lang="en-GB" sz="2400" b="1" i="1" dirty="0">
                <a:solidFill>
                  <a:srgbClr val="C00000"/>
                </a:solidFill>
                <a:latin typeface="Arial" panose="020B0604020202020204" pitchFamily="34" charset="0"/>
                <a:cs typeface="Arial" panose="020B0604020202020204" pitchFamily="34" charset="0"/>
              </a:rPr>
              <a:t>molecular biology</a:t>
            </a:r>
            <a:r>
              <a:rPr lang="en-GB" sz="2400" i="1" dirty="0">
                <a:latin typeface="Arial" panose="020B0604020202020204" pitchFamily="34" charset="0"/>
                <a:cs typeface="Arial" panose="020B0604020202020204" pitchFamily="34" charset="0"/>
              </a:rPr>
              <a:t>;</a:t>
            </a:r>
          </a:p>
          <a:p>
            <a:pPr>
              <a:spcBef>
                <a:spcPts val="450"/>
              </a:spcBef>
              <a:spcAft>
                <a:spcPts val="450"/>
              </a:spcAft>
            </a:pPr>
            <a:r>
              <a:rPr lang="en-GB" sz="2400" dirty="0">
                <a:latin typeface="Arial" panose="020B0604020202020204" pitchFamily="34" charset="0"/>
                <a:cs typeface="Arial" panose="020B0604020202020204" pitchFamily="34" charset="0"/>
              </a:rPr>
              <a:t>This is the mechanism whereby inherited information is used to create actual objects, namely enzymes and structural proteins;</a:t>
            </a:r>
          </a:p>
        </p:txBody>
      </p:sp>
    </p:spTree>
    <p:extLst>
      <p:ext uri="{BB962C8B-B14F-4D97-AF65-F5344CB8AC3E}">
        <p14:creationId xmlns:p14="http://schemas.microsoft.com/office/powerpoint/2010/main" val="2277252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a:xfrm>
            <a:off x="-1763486" y="127026"/>
            <a:ext cx="4800601" cy="659535"/>
          </a:xfrm>
        </p:spPr>
        <p:txBody>
          <a:bodyPr>
            <a:normAutofit fontScale="90000"/>
          </a:bodyPr>
          <a:lstStyle/>
          <a:p>
            <a:pPr algn="r"/>
            <a:r>
              <a:rPr lang="en-US" dirty="0"/>
              <a:t>Flow of genetic information</a:t>
            </a:r>
            <a:endParaRPr lang="en-US" sz="2400" dirty="0">
              <a:solidFill>
                <a:srgbClr val="6CB255"/>
              </a:solidFill>
            </a:endParaRPr>
          </a:p>
        </p:txBody>
      </p:sp>
      <p:pic>
        <p:nvPicPr>
          <p:cNvPr id="9" name="Picture Placeholder 8"/>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5061857" y="241325"/>
            <a:ext cx="3458255" cy="6338015"/>
          </a:xfrm>
        </p:spPr>
      </p:pic>
      <p:sp>
        <p:nvSpPr>
          <p:cNvPr id="10" name="TextBox 9"/>
          <p:cNvSpPr txBox="1"/>
          <p:nvPr/>
        </p:nvSpPr>
        <p:spPr>
          <a:xfrm>
            <a:off x="391885" y="1094016"/>
            <a:ext cx="3820886" cy="452431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Instructions on DNA are transcribed onto messenger RNA.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Ribosomes are able to read the genetic information inscribed on a strand of messenger RNA.</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They use this information to string amino acids together into a protein.</a:t>
            </a:r>
          </a:p>
        </p:txBody>
      </p:sp>
    </p:spTree>
    <p:extLst>
      <p:ext uri="{BB962C8B-B14F-4D97-AF65-F5344CB8AC3E}">
        <p14:creationId xmlns:p14="http://schemas.microsoft.com/office/powerpoint/2010/main" val="1793688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Degeneracy of the genetic code</a:t>
            </a:r>
          </a:p>
        </p:txBody>
      </p:sp>
      <p:sp>
        <p:nvSpPr>
          <p:cNvPr id="4" name="Text Placeholder 3"/>
          <p:cNvSpPr>
            <a:spLocks noGrp="1"/>
          </p:cNvSpPr>
          <p:nvPr>
            <p:ph type="body" sz="quarter" idx="14"/>
          </p:nvPr>
        </p:nvSpPr>
        <p:spPr>
          <a:xfrm>
            <a:off x="457200" y="1179871"/>
            <a:ext cx="8062912" cy="4830493"/>
          </a:xfrm>
        </p:spPr>
        <p:txBody>
          <a:bodyPr>
            <a:normAutofit/>
          </a:bodyPr>
          <a:lstStyle/>
          <a:p>
            <a:pPr marL="236538" indent="-236538">
              <a:buFont typeface="Arial" pitchFamily="34" charset="0"/>
              <a:buChar char="•"/>
            </a:pPr>
            <a:r>
              <a:rPr lang="en-US" sz="2400" dirty="0"/>
              <a:t>Nucleotides in an mRNA sequence code for amino acids in 3 nucleotide portions known as codons.</a:t>
            </a:r>
          </a:p>
          <a:p>
            <a:pPr marL="236538" indent="-236538">
              <a:buFont typeface="Arial" pitchFamily="34" charset="0"/>
              <a:buChar char="•"/>
            </a:pPr>
            <a:r>
              <a:rPr lang="en-US" sz="2400" dirty="0"/>
              <a:t>The reading frame refers to which nucleotide starts the first codon; for each segment of DNA, there a 6 possible reading frames.</a:t>
            </a:r>
          </a:p>
          <a:p>
            <a:pPr marL="236538" indent="-236538">
              <a:buFont typeface="Arial" pitchFamily="34" charset="0"/>
              <a:buChar char="•"/>
            </a:pPr>
            <a:r>
              <a:rPr lang="en-US" sz="2400" dirty="0"/>
              <a:t>There are 64 possible codons that code for the 20 amino acids and 3 stop codons meaning that multiple codons can specify one amino acid.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ECEE60-4176-487E-B20A-06029331A6C0}"/>
              </a:ext>
            </a:extLst>
          </p:cNvPr>
          <p:cNvSpPr txBox="1">
            <a:spLocks/>
          </p:cNvSpPr>
          <p:nvPr/>
        </p:nvSpPr>
        <p:spPr>
          <a:xfrm>
            <a:off x="2234596" y="188940"/>
            <a:ext cx="4424758" cy="42660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rPr>
              <a:t>Transcription and RNA</a:t>
            </a:r>
          </a:p>
        </p:txBody>
      </p:sp>
      <p:sp>
        <p:nvSpPr>
          <p:cNvPr id="3" name="TextBox 2">
            <a:extLst>
              <a:ext uri="{FF2B5EF4-FFF2-40B4-BE49-F238E27FC236}">
                <a16:creationId xmlns:a16="http://schemas.microsoft.com/office/drawing/2014/main" id="{FB4B90B4-E9D0-47D9-8C40-C3EAE12780F4}"/>
              </a:ext>
            </a:extLst>
          </p:cNvPr>
          <p:cNvSpPr txBox="1"/>
          <p:nvPr/>
        </p:nvSpPr>
        <p:spPr>
          <a:xfrm>
            <a:off x="599090" y="874455"/>
            <a:ext cx="8141313" cy="2246769"/>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DNA structure as a double helix makes it suitable for being the molecular</a:t>
            </a:r>
            <a:r>
              <a:rPr kumimoji="0" lang="en-GB" sz="2000" b="0" i="0" u="none" strike="noStrike" kern="1200" cap="none" spc="0" normalizeH="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basis for heredity;</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 gene’s expression to protein is carried out by a DNA related molecule, an </a:t>
            </a:r>
            <a:r>
              <a:rPr kumimoji="0" lang="en-GB" sz="20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RNA</a:t>
            </a:r>
            <a:r>
              <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2000" b="0" i="0" u="none" strike="noStrike" kern="1200" cap="none" spc="0" normalizeH="0" baseline="0" noProof="0" dirty="0">
                <a:ln>
                  <a:noFill/>
                </a:ln>
                <a:solidFill>
                  <a:srgbClr val="0070C0"/>
                </a:solidFill>
                <a:effectLst/>
                <a:uLnTx/>
                <a:uFillTx/>
                <a:latin typeface="Arial" panose="020B0604020202020204" pitchFamily="34" charset="0"/>
                <a:ea typeface="+mn-ea"/>
                <a:cs typeface="Arial" panose="020B0604020202020204" pitchFamily="34" charset="0"/>
              </a:rPr>
              <a:t>RNA is ribonucleic acid, a single-stranded molecule</a:t>
            </a:r>
            <a:r>
              <a:rPr kumimoji="0" lang="en-GB"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a:t>
            </a:r>
          </a:p>
        </p:txBody>
      </p:sp>
      <p:pic>
        <p:nvPicPr>
          <p:cNvPr id="7" name="Picture 4" descr="Image result for RNA">
            <a:extLst>
              <a:ext uri="{FF2B5EF4-FFF2-40B4-BE49-F238E27FC236}">
                <a16:creationId xmlns:a16="http://schemas.microsoft.com/office/drawing/2014/main" id="{07F90718-A883-47E6-81C8-EE8864AB83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0074" y="3148740"/>
            <a:ext cx="8463852" cy="352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2581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Image result for RNA">
            <a:extLst>
              <a:ext uri="{FF2B5EF4-FFF2-40B4-BE49-F238E27FC236}">
                <a16:creationId xmlns:a16="http://schemas.microsoft.com/office/drawing/2014/main" id="{BCC84C58-8FBB-4BFE-9C6C-17F407E0EC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4637" y="1214755"/>
            <a:ext cx="6534726" cy="465746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B23AA6EC-AE4F-4677-A705-0DEB39444E5C}"/>
              </a:ext>
            </a:extLst>
          </p:cNvPr>
          <p:cNvSpPr/>
          <p:nvPr/>
        </p:nvSpPr>
        <p:spPr>
          <a:xfrm>
            <a:off x="1223628" y="3212976"/>
            <a:ext cx="1620180" cy="1782198"/>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Rectangle: Rounded Corners 4">
            <a:extLst>
              <a:ext uri="{FF2B5EF4-FFF2-40B4-BE49-F238E27FC236}">
                <a16:creationId xmlns:a16="http://schemas.microsoft.com/office/drawing/2014/main" id="{A3D056E9-CC04-4900-9D9A-C31AEBDE2CFC}"/>
              </a:ext>
            </a:extLst>
          </p:cNvPr>
          <p:cNvSpPr/>
          <p:nvPr/>
        </p:nvSpPr>
        <p:spPr>
          <a:xfrm>
            <a:off x="6298969" y="3211778"/>
            <a:ext cx="1620180" cy="1729391"/>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26302CB7-37A4-4157-8F5D-915B14AAA3F7}"/>
              </a:ext>
            </a:extLst>
          </p:cNvPr>
          <p:cNvSpPr/>
          <p:nvPr/>
        </p:nvSpPr>
        <p:spPr>
          <a:xfrm>
            <a:off x="3545886" y="4590129"/>
            <a:ext cx="1080120" cy="702078"/>
          </a:xfrm>
          <a:prstGeom prst="roundRect">
            <a:avLst/>
          </a:prstGeom>
          <a:noFill/>
          <a:ln>
            <a:solidFill>
              <a:schemeClr val="accent5">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Rectangle: Rounded Corners 6">
            <a:extLst>
              <a:ext uri="{FF2B5EF4-FFF2-40B4-BE49-F238E27FC236}">
                <a16:creationId xmlns:a16="http://schemas.microsoft.com/office/drawing/2014/main" id="{4F9D1D47-C908-4BDE-83E5-A205A5DDE573}"/>
              </a:ext>
            </a:extLst>
          </p:cNvPr>
          <p:cNvSpPr/>
          <p:nvPr/>
        </p:nvSpPr>
        <p:spPr>
          <a:xfrm>
            <a:off x="3703510" y="3352028"/>
            <a:ext cx="1300538" cy="702078"/>
          </a:xfrm>
          <a:prstGeom prst="roundRect">
            <a:avLst/>
          </a:prstGeom>
          <a:noFill/>
          <a:ln>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8" name="Title 1">
            <a:extLst>
              <a:ext uri="{FF2B5EF4-FFF2-40B4-BE49-F238E27FC236}">
                <a16:creationId xmlns:a16="http://schemas.microsoft.com/office/drawing/2014/main" id="{3C82D7C5-475D-4C11-BF51-612A1601D0FC}"/>
              </a:ext>
            </a:extLst>
          </p:cNvPr>
          <p:cNvSpPr txBox="1">
            <a:spLocks/>
          </p:cNvSpPr>
          <p:nvPr/>
        </p:nvSpPr>
        <p:spPr>
          <a:xfrm>
            <a:off x="2160975" y="337705"/>
            <a:ext cx="4822049" cy="42660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rPr>
              <a:t>Transcription and RNA</a:t>
            </a:r>
          </a:p>
        </p:txBody>
      </p:sp>
    </p:spTree>
    <p:extLst>
      <p:ext uri="{BB962C8B-B14F-4D97-AF65-F5344CB8AC3E}">
        <p14:creationId xmlns:p14="http://schemas.microsoft.com/office/powerpoint/2010/main" val="12189082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1000"/>
                                        <p:tgtEl>
                                          <p:spTgt spid="3"/>
                                        </p:tgtEl>
                                      </p:cBhvr>
                                    </p:animEffect>
                                    <p:anim calcmode="lin" valueType="num">
                                      <p:cBhvr>
                                        <p:cTn id="20" dur="1000" fill="hold"/>
                                        <p:tgtEl>
                                          <p:spTgt spid="3"/>
                                        </p:tgtEl>
                                        <p:attrNameLst>
                                          <p:attrName>ppt_x</p:attrName>
                                        </p:attrNameLst>
                                      </p:cBhvr>
                                      <p:tavLst>
                                        <p:tav tm="0">
                                          <p:val>
                                            <p:strVal val="#ppt_x"/>
                                          </p:val>
                                        </p:tav>
                                        <p:tav tm="100000">
                                          <p:val>
                                            <p:strVal val="#ppt_x"/>
                                          </p:val>
                                        </p:tav>
                                      </p:tavLst>
                                    </p:anim>
                                    <p:anim calcmode="lin" valueType="num">
                                      <p:cBhvr>
                                        <p:cTn id="21" dur="1000" fill="hold"/>
                                        <p:tgtEl>
                                          <p:spTgt spid="3"/>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fade">
                                      <p:cBhvr>
                                        <p:cTn id="24" dur="1000"/>
                                        <p:tgtEl>
                                          <p:spTgt spid="5"/>
                                        </p:tgtEl>
                                      </p:cBhvr>
                                    </p:animEffect>
                                    <p:anim calcmode="lin" valueType="num">
                                      <p:cBhvr>
                                        <p:cTn id="25" dur="1000" fill="hold"/>
                                        <p:tgtEl>
                                          <p:spTgt spid="5"/>
                                        </p:tgtEl>
                                        <p:attrNameLst>
                                          <p:attrName>ppt_x</p:attrName>
                                        </p:attrNameLst>
                                      </p:cBhvr>
                                      <p:tavLst>
                                        <p:tav tm="0">
                                          <p:val>
                                            <p:strVal val="#ppt_x"/>
                                          </p:val>
                                        </p:tav>
                                        <p:tav tm="100000">
                                          <p:val>
                                            <p:strVal val="#ppt_x"/>
                                          </p:val>
                                        </p:tav>
                                      </p:tavLst>
                                    </p:anim>
                                    <p:anim calcmode="lin" valueType="num">
                                      <p:cBhvr>
                                        <p:cTn id="26"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P spid="7"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figure_03_13b_unl.jpg"/>
          <p:cNvPicPr>
            <a:picLocks noChangeAspect="1"/>
          </p:cNvPicPr>
          <p:nvPr/>
        </p:nvPicPr>
        <p:blipFill>
          <a:blip r:embed="rId3"/>
          <a:stretch>
            <a:fillRect/>
          </a:stretch>
        </p:blipFill>
        <p:spPr>
          <a:xfrm>
            <a:off x="665420" y="517109"/>
            <a:ext cx="7759672" cy="5967234"/>
          </a:xfrm>
          <a:prstGeom prst="rect">
            <a:avLst/>
          </a:prstGeom>
        </p:spPr>
        <p:style>
          <a:lnRef idx="2">
            <a:schemeClr val="dk1"/>
          </a:lnRef>
          <a:fillRef idx="1">
            <a:schemeClr val="lt1"/>
          </a:fillRef>
          <a:effectRef idx="0">
            <a:schemeClr val="dk1"/>
          </a:effectRef>
          <a:fontRef idx="minor">
            <a:schemeClr val="dk1"/>
          </a:fontRef>
        </p:style>
      </p:pic>
      <p:sp>
        <p:nvSpPr>
          <p:cNvPr id="6" name="Rectangle 2"/>
          <p:cNvSpPr>
            <a:spLocks noChangeArrowheads="1"/>
          </p:cNvSpPr>
          <p:nvPr/>
        </p:nvSpPr>
        <p:spPr bwMode="auto">
          <a:xfrm>
            <a:off x="2362200" y="3538332"/>
            <a:ext cx="1217736" cy="600164"/>
          </a:xfrm>
          <a:prstGeom prst="rect">
            <a:avLst/>
          </a:prstGeom>
          <a:noFill/>
          <a:ln w="9525">
            <a:noFill/>
            <a:miter lim="800000"/>
            <a:headEnd/>
            <a:tailEnd/>
          </a:ln>
        </p:spPr>
        <p:txBody>
          <a:bodyPr wrap="square">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err="1">
                <a:ln>
                  <a:noFill/>
                </a:ln>
                <a:solidFill>
                  <a:prstClr val="black"/>
                </a:solidFill>
                <a:effectLst/>
                <a:uLnTx/>
                <a:uFillTx/>
                <a:latin typeface="Arial"/>
                <a:ea typeface="+mn-ea"/>
                <a:cs typeface="+mn-cs"/>
              </a:rPr>
              <a:t>Uracil</a:t>
            </a:r>
            <a:endParaRPr kumimoji="0" lang="en-US" sz="1650" b="1" i="0" u="none" strike="noStrike" kern="1200" cap="none" spc="0" normalizeH="0" baseline="0" noProof="0" dirty="0">
              <a:ln>
                <a:noFill/>
              </a:ln>
              <a:solidFill>
                <a:prstClr val="black"/>
              </a:solidFill>
              <a:effectLst/>
              <a:uLnTx/>
              <a:uFillTx/>
              <a:latin typeface="Arial"/>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prstClr val="black"/>
                </a:solidFill>
                <a:effectLst/>
                <a:uLnTx/>
                <a:uFillTx/>
                <a:latin typeface="Arial"/>
                <a:ea typeface="+mn-ea"/>
                <a:cs typeface="+mn-cs"/>
              </a:rPr>
              <a:t>(U)</a:t>
            </a:r>
            <a:endParaRPr kumimoji="0" lang="en-US" sz="1650" b="0" i="0" u="none" strike="noStrike" kern="1200" cap="none" spc="0" normalizeH="0" baseline="0" noProof="0" dirty="0">
              <a:ln>
                <a:noFill/>
              </a:ln>
              <a:solidFill>
                <a:prstClr val="black"/>
              </a:solidFill>
              <a:effectLst/>
              <a:uLnTx/>
              <a:uFillTx/>
              <a:latin typeface="Arial"/>
              <a:ea typeface="+mn-ea"/>
              <a:cs typeface="+mn-cs"/>
            </a:endParaRPr>
          </a:p>
        </p:txBody>
      </p:sp>
      <p:sp>
        <p:nvSpPr>
          <p:cNvPr id="7" name="Rounded Rectangle 6"/>
          <p:cNvSpPr/>
          <p:nvPr/>
        </p:nvSpPr>
        <p:spPr bwMode="auto">
          <a:xfrm>
            <a:off x="3337324" y="1541860"/>
            <a:ext cx="2639615" cy="868323"/>
          </a:xfrm>
          <a:prstGeom prst="roundRect">
            <a:avLst/>
          </a:prstGeom>
          <a:solidFill>
            <a:srgbClr val="FFFFFF"/>
          </a:solidFill>
          <a:ln w="9525" cap="flat" cmpd="sng" algn="ctr">
            <a:solidFill>
              <a:schemeClr val="tx1"/>
            </a:solidFill>
            <a:prstDash val="solid"/>
            <a:round/>
            <a:headEnd type="none" w="med" len="med"/>
            <a:tailEnd type="none" w="med" len="med"/>
          </a:ln>
          <a:effectLst>
            <a:outerShdw blurRad="50800" dist="38100" dir="2700000">
              <a:srgbClr val="000000">
                <a:alpha val="43000"/>
              </a:srgbClr>
            </a:outerShdw>
          </a:effectLst>
        </p:spPr>
        <p:txBody>
          <a:bodyPr>
            <a:prstTxWarp prst="textNoShape">
              <a:avLst/>
            </a:prstTxWarp>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Arial"/>
                <a:ea typeface="+mn-ea"/>
                <a:cs typeface="Arial"/>
              </a:rPr>
              <a:t>Uracil</a:t>
            </a:r>
            <a:r>
              <a:rPr kumimoji="0" lang="en-US" sz="1500" b="0" i="0" u="none" strike="noStrike" kern="1200" cap="none" spc="0" normalizeH="0" baseline="0" noProof="0" dirty="0">
                <a:ln>
                  <a:noFill/>
                </a:ln>
                <a:solidFill>
                  <a:prstClr val="black"/>
                </a:solidFill>
                <a:effectLst/>
                <a:uLnTx/>
                <a:uFillTx/>
                <a:latin typeface="Arial"/>
                <a:ea typeface="+mn-ea"/>
                <a:cs typeface="Arial"/>
              </a:rPr>
              <a:t> has a hydrogen (–H) where thymine has a methyl (–CH</a:t>
            </a:r>
            <a:r>
              <a:rPr kumimoji="0" lang="en-US" sz="1500" b="0" i="0" u="none" strike="noStrike" kern="1200" cap="none" spc="0" normalizeH="0" baseline="-25000" noProof="0" dirty="0">
                <a:ln>
                  <a:noFill/>
                </a:ln>
                <a:solidFill>
                  <a:prstClr val="black"/>
                </a:solidFill>
                <a:effectLst/>
                <a:uLnTx/>
                <a:uFillTx/>
                <a:latin typeface="Arial"/>
                <a:ea typeface="+mn-ea"/>
                <a:cs typeface="Arial"/>
              </a:rPr>
              <a:t>3</a:t>
            </a:r>
            <a:r>
              <a:rPr kumimoji="0" lang="en-US" sz="1500" b="0" i="0" u="none" strike="noStrike" kern="1200" cap="none" spc="0" normalizeH="0" baseline="0" noProof="0" dirty="0">
                <a:ln>
                  <a:noFill/>
                </a:ln>
                <a:solidFill>
                  <a:prstClr val="black"/>
                </a:solidFill>
                <a:effectLst/>
                <a:uLnTx/>
                <a:uFillTx/>
                <a:latin typeface="Arial"/>
                <a:ea typeface="+mn-ea"/>
                <a:cs typeface="Arial"/>
              </a:rPr>
              <a:t>) group.</a:t>
            </a:r>
          </a:p>
        </p:txBody>
      </p:sp>
      <p:sp>
        <p:nvSpPr>
          <p:cNvPr id="8" name="Rectangle 5"/>
          <p:cNvSpPr>
            <a:spLocks noChangeArrowheads="1"/>
          </p:cNvSpPr>
          <p:nvPr/>
        </p:nvSpPr>
        <p:spPr bwMode="auto">
          <a:xfrm>
            <a:off x="5636894" y="3538332"/>
            <a:ext cx="1236201" cy="600164"/>
          </a:xfrm>
          <a:prstGeom prst="rect">
            <a:avLst/>
          </a:prstGeom>
          <a:noFill/>
          <a:ln w="9525">
            <a:noFill/>
            <a:miter lim="800000"/>
            <a:headEnd/>
            <a:tailEnd/>
          </a:ln>
        </p:spPr>
        <p:txBody>
          <a:bodyPr wrap="square">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50" b="1" i="0" u="none" strike="noStrike" kern="1200" cap="none" spc="0" normalizeH="0" baseline="0" noProof="0" dirty="0">
                <a:ln>
                  <a:noFill/>
                </a:ln>
                <a:solidFill>
                  <a:prstClr val="black"/>
                </a:solidFill>
                <a:effectLst/>
                <a:uLnTx/>
                <a:uFillTx/>
                <a:latin typeface="Arial"/>
                <a:ea typeface="+mn-ea"/>
                <a:cs typeface="+mn-cs"/>
              </a:rPr>
              <a:t>Thymine (T)</a:t>
            </a:r>
            <a:endParaRPr kumimoji="0" lang="en-US" sz="1650" b="0" i="0" u="none" strike="noStrike" kern="1200" cap="none" spc="0" normalizeH="0" baseline="0" noProof="0" dirty="0">
              <a:ln>
                <a:noFill/>
              </a:ln>
              <a:solidFill>
                <a:prstClr val="black"/>
              </a:solidFill>
              <a:effectLst/>
              <a:uLnTx/>
              <a:uFillTx/>
              <a:latin typeface="Arial"/>
              <a:ea typeface="+mn-ea"/>
              <a:cs typeface="+mn-cs"/>
            </a:endParaRPr>
          </a:p>
        </p:txBody>
      </p:sp>
      <p:sp>
        <p:nvSpPr>
          <p:cNvPr id="9" name="Rectangle 3"/>
          <p:cNvSpPr>
            <a:spLocks noChangeArrowheads="1"/>
          </p:cNvSpPr>
          <p:nvPr/>
        </p:nvSpPr>
        <p:spPr bwMode="auto">
          <a:xfrm>
            <a:off x="2484038" y="5088601"/>
            <a:ext cx="1024971" cy="323165"/>
          </a:xfrm>
          <a:prstGeom prst="rect">
            <a:avLst/>
          </a:prstGeom>
          <a:noFill/>
          <a:ln w="9525">
            <a:noFill/>
            <a:miter lim="800000"/>
            <a:headEnd/>
            <a:tailEnd/>
          </a:ln>
        </p:spPr>
        <p:txBody>
          <a:bodyPr wrap="square">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Arial"/>
                <a:ea typeface="+mn-ea"/>
                <a:cs typeface="+mn-cs"/>
              </a:rPr>
              <a:t>Ribose</a:t>
            </a:r>
          </a:p>
        </p:txBody>
      </p:sp>
      <p:sp>
        <p:nvSpPr>
          <p:cNvPr id="10" name="Rectangle 3"/>
          <p:cNvSpPr>
            <a:spLocks noChangeArrowheads="1"/>
          </p:cNvSpPr>
          <p:nvPr/>
        </p:nvSpPr>
        <p:spPr bwMode="auto">
          <a:xfrm>
            <a:off x="5526716" y="5088601"/>
            <a:ext cx="1467973" cy="323165"/>
          </a:xfrm>
          <a:prstGeom prst="rect">
            <a:avLst/>
          </a:prstGeom>
          <a:noFill/>
          <a:ln w="9525">
            <a:noFill/>
            <a:miter lim="800000"/>
            <a:headEnd/>
            <a:tailEnd/>
          </a:ln>
        </p:spPr>
        <p:txBody>
          <a:bodyPr wrap="square">
            <a:prstTxWarp prst="textNoShape">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err="1">
                <a:ln>
                  <a:noFill/>
                </a:ln>
                <a:solidFill>
                  <a:prstClr val="black"/>
                </a:solidFill>
                <a:effectLst/>
                <a:uLnTx/>
                <a:uFillTx/>
                <a:latin typeface="Arial"/>
                <a:ea typeface="+mn-ea"/>
                <a:cs typeface="+mn-cs"/>
              </a:rPr>
              <a:t>Deoxyibose</a:t>
            </a:r>
            <a:endParaRPr kumimoji="0" lang="en-US" sz="1500" b="0" i="0" u="none" strike="noStrike" kern="1200" cap="none" spc="0" normalizeH="0" baseline="0" noProof="0" dirty="0">
              <a:ln>
                <a:noFill/>
              </a:ln>
              <a:solidFill>
                <a:prstClr val="black"/>
              </a:solidFill>
              <a:effectLst/>
              <a:uLnTx/>
              <a:uFillTx/>
              <a:latin typeface="Arial"/>
              <a:ea typeface="+mn-ea"/>
              <a:cs typeface="+mn-cs"/>
            </a:endParaRPr>
          </a:p>
        </p:txBody>
      </p:sp>
      <p:sp>
        <p:nvSpPr>
          <p:cNvPr id="4" name="Title 2"/>
          <p:cNvSpPr txBox="1">
            <a:spLocks/>
          </p:cNvSpPr>
          <p:nvPr/>
        </p:nvSpPr>
        <p:spPr>
          <a:xfrm>
            <a:off x="1428750" y="1014070"/>
            <a:ext cx="3500438" cy="527791"/>
          </a:xfrm>
          <a:prstGeom prst="rect">
            <a:avLst/>
          </a:prstGeom>
        </p:spPr>
        <p:txBody>
          <a:bodyPr vert="horz" lIns="68580" tIns="34290" rIns="68580" bIns="34290" rtlCol="0" anchor="ctr">
            <a:normAutofit/>
          </a:bodyPr>
          <a:lstStyle/>
          <a:p>
            <a:pPr marL="0" marR="0" lvl="0" indent="0" algn="l" defTabSz="457200" rtl="0" eaLnBrk="1" fontAlgn="auto" latinLnBrk="0" hangingPunct="1">
              <a:lnSpc>
                <a:spcPct val="100000"/>
              </a:lnSpc>
              <a:spcBef>
                <a:spcPct val="0"/>
              </a:spcBef>
              <a:spcAft>
                <a:spcPts val="0"/>
              </a:spcAft>
              <a:buClrTx/>
              <a:buSzTx/>
              <a:buFontTx/>
              <a:buNone/>
              <a:tabLst/>
              <a:defRPr/>
            </a:pPr>
            <a:r>
              <a:rPr kumimoji="0" lang="en-US" sz="3000" b="1" i="0" u="none" strike="noStrike" kern="1200" cap="none" spc="0" normalizeH="0" baseline="0" noProof="0" dirty="0">
                <a:ln>
                  <a:noFill/>
                </a:ln>
                <a:solidFill>
                  <a:prstClr val="black"/>
                </a:solidFill>
                <a:effectLst/>
                <a:uLnTx/>
                <a:uFillTx/>
                <a:latin typeface="Calibri Light" panose="020F0302020204030204"/>
                <a:ea typeface="+mn-ea"/>
                <a:cs typeface="+mn-cs"/>
              </a:rPr>
              <a:t>DNA vs. RNA</a:t>
            </a:r>
          </a:p>
        </p:txBody>
      </p:sp>
      <p:sp>
        <p:nvSpPr>
          <p:cNvPr id="3" name="Minus 2"/>
          <p:cNvSpPr/>
          <p:nvPr/>
        </p:nvSpPr>
        <p:spPr>
          <a:xfrm>
            <a:off x="3706178" y="3394710"/>
            <a:ext cx="360045" cy="42863"/>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Minus 10"/>
          <p:cNvSpPr/>
          <p:nvPr/>
        </p:nvSpPr>
        <p:spPr>
          <a:xfrm>
            <a:off x="6994687" y="3437574"/>
            <a:ext cx="509108" cy="34289"/>
          </a:xfrm>
          <a:prstGeom prst="mathMinus">
            <a:avLst/>
          </a:prstGeom>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85304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1240022" y="365760"/>
            <a:ext cx="7025402" cy="1188720"/>
          </a:xfrm>
        </p:spPr>
        <p:txBody>
          <a:bodyPr>
            <a:normAutofit/>
          </a:bodyPr>
          <a:lstStyle/>
          <a:p>
            <a:br>
              <a:rPr lang="en-GB" sz="2400"/>
            </a:br>
            <a:r>
              <a:rPr lang="en-GB" sz="2400"/>
              <a:t>Why is uracil rather than thymine used in RNA?</a:t>
            </a:r>
            <a:br>
              <a:rPr lang="en-GB" sz="2400"/>
            </a:br>
            <a:endParaRPr lang="en-GB" sz="2400"/>
          </a:p>
        </p:txBody>
      </p:sp>
      <p:sp>
        <p:nvSpPr>
          <p:cNvPr id="8" name="Freeform: Shape 7">
            <a:extLst>
              <a:ext uri="{FF2B5EF4-FFF2-40B4-BE49-F238E27FC236}">
                <a16:creationId xmlns:a16="http://schemas.microsoft.com/office/drawing/2014/main" id="{7CB4857B-ED7C-444D-9F04-2F885114A1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323075" cy="1558212"/>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Freeform: Shape 9">
            <a:extLst>
              <a:ext uri="{FF2B5EF4-FFF2-40B4-BE49-F238E27FC236}">
                <a16:creationId xmlns:a16="http://schemas.microsoft.com/office/drawing/2014/main" id="{D18046FB-44EA-4FD8-A585-EA09A319B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0"/>
            <a:ext cx="9144000" cy="5166360"/>
          </a:xfrm>
          <a:custGeom>
            <a:avLst/>
            <a:gdLst>
              <a:gd name="connsiteX0" fmla="*/ 0 w 12191999"/>
              <a:gd name="connsiteY0" fmla="*/ 0 h 5166360"/>
              <a:gd name="connsiteX1" fmla="*/ 1822388 w 12191999"/>
              <a:gd name="connsiteY1" fmla="*/ 0 h 5166360"/>
              <a:gd name="connsiteX2" fmla="*/ 6468290 w 12191999"/>
              <a:gd name="connsiteY2" fmla="*/ 0 h 5166360"/>
              <a:gd name="connsiteX3" fmla="*/ 7796394 w 12191999"/>
              <a:gd name="connsiteY3" fmla="*/ 0 h 5166360"/>
              <a:gd name="connsiteX4" fmla="*/ 8376834 w 12191999"/>
              <a:gd name="connsiteY4" fmla="*/ 0 h 5166360"/>
              <a:gd name="connsiteX5" fmla="*/ 9704938 w 12191999"/>
              <a:gd name="connsiteY5" fmla="*/ 0 h 5166360"/>
              <a:gd name="connsiteX6" fmla="*/ 9704938 w 12191999"/>
              <a:gd name="connsiteY6" fmla="*/ 2 h 5166360"/>
              <a:gd name="connsiteX7" fmla="*/ 10283456 w 12191999"/>
              <a:gd name="connsiteY7" fmla="*/ 2 h 5166360"/>
              <a:gd name="connsiteX8" fmla="*/ 10863897 w 12191999"/>
              <a:gd name="connsiteY8" fmla="*/ 2 h 5166360"/>
              <a:gd name="connsiteX9" fmla="*/ 12191999 w 12191999"/>
              <a:gd name="connsiteY9" fmla="*/ 2 h 5166360"/>
              <a:gd name="connsiteX10" fmla="*/ 12191999 w 12191999"/>
              <a:gd name="connsiteY10" fmla="*/ 5166360 h 5166360"/>
              <a:gd name="connsiteX11" fmla="*/ 0 w 12191999"/>
              <a:gd name="connsiteY11" fmla="*/ 5166360 h 5166360"/>
              <a:gd name="connsiteX12" fmla="*/ 0 w 12191999"/>
              <a:gd name="connsiteY12" fmla="*/ 2604436 h 5166360"/>
              <a:gd name="connsiteX13" fmla="*/ 862341 w 12191999"/>
              <a:gd name="connsiteY13" fmla="*/ 743371 h 5166360"/>
              <a:gd name="connsiteX14" fmla="*/ 0 w 12191999"/>
              <a:gd name="connsiteY14" fmla="*/ 743371 h 5166360"/>
              <a:gd name="connsiteX15" fmla="*/ 0 w 12191999"/>
              <a:gd name="connsiteY15" fmla="*/ 742508 h 5166360"/>
              <a:gd name="connsiteX16" fmla="*/ 92826 w 12191999"/>
              <a:gd name="connsiteY16" fmla="*/ 742508 h 5166360"/>
              <a:gd name="connsiteX17" fmla="*/ 406486 w 12191999"/>
              <a:gd name="connsiteY17" fmla="*/ 742508 h 5166360"/>
              <a:gd name="connsiteX18" fmla="*/ 406486 w 12191999"/>
              <a:gd name="connsiteY18" fmla="*/ 742507 h 5166360"/>
              <a:gd name="connsiteX19" fmla="*/ 862741 w 12191999"/>
              <a:gd name="connsiteY19" fmla="*/ 742507 h 5166360"/>
              <a:gd name="connsiteX20" fmla="*/ 1206388 w 12191999"/>
              <a:gd name="connsiteY20" fmla="*/ 864 h 5166360"/>
              <a:gd name="connsiteX21" fmla="*/ 748500 w 12191999"/>
              <a:gd name="connsiteY21" fmla="*/ 864 h 5166360"/>
              <a:gd name="connsiteX22" fmla="*/ 0 w 12191999"/>
              <a:gd name="connsiteY22" fmla="*/ 864 h 5166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2191999" h="5166360">
                <a:moveTo>
                  <a:pt x="0" y="0"/>
                </a:moveTo>
                <a:lnTo>
                  <a:pt x="1822388" y="0"/>
                </a:lnTo>
                <a:lnTo>
                  <a:pt x="6468290" y="0"/>
                </a:lnTo>
                <a:lnTo>
                  <a:pt x="7796394" y="0"/>
                </a:lnTo>
                <a:lnTo>
                  <a:pt x="8376834" y="0"/>
                </a:lnTo>
                <a:lnTo>
                  <a:pt x="9704938" y="0"/>
                </a:lnTo>
                <a:lnTo>
                  <a:pt x="9704938" y="2"/>
                </a:lnTo>
                <a:lnTo>
                  <a:pt x="10283456" y="2"/>
                </a:lnTo>
                <a:lnTo>
                  <a:pt x="10863897" y="2"/>
                </a:lnTo>
                <a:lnTo>
                  <a:pt x="12191999" y="2"/>
                </a:lnTo>
                <a:lnTo>
                  <a:pt x="12191999" y="5166360"/>
                </a:lnTo>
                <a:lnTo>
                  <a:pt x="0" y="5166360"/>
                </a:lnTo>
                <a:lnTo>
                  <a:pt x="0" y="2604436"/>
                </a:lnTo>
                <a:lnTo>
                  <a:pt x="862341" y="743371"/>
                </a:lnTo>
                <a:lnTo>
                  <a:pt x="0" y="743371"/>
                </a:lnTo>
                <a:lnTo>
                  <a:pt x="0" y="742508"/>
                </a:lnTo>
                <a:lnTo>
                  <a:pt x="92826" y="742508"/>
                </a:lnTo>
                <a:lnTo>
                  <a:pt x="406486" y="742508"/>
                </a:lnTo>
                <a:lnTo>
                  <a:pt x="406486" y="742507"/>
                </a:lnTo>
                <a:lnTo>
                  <a:pt x="862741" y="742507"/>
                </a:lnTo>
                <a:lnTo>
                  <a:pt x="1206388" y="864"/>
                </a:lnTo>
                <a:lnTo>
                  <a:pt x="748500" y="864"/>
                </a:lnTo>
                <a:lnTo>
                  <a:pt x="0" y="864"/>
                </a:lnTo>
                <a:close/>
              </a:path>
            </a:pathLst>
          </a:custGeom>
          <a:solidFill>
            <a:srgbClr val="A6A6A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Freeform: Shape 11">
            <a:extLst>
              <a:ext uri="{FF2B5EF4-FFF2-40B4-BE49-F238E27FC236}">
                <a16:creationId xmlns:a16="http://schemas.microsoft.com/office/drawing/2014/main" id="{479F5F2B-8B58-4140-AE6A-51F6C67B18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691641"/>
            <a:ext cx="728740" cy="2096979"/>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p:cNvSpPr>
            <a:spLocks noGrp="1"/>
          </p:cNvSpPr>
          <p:nvPr>
            <p:ph idx="1"/>
          </p:nvPr>
        </p:nvSpPr>
        <p:spPr>
          <a:xfrm>
            <a:off x="1240022" y="2176272"/>
            <a:ext cx="7025403" cy="4041648"/>
          </a:xfrm>
        </p:spPr>
        <p:txBody>
          <a:bodyPr anchor="t">
            <a:normAutofit/>
          </a:bodyPr>
          <a:lstStyle/>
          <a:p>
            <a:pPr marL="0" indent="0">
              <a:buNone/>
            </a:pPr>
            <a:endParaRPr lang="en-GB" sz="2100"/>
          </a:p>
          <a:p>
            <a:pPr marL="0" indent="0">
              <a:buNone/>
            </a:pPr>
            <a:r>
              <a:rPr lang="en-GB" sz="2100" b="1"/>
              <a:t>Uracil is energetically less expensive to produce than thymine.</a:t>
            </a:r>
          </a:p>
          <a:p>
            <a:pPr marL="0" indent="0">
              <a:buNone/>
            </a:pPr>
            <a:endParaRPr lang="en-GB" sz="2100"/>
          </a:p>
          <a:p>
            <a:pPr marL="0" indent="0">
              <a:buNone/>
            </a:pPr>
            <a:r>
              <a:rPr lang="en-GB" sz="2100" b="1"/>
              <a:t>RNA is comparatively short-lived molecule</a:t>
            </a:r>
          </a:p>
          <a:p>
            <a:pPr marL="0" indent="0">
              <a:buNone/>
            </a:pPr>
            <a:endParaRPr lang="en-GB" sz="2100" b="1"/>
          </a:p>
        </p:txBody>
      </p:sp>
    </p:spTree>
    <p:extLst>
      <p:ext uri="{BB962C8B-B14F-4D97-AF65-F5344CB8AC3E}">
        <p14:creationId xmlns:p14="http://schemas.microsoft.com/office/powerpoint/2010/main" val="2323747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9144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Title 2"/>
          <p:cNvSpPr>
            <a:spLocks noGrp="1"/>
          </p:cNvSpPr>
          <p:nvPr>
            <p:ph type="title"/>
          </p:nvPr>
        </p:nvSpPr>
        <p:spPr>
          <a:xfrm>
            <a:off x="417399" y="643467"/>
            <a:ext cx="8408193" cy="744836"/>
          </a:xfrm>
        </p:spPr>
        <p:txBody>
          <a:bodyPr vert="horz" lIns="91440" tIns="45720" rIns="91440" bIns="45720" rtlCol="0" anchor="ctr">
            <a:normAutofit/>
          </a:bodyPr>
          <a:lstStyle/>
          <a:p>
            <a:pPr algn="ctr"/>
            <a:r>
              <a:rPr lang="en-US" sz="2800" b="1" kern="1200">
                <a:solidFill>
                  <a:schemeClr val="bg1"/>
                </a:solidFill>
                <a:latin typeface="+mj-lt"/>
                <a:ea typeface="+mj-ea"/>
                <a:cs typeface="+mj-cs"/>
              </a:rPr>
              <a:t>DNA vs. RNA</a:t>
            </a:r>
          </a:p>
        </p:txBody>
      </p:sp>
      <p:graphicFrame>
        <p:nvGraphicFramePr>
          <p:cNvPr id="4" name="Content Placeholder 3"/>
          <p:cNvGraphicFramePr>
            <a:graphicFrameLocks noGrp="1"/>
          </p:cNvGraphicFramePr>
          <p:nvPr>
            <p:ph idx="1"/>
          </p:nvPr>
        </p:nvGraphicFramePr>
        <p:xfrm>
          <a:off x="926353" y="1714800"/>
          <a:ext cx="7291294" cy="4315056"/>
        </p:xfrm>
        <a:graphic>
          <a:graphicData uri="http://schemas.openxmlformats.org/drawingml/2006/table">
            <a:tbl>
              <a:tblPr firstRow="1" bandRow="1">
                <a:tableStyleId>{5C22544A-7EE6-4342-B048-85BDC9FD1C3A}</a:tableStyleId>
              </a:tblPr>
              <a:tblGrid>
                <a:gridCol w="1595514">
                  <a:extLst>
                    <a:ext uri="{9D8B030D-6E8A-4147-A177-3AD203B41FA5}">
                      <a16:colId xmlns:a16="http://schemas.microsoft.com/office/drawing/2014/main" val="20000"/>
                    </a:ext>
                  </a:extLst>
                </a:gridCol>
                <a:gridCol w="3148140">
                  <a:extLst>
                    <a:ext uri="{9D8B030D-6E8A-4147-A177-3AD203B41FA5}">
                      <a16:colId xmlns:a16="http://schemas.microsoft.com/office/drawing/2014/main" val="20001"/>
                    </a:ext>
                  </a:extLst>
                </a:gridCol>
                <a:gridCol w="2547640">
                  <a:extLst>
                    <a:ext uri="{9D8B030D-6E8A-4147-A177-3AD203B41FA5}">
                      <a16:colId xmlns:a16="http://schemas.microsoft.com/office/drawing/2014/main" val="20002"/>
                    </a:ext>
                  </a:extLst>
                </a:gridCol>
              </a:tblGrid>
              <a:tr h="719176">
                <a:tc>
                  <a:txBody>
                    <a:bodyPr/>
                    <a:lstStyle/>
                    <a:p>
                      <a:pPr algn="ctr"/>
                      <a:endParaRPr lang="en-US" sz="1100"/>
                    </a:p>
                  </a:txBody>
                  <a:tcPr marL="75438" marR="75438" marT="37719" marB="37719"/>
                </a:tc>
                <a:tc>
                  <a:txBody>
                    <a:bodyPr/>
                    <a:lstStyle/>
                    <a:p>
                      <a:pPr algn="ctr"/>
                      <a:r>
                        <a:rPr lang="en-US" sz="4000"/>
                        <a:t>DNA</a:t>
                      </a:r>
                    </a:p>
                  </a:txBody>
                  <a:tcPr marL="75438" marR="75438" marT="37719" marB="37719"/>
                </a:tc>
                <a:tc>
                  <a:txBody>
                    <a:bodyPr/>
                    <a:lstStyle/>
                    <a:p>
                      <a:pPr algn="ctr"/>
                      <a:r>
                        <a:rPr lang="en-US" sz="4000"/>
                        <a:t>RNA</a:t>
                      </a:r>
                    </a:p>
                  </a:txBody>
                  <a:tcPr marL="75438" marR="75438" marT="37719" marB="37719"/>
                </a:tc>
                <a:extLst>
                  <a:ext uri="{0D108BD9-81ED-4DB2-BD59-A6C34878D82A}">
                    <a16:rowId xmlns:a16="http://schemas.microsoft.com/office/drawing/2014/main" val="10000"/>
                  </a:ext>
                </a:extLst>
              </a:tr>
              <a:tr h="618592">
                <a:tc>
                  <a:txBody>
                    <a:bodyPr/>
                    <a:lstStyle/>
                    <a:p>
                      <a:pPr algn="ctr"/>
                      <a:r>
                        <a:rPr lang="en-US" sz="3300"/>
                        <a:t>Sugar</a:t>
                      </a:r>
                    </a:p>
                  </a:txBody>
                  <a:tcPr marL="75438" marR="75438" marT="37719" marB="37719"/>
                </a:tc>
                <a:tc>
                  <a:txBody>
                    <a:bodyPr/>
                    <a:lstStyle/>
                    <a:p>
                      <a:pPr algn="ctr"/>
                      <a:r>
                        <a:rPr lang="en-US" sz="3300"/>
                        <a:t>Deoxyribose</a:t>
                      </a:r>
                    </a:p>
                  </a:txBody>
                  <a:tcPr marL="75438" marR="75438" marT="37719" marB="37719"/>
                </a:tc>
                <a:tc>
                  <a:txBody>
                    <a:bodyPr/>
                    <a:lstStyle/>
                    <a:p>
                      <a:pPr algn="ctr"/>
                      <a:r>
                        <a:rPr lang="en-US" sz="3300"/>
                        <a:t>Ribose</a:t>
                      </a:r>
                    </a:p>
                  </a:txBody>
                  <a:tcPr marL="75438" marR="75438" marT="37719" marB="37719"/>
                </a:tc>
                <a:extLst>
                  <a:ext uri="{0D108BD9-81ED-4DB2-BD59-A6C34878D82A}">
                    <a16:rowId xmlns:a16="http://schemas.microsoft.com/office/drawing/2014/main" val="10001"/>
                  </a:ext>
                </a:extLst>
              </a:tr>
              <a:tr h="618592">
                <a:tc>
                  <a:txBody>
                    <a:bodyPr/>
                    <a:lstStyle/>
                    <a:p>
                      <a:pPr algn="ctr"/>
                      <a:r>
                        <a:rPr lang="en-US" sz="3300"/>
                        <a:t>Bases</a:t>
                      </a:r>
                    </a:p>
                  </a:txBody>
                  <a:tcPr marL="75438" marR="75438" marT="37719" marB="37719"/>
                </a:tc>
                <a:tc>
                  <a:txBody>
                    <a:bodyPr/>
                    <a:lstStyle/>
                    <a:p>
                      <a:pPr algn="ctr"/>
                      <a:r>
                        <a:rPr lang="en-US" sz="3300"/>
                        <a:t>A, T, C, G</a:t>
                      </a:r>
                    </a:p>
                  </a:txBody>
                  <a:tcPr marL="75438" marR="75438" marT="37719" marB="37719"/>
                </a:tc>
                <a:tc>
                  <a:txBody>
                    <a:bodyPr/>
                    <a:lstStyle/>
                    <a:p>
                      <a:pPr algn="ctr"/>
                      <a:r>
                        <a:rPr lang="en-US" sz="3300"/>
                        <a:t>A, U, C, G</a:t>
                      </a:r>
                    </a:p>
                  </a:txBody>
                  <a:tcPr marL="75438" marR="75438" marT="37719" marB="37719"/>
                </a:tc>
                <a:extLst>
                  <a:ext uri="{0D108BD9-81ED-4DB2-BD59-A6C34878D82A}">
                    <a16:rowId xmlns:a16="http://schemas.microsoft.com/office/drawing/2014/main" val="10002"/>
                  </a:ext>
                </a:extLst>
              </a:tr>
              <a:tr h="1121512">
                <a:tc>
                  <a:txBody>
                    <a:bodyPr/>
                    <a:lstStyle/>
                    <a:p>
                      <a:pPr algn="ctr"/>
                      <a:r>
                        <a:rPr lang="en-US" sz="3300"/>
                        <a:t>5′ end</a:t>
                      </a:r>
                    </a:p>
                  </a:txBody>
                  <a:tcPr marL="75438" marR="75438" marT="37719" marB="37719"/>
                </a:tc>
                <a:tc>
                  <a:txBody>
                    <a:bodyPr/>
                    <a:lstStyle/>
                    <a:p>
                      <a:pPr algn="ctr"/>
                      <a:r>
                        <a:rPr lang="en-US" sz="3300"/>
                        <a:t>Monophosphate</a:t>
                      </a:r>
                    </a:p>
                  </a:txBody>
                  <a:tcPr marL="75438" marR="75438" marT="37719" marB="37719"/>
                </a:tc>
                <a:tc>
                  <a:txBody>
                    <a:bodyPr/>
                    <a:lstStyle/>
                    <a:p>
                      <a:pPr algn="ctr"/>
                      <a:r>
                        <a:rPr lang="en-US" sz="3300"/>
                        <a:t>Triphosphate</a:t>
                      </a:r>
                    </a:p>
                  </a:txBody>
                  <a:tcPr marL="75438" marR="75438" marT="37719" marB="37719"/>
                </a:tc>
                <a:extLst>
                  <a:ext uri="{0D108BD9-81ED-4DB2-BD59-A6C34878D82A}">
                    <a16:rowId xmlns:a16="http://schemas.microsoft.com/office/drawing/2014/main" val="10003"/>
                  </a:ext>
                </a:extLst>
              </a:tr>
              <a:tr h="618592">
                <a:tc>
                  <a:txBody>
                    <a:bodyPr/>
                    <a:lstStyle/>
                    <a:p>
                      <a:pPr algn="ctr"/>
                      <a:r>
                        <a:rPr lang="en-US" sz="3300"/>
                        <a:t>Size</a:t>
                      </a:r>
                    </a:p>
                  </a:txBody>
                  <a:tcPr marL="75438" marR="75438" marT="37719" marB="37719"/>
                </a:tc>
                <a:tc>
                  <a:txBody>
                    <a:bodyPr/>
                    <a:lstStyle/>
                    <a:p>
                      <a:pPr algn="ctr"/>
                      <a:r>
                        <a:rPr lang="en-US" sz="3300"/>
                        <a:t>Very large</a:t>
                      </a:r>
                    </a:p>
                  </a:txBody>
                  <a:tcPr marL="75438" marR="75438" marT="37719" marB="37719"/>
                </a:tc>
                <a:tc>
                  <a:txBody>
                    <a:bodyPr/>
                    <a:lstStyle/>
                    <a:p>
                      <a:pPr algn="ctr"/>
                      <a:r>
                        <a:rPr lang="en-US" sz="3300"/>
                        <a:t>Smaller</a:t>
                      </a:r>
                    </a:p>
                  </a:txBody>
                  <a:tcPr marL="75438" marR="75438" marT="37719" marB="37719"/>
                </a:tc>
                <a:extLst>
                  <a:ext uri="{0D108BD9-81ED-4DB2-BD59-A6C34878D82A}">
                    <a16:rowId xmlns:a16="http://schemas.microsoft.com/office/drawing/2014/main" val="10004"/>
                  </a:ext>
                </a:extLst>
              </a:tr>
              <a:tr h="618592">
                <a:tc>
                  <a:txBody>
                    <a:bodyPr/>
                    <a:lstStyle/>
                    <a:p>
                      <a:pPr algn="ctr"/>
                      <a:r>
                        <a:rPr lang="en-US" sz="3300"/>
                        <a:t>Strands</a:t>
                      </a:r>
                    </a:p>
                  </a:txBody>
                  <a:tcPr marL="75438" marR="75438" marT="37719" marB="37719"/>
                </a:tc>
                <a:tc>
                  <a:txBody>
                    <a:bodyPr/>
                    <a:lstStyle/>
                    <a:p>
                      <a:pPr algn="ctr"/>
                      <a:r>
                        <a:rPr lang="en-US" sz="3300"/>
                        <a:t>Double</a:t>
                      </a:r>
                    </a:p>
                  </a:txBody>
                  <a:tcPr marL="75438" marR="75438" marT="37719" marB="37719"/>
                </a:tc>
                <a:tc>
                  <a:txBody>
                    <a:bodyPr/>
                    <a:lstStyle/>
                    <a:p>
                      <a:pPr algn="ctr"/>
                      <a:r>
                        <a:rPr lang="en-US" sz="3300"/>
                        <a:t>Single</a:t>
                      </a:r>
                    </a:p>
                  </a:txBody>
                  <a:tcPr marL="75438" marR="75438" marT="37719" marB="37719"/>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677835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B28DF6A-6944-46AC-84B5-6A9EE1527DA4}"/>
              </a:ext>
            </a:extLst>
          </p:cNvPr>
          <p:cNvSpPr/>
          <p:nvPr/>
        </p:nvSpPr>
        <p:spPr>
          <a:xfrm>
            <a:off x="1223628" y="1484785"/>
            <a:ext cx="6048672" cy="1759456"/>
          </a:xfrm>
          <a:prstGeom prst="rect">
            <a:avLst/>
          </a:prstGeom>
        </p:spPr>
        <p:txBody>
          <a:bodyPr wrap="square">
            <a:spAutoFit/>
          </a:bodyPr>
          <a:lstStyle/>
          <a:p>
            <a:pPr marL="0" marR="0" lvl="0" indent="0" algn="l" defTabSz="457200" rtl="0" eaLnBrk="1" fontAlgn="auto" latinLnBrk="0" hangingPunct="1">
              <a:lnSpc>
                <a:spcPct val="100000"/>
              </a:lnSpc>
              <a:spcBef>
                <a:spcPts val="450"/>
              </a:spcBef>
              <a:spcAft>
                <a:spcPts val="45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Which of the following correctly describes the Central Dogma?</a:t>
            </a:r>
          </a:p>
          <a:p>
            <a:pPr marL="0" marR="0" lvl="0" indent="0" algn="l" defTabSz="457200" rtl="0" eaLnBrk="1" fontAlgn="auto" latinLnBrk="0" hangingPunct="1">
              <a:lnSpc>
                <a:spcPct val="100000"/>
              </a:lnSpc>
              <a:spcBef>
                <a:spcPts val="450"/>
              </a:spcBef>
              <a:spcAft>
                <a:spcPts val="45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a. RNA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DNA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Protein</a:t>
            </a:r>
          </a:p>
          <a:p>
            <a:pPr marL="0" marR="0" lvl="0" indent="0" algn="l" defTabSz="457200" rtl="0" eaLnBrk="1" fontAlgn="auto" latinLnBrk="0" hangingPunct="1">
              <a:lnSpc>
                <a:spcPct val="100000"/>
              </a:lnSpc>
              <a:spcBef>
                <a:spcPts val="450"/>
              </a:spcBef>
              <a:spcAft>
                <a:spcPts val="45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b. DNA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RNA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Protein</a:t>
            </a:r>
          </a:p>
          <a:p>
            <a:pPr marL="0" marR="0" lvl="0" indent="0" algn="l" defTabSz="457200" rtl="0" eaLnBrk="1" fontAlgn="auto" latinLnBrk="0" hangingPunct="1">
              <a:lnSpc>
                <a:spcPct val="100000"/>
              </a:lnSpc>
              <a:spcBef>
                <a:spcPts val="450"/>
              </a:spcBef>
              <a:spcAft>
                <a:spcPts val="45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c. RNA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Protein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DNA</a:t>
            </a:r>
          </a:p>
          <a:p>
            <a:pPr marL="0" marR="0" lvl="0" indent="0" algn="l" defTabSz="457200" rtl="0" eaLnBrk="1" fontAlgn="auto" latinLnBrk="0" hangingPunct="1">
              <a:lnSpc>
                <a:spcPct val="100000"/>
              </a:lnSpc>
              <a:spcBef>
                <a:spcPts val="450"/>
              </a:spcBef>
              <a:spcAft>
                <a:spcPts val="45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d. Protein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DNA</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sym typeface="Wingdings" panose="05000000000000000000" pitchFamily="2" charset="2"/>
              </a:rPr>
              <a:t>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 RNA</a:t>
            </a:r>
            <a:endParaRPr kumimoji="0" lang="en-GB" sz="15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7B31B18A-F046-477F-8216-1B7B92CABADE}"/>
              </a:ext>
            </a:extLst>
          </p:cNvPr>
          <p:cNvSpPr/>
          <p:nvPr/>
        </p:nvSpPr>
        <p:spPr>
          <a:xfrm>
            <a:off x="1169221" y="1157714"/>
            <a:ext cx="1107996"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Activity 1</a:t>
            </a:r>
            <a:endParaRPr kumimoji="0" lang="en-GB"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5" name="Rectangle: Rounded Corners 4">
            <a:extLst>
              <a:ext uri="{FF2B5EF4-FFF2-40B4-BE49-F238E27FC236}">
                <a16:creationId xmlns:a16="http://schemas.microsoft.com/office/drawing/2014/main" id="{E958FC8A-8458-4157-B439-4549B7EA2D9E}"/>
              </a:ext>
            </a:extLst>
          </p:cNvPr>
          <p:cNvSpPr/>
          <p:nvPr/>
        </p:nvSpPr>
        <p:spPr>
          <a:xfrm>
            <a:off x="1223628" y="2195035"/>
            <a:ext cx="2322258" cy="264575"/>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F21D6AA9-6FD5-47F9-A327-C58DF947862A}"/>
              </a:ext>
            </a:extLst>
          </p:cNvPr>
          <p:cNvSpPr/>
          <p:nvPr/>
        </p:nvSpPr>
        <p:spPr>
          <a:xfrm>
            <a:off x="1223628" y="3740022"/>
            <a:ext cx="4320480" cy="1015663"/>
          </a:xfrm>
          <a:prstGeom prst="rect">
            <a:avLst/>
          </a:prstGeom>
        </p:spPr>
        <p:txBody>
          <a:bodyPr wrap="square">
            <a:spAutoFit/>
          </a:bodyPr>
          <a:lstStyle/>
          <a:p>
            <a:pPr marL="0" marR="0" lvl="0" indent="0" algn="l" defTabSz="457200" rtl="0" eaLnBrk="1" fontAlgn="auto" latinLnBrk="0" hangingPunct="1">
              <a:lnSpc>
                <a:spcPct val="100000"/>
              </a:lnSpc>
              <a:spcBef>
                <a:spcPts val="900"/>
              </a:spcBef>
              <a:spcAft>
                <a:spcPts val="90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What is </a:t>
            </a:r>
            <a:r>
              <a:rPr kumimoji="0" lang="en-GB" sz="15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not</a:t>
            </a: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 difference between RNA and DNA?</a:t>
            </a:r>
          </a:p>
          <a:p>
            <a:pPr marL="0" marR="0" lvl="0" indent="0" algn="l" defTabSz="457200" rtl="0" eaLnBrk="1" fontAlgn="auto" latinLnBrk="0" hangingPunct="1">
              <a:lnSpc>
                <a:spcPct val="100000"/>
              </a:lnSpc>
              <a:spcBef>
                <a:spcPts val="900"/>
              </a:spcBef>
              <a:spcAft>
                <a:spcPts val="900"/>
              </a:spcAft>
              <a:buClrTx/>
              <a:buSzTx/>
              <a:buFontTx/>
              <a:buNone/>
              <a:tabLst/>
              <a:defRPr/>
            </a:pPr>
            <a:endPar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7" name="Rectangle 6">
            <a:extLst>
              <a:ext uri="{FF2B5EF4-FFF2-40B4-BE49-F238E27FC236}">
                <a16:creationId xmlns:a16="http://schemas.microsoft.com/office/drawing/2014/main" id="{51FF0E43-1B7D-4593-899D-C928DDE35CF7}"/>
              </a:ext>
            </a:extLst>
          </p:cNvPr>
          <p:cNvSpPr/>
          <p:nvPr/>
        </p:nvSpPr>
        <p:spPr>
          <a:xfrm>
            <a:off x="1223628" y="3351863"/>
            <a:ext cx="1107996" cy="3693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800" b="0" i="0" u="none" strike="noStrike" kern="1200" cap="none" spc="0" normalizeH="0" baseline="0" noProof="0">
                <a:ln>
                  <a:noFill/>
                </a:ln>
                <a:solidFill>
                  <a:srgbClr val="0070C0"/>
                </a:solidFill>
                <a:effectLst/>
                <a:uLnTx/>
                <a:uFillTx/>
                <a:latin typeface="Arial" panose="020B0604020202020204" pitchFamily="34" charset="0"/>
                <a:ea typeface="+mn-ea"/>
                <a:cs typeface="Arial" panose="020B0604020202020204" pitchFamily="34" charset="0"/>
              </a:rPr>
              <a:t>Activity 2</a:t>
            </a:r>
            <a:endParaRPr kumimoji="0" lang="en-GB" sz="18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8" name="Rectangle 7">
            <a:extLst>
              <a:ext uri="{FF2B5EF4-FFF2-40B4-BE49-F238E27FC236}">
                <a16:creationId xmlns:a16="http://schemas.microsoft.com/office/drawing/2014/main" id="{9D714F3A-328D-4297-806C-7A677AF01ADD}"/>
              </a:ext>
            </a:extLst>
          </p:cNvPr>
          <p:cNvSpPr/>
          <p:nvPr/>
        </p:nvSpPr>
        <p:spPr>
          <a:xfrm>
            <a:off x="1216840" y="4097256"/>
            <a:ext cx="6210546" cy="3231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 The DNA base pairs are: A-T whereas </a:t>
            </a: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the RNA </a:t>
            </a: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base pairs are </a:t>
            </a: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r>
              <a:rPr kumimoji="0" lang="en-GB" sz="1500" b="0" i="0" u="none" strike="noStrike" kern="1200" cap="none" spc="0" normalizeH="0" baseline="0" noProof="0" dirty="0">
                <a:ln>
                  <a:noFill/>
                </a:ln>
                <a:solidFill>
                  <a:prstClr val="black"/>
                </a:solidFill>
                <a:effectLst/>
                <a:uLnTx/>
                <a:uFillTx/>
                <a:latin typeface="Arial" panose="020B0604020202020204" pitchFamily="34" charset="0"/>
                <a:ea typeface="+mn-ea"/>
                <a:cs typeface="+mn-cs"/>
              </a:rPr>
              <a:t>A-U;</a:t>
            </a:r>
            <a:endParaRPr kumimoji="0" lang="en-GB"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2D00AE7F-BD88-4084-9ACF-1BD016FC0B36}"/>
              </a:ext>
            </a:extLst>
          </p:cNvPr>
          <p:cNvSpPr/>
          <p:nvPr/>
        </p:nvSpPr>
        <p:spPr>
          <a:xfrm>
            <a:off x="1216840" y="4448160"/>
            <a:ext cx="5512343" cy="3231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b. The sugar in DNA is deoxyribose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whereas</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in RNA is ribose; </a:t>
            </a:r>
            <a:endParaRPr kumimoji="0" lang="en-GB" sz="15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endParaRPr>
          </a:p>
        </p:txBody>
      </p:sp>
      <p:sp>
        <p:nvSpPr>
          <p:cNvPr id="10" name="Rectangle 9">
            <a:extLst>
              <a:ext uri="{FF2B5EF4-FFF2-40B4-BE49-F238E27FC236}">
                <a16:creationId xmlns:a16="http://schemas.microsoft.com/office/drawing/2014/main" id="{57EAD6B1-B2EA-4B07-A260-6F1AFCA7F674}"/>
              </a:ext>
            </a:extLst>
          </p:cNvPr>
          <p:cNvSpPr/>
          <p:nvPr/>
        </p:nvSpPr>
        <p:spPr>
          <a:xfrm>
            <a:off x="1216839" y="4817458"/>
            <a:ext cx="5812360" cy="3231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c. DNA consists of two strands </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mn-cs"/>
              </a:rPr>
              <a:t>whereas</a:t>
            </a: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 RNA only has one strand</a:t>
            </a:r>
            <a:r>
              <a:rPr kumimoji="0" lang="en-GB" sz="15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p:txBody>
      </p:sp>
      <p:sp>
        <p:nvSpPr>
          <p:cNvPr id="11" name="Rectangle 10">
            <a:extLst>
              <a:ext uri="{FF2B5EF4-FFF2-40B4-BE49-F238E27FC236}">
                <a16:creationId xmlns:a16="http://schemas.microsoft.com/office/drawing/2014/main" id="{AC210433-4435-46E9-B0B7-D1044F1DEA61}"/>
              </a:ext>
            </a:extLst>
          </p:cNvPr>
          <p:cNvSpPr/>
          <p:nvPr/>
        </p:nvSpPr>
        <p:spPr>
          <a:xfrm>
            <a:off x="1216839" y="5237578"/>
            <a:ext cx="3922420" cy="323165"/>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GB" sz="1500" b="0"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d. DNA is an acid whereas RNA in an alkali</a:t>
            </a:r>
            <a:r>
              <a:rPr kumimoji="0" lang="en-GB" sz="1500" b="1" i="0" u="none" strike="noStrike" kern="1200" cap="none" spc="0" normalizeH="0" baseline="0" noProof="0">
                <a:ln>
                  <a:noFill/>
                </a:ln>
                <a:solidFill>
                  <a:prstClr val="black"/>
                </a:solidFill>
                <a:effectLst/>
                <a:uLnTx/>
                <a:uFillTx/>
                <a:latin typeface="Arial" panose="020B0604020202020204" pitchFamily="34" charset="0"/>
                <a:ea typeface="+mn-ea"/>
                <a:cs typeface="Arial" panose="020B0604020202020204" pitchFamily="34" charset="0"/>
              </a:rPr>
              <a:t>;</a:t>
            </a:r>
          </a:p>
        </p:txBody>
      </p:sp>
      <p:sp>
        <p:nvSpPr>
          <p:cNvPr id="12" name="Rectangle: Rounded Corners 11">
            <a:extLst>
              <a:ext uri="{FF2B5EF4-FFF2-40B4-BE49-F238E27FC236}">
                <a16:creationId xmlns:a16="http://schemas.microsoft.com/office/drawing/2014/main" id="{D8553433-9037-46B7-A828-085B4A0F4356}"/>
              </a:ext>
            </a:extLst>
          </p:cNvPr>
          <p:cNvSpPr/>
          <p:nvPr/>
        </p:nvSpPr>
        <p:spPr>
          <a:xfrm>
            <a:off x="1196592" y="5251709"/>
            <a:ext cx="4023480" cy="346248"/>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GB" sz="135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Title 1">
            <a:extLst>
              <a:ext uri="{FF2B5EF4-FFF2-40B4-BE49-F238E27FC236}">
                <a16:creationId xmlns:a16="http://schemas.microsoft.com/office/drawing/2014/main" id="{BC65CDC6-138A-4060-97B7-67C0BDF23BED}"/>
              </a:ext>
            </a:extLst>
          </p:cNvPr>
          <p:cNvSpPr txBox="1">
            <a:spLocks/>
          </p:cNvSpPr>
          <p:nvPr/>
        </p:nvSpPr>
        <p:spPr>
          <a:xfrm>
            <a:off x="2125169" y="373083"/>
            <a:ext cx="4904030" cy="42660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GB" sz="3200" b="0" i="0" u="none" strike="noStrike" kern="1200" cap="none" spc="0" normalizeH="0" baseline="0" noProof="0" dirty="0">
                <a:ln>
                  <a:noFill/>
                </a:ln>
                <a:solidFill>
                  <a:srgbClr val="FF0000"/>
                </a:solidFill>
                <a:effectLst/>
                <a:uLnTx/>
                <a:uFillTx/>
                <a:latin typeface="Arial" panose="020B0604020202020204" pitchFamily="34" charset="0"/>
                <a:ea typeface="+mj-ea"/>
                <a:cs typeface="Arial" panose="020B0604020202020204" pitchFamily="34" charset="0"/>
              </a:rPr>
              <a:t>Transcription and RNA</a:t>
            </a:r>
          </a:p>
        </p:txBody>
      </p:sp>
    </p:spTree>
    <p:extLst>
      <p:ext uri="{BB962C8B-B14F-4D97-AF65-F5344CB8AC3E}">
        <p14:creationId xmlns:p14="http://schemas.microsoft.com/office/powerpoint/2010/main" val="1403761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of transcription</a:t>
            </a:r>
          </a:p>
        </p:txBody>
      </p:sp>
      <p:sp>
        <p:nvSpPr>
          <p:cNvPr id="6" name="Rectangle 5"/>
          <p:cNvSpPr/>
          <p:nvPr/>
        </p:nvSpPr>
        <p:spPr>
          <a:xfrm>
            <a:off x="373856" y="1094244"/>
            <a:ext cx="8229600" cy="5262979"/>
          </a:xfrm>
          <a:prstGeom prst="rect">
            <a:avLst/>
          </a:prstGeom>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Initiation</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Promoter is a piece of DNA upstream that indicates where the RNA polymerase should bind and start</a:t>
            </a: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Elongation</a:t>
            </a:r>
          </a:p>
          <a:p>
            <a:pPr marL="742950" marR="0" lvl="1"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RNA polymerase adds complimentary nucleotides (A, U, C, G) to make the mRNA</a:t>
            </a: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Termination</a:t>
            </a:r>
          </a:p>
          <a:p>
            <a:pPr marL="914400" marR="0" lvl="2"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prstClr val="black"/>
              </a:solidFill>
              <a:effectLst/>
              <a:uLnTx/>
              <a:uFillTx/>
              <a:latin typeface="Arial"/>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Note: Since there is no nuclear membrane in prokaryotes, there is no separation of the transcription and translation process.  </a:t>
            </a:r>
          </a:p>
          <a:p>
            <a:pPr marL="285750" marR="0" lvl="0" indent="-285750" algn="l" defTabSz="914400" rtl="0" eaLnBrk="1" fontAlgn="auto" latinLnBrk="0" hangingPunct="1">
              <a:lnSpc>
                <a:spcPct val="100000"/>
              </a:lnSpc>
              <a:spcBef>
                <a:spcPts val="0"/>
              </a:spcBef>
              <a:spcAft>
                <a:spcPts val="0"/>
              </a:spcAft>
              <a:buClrTx/>
              <a:buSzTx/>
              <a:buFont typeface="Arial" charset="0"/>
              <a:buChar char="•"/>
              <a:tabLst/>
              <a:defRPr/>
            </a:pPr>
            <a:r>
              <a:rPr kumimoji="0" lang="en-US" sz="2400" b="0" i="0" u="none" strike="noStrike" kern="1200" cap="none" spc="0" normalizeH="0" baseline="0" noProof="0" dirty="0">
                <a:ln>
                  <a:noFill/>
                </a:ln>
                <a:solidFill>
                  <a:prstClr val="black"/>
                </a:solidFill>
                <a:effectLst/>
                <a:uLnTx/>
                <a:uFillTx/>
                <a:latin typeface="Arial"/>
                <a:ea typeface="+mn-ea"/>
                <a:cs typeface="+mn-cs"/>
              </a:rPr>
              <a:t>A ribosome will “grab onto” the growing mRNA to start translation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Initiation</a:t>
            </a:r>
          </a:p>
        </p:txBody>
      </p:sp>
      <p:pic>
        <p:nvPicPr>
          <p:cNvPr id="2" name="Picture Placeholder 1" descr="Figure_15_03_01.jp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451" r="-1451"/>
          <a:stretch>
            <a:fillRect/>
          </a:stretch>
        </p:blipFill>
        <p:spPr/>
      </p:pic>
      <p:sp>
        <p:nvSpPr>
          <p:cNvPr id="7" name="Text Placeholder 6"/>
          <p:cNvSpPr>
            <a:spLocks noGrp="1"/>
          </p:cNvSpPr>
          <p:nvPr>
            <p:ph type="body" sz="quarter" idx="14"/>
          </p:nvPr>
        </p:nvSpPr>
        <p:spPr/>
        <p:txBody>
          <a:bodyPr>
            <a:normAutofit/>
          </a:bodyPr>
          <a:lstStyle/>
          <a:p>
            <a:r>
              <a:rPr lang="en-US" sz="1600" dirty="0"/>
              <a:t>The </a:t>
            </a:r>
            <a:r>
              <a:rPr lang="en-US" sz="1600" i="1" dirty="0" err="1"/>
              <a:t>σ</a:t>
            </a:r>
            <a:r>
              <a:rPr lang="en-US" sz="1600" dirty="0"/>
              <a:t> subunit of prokaryotic RNA polymerase recognizes consensus sequences found in the promoter region upstream of the transcription start sight. The </a:t>
            </a:r>
            <a:r>
              <a:rPr lang="en-US" sz="1600" i="1" dirty="0" err="1"/>
              <a:t>σ</a:t>
            </a:r>
            <a:r>
              <a:rPr lang="en-US" sz="1600" dirty="0"/>
              <a:t> subunit dissociates from the polymerase after transcription has been initiated.</a:t>
            </a:r>
          </a:p>
        </p:txBody>
      </p:sp>
    </p:spTree>
    <p:extLst>
      <p:ext uri="{BB962C8B-B14F-4D97-AF65-F5344CB8AC3E}">
        <p14:creationId xmlns:p14="http://schemas.microsoft.com/office/powerpoint/2010/main" val="38779185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8AAD5-CFB1-4322-8940-7246E58F4978}"/>
              </a:ext>
            </a:extLst>
          </p:cNvPr>
          <p:cNvSpPr>
            <a:spLocks noGrp="1"/>
          </p:cNvSpPr>
          <p:nvPr>
            <p:ph type="title"/>
          </p:nvPr>
        </p:nvSpPr>
        <p:spPr>
          <a:xfrm>
            <a:off x="628650" y="262257"/>
            <a:ext cx="7886700" cy="617854"/>
          </a:xfrm>
        </p:spPr>
        <p:txBody>
          <a:bodyPr/>
          <a:lstStyle/>
          <a:p>
            <a:pPr algn="ctr"/>
            <a:r>
              <a:rPr kumimoji="0" lang="en-US" sz="2400" b="0" i="0" u="none" strike="noStrike" kern="1200" cap="all" spc="-60" normalizeH="0" baseline="0" noProof="0" dirty="0">
                <a:ln>
                  <a:noFill/>
                </a:ln>
                <a:solidFill>
                  <a:srgbClr val="6CB255"/>
                </a:solidFill>
                <a:effectLst/>
                <a:uLnTx/>
                <a:uFillTx/>
                <a:latin typeface="Arial Black"/>
                <a:ea typeface="+mj-ea"/>
                <a:cs typeface="+mj-cs"/>
              </a:rPr>
              <a:t>The first part of Transcription</a:t>
            </a:r>
            <a:endParaRPr lang="en-GB" dirty="0"/>
          </a:p>
        </p:txBody>
      </p:sp>
      <p:pic>
        <p:nvPicPr>
          <p:cNvPr id="4" name="Online Media 3" title="Transcription - Central Dogma Part 1">
            <a:hlinkClick r:id="" action="ppaction://media"/>
            <a:extLst>
              <a:ext uri="{FF2B5EF4-FFF2-40B4-BE49-F238E27FC236}">
                <a16:creationId xmlns:a16="http://schemas.microsoft.com/office/drawing/2014/main" id="{D24362C0-9CC1-44E3-B06B-9CB02801CB60}"/>
              </a:ext>
            </a:extLst>
          </p:cNvPr>
          <p:cNvPicPr>
            <a:picLocks noGrp="1" noRot="1" noChangeAspect="1"/>
          </p:cNvPicPr>
          <p:nvPr>
            <p:ph idx="1"/>
            <a:videoFile r:link="rId1"/>
          </p:nvPr>
        </p:nvPicPr>
        <p:blipFill>
          <a:blip r:embed="rId3"/>
          <a:stretch>
            <a:fillRect/>
          </a:stretch>
        </p:blipFill>
        <p:spPr>
          <a:xfrm>
            <a:off x="374975" y="1337310"/>
            <a:ext cx="8528995" cy="4819208"/>
          </a:xfrm>
          <a:prstGeom prst="rect">
            <a:avLst/>
          </a:prstGeom>
        </p:spPr>
      </p:pic>
    </p:spTree>
    <p:extLst>
      <p:ext uri="{BB962C8B-B14F-4D97-AF65-F5344CB8AC3E}">
        <p14:creationId xmlns:p14="http://schemas.microsoft.com/office/powerpoint/2010/main" val="2674910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457200" y="0"/>
            <a:ext cx="8062912" cy="659535"/>
          </a:xfrm>
        </p:spPr>
        <p:txBody>
          <a:bodyPr/>
          <a:lstStyle/>
          <a:p>
            <a:r>
              <a:rPr lang="en-US" dirty="0"/>
              <a:t>Elongation</a:t>
            </a:r>
          </a:p>
        </p:txBody>
      </p:sp>
      <p:pic>
        <p:nvPicPr>
          <p:cNvPr id="2" name="Picture Placeholder 1" descr="Figure_15_03_02.pn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4022" b="-4022"/>
          <a:stretch>
            <a:fillRect/>
          </a:stretch>
        </p:blipFill>
        <p:spPr>
          <a:xfrm>
            <a:off x="457200" y="947058"/>
            <a:ext cx="8165886" cy="3544771"/>
          </a:xfrm>
        </p:spPr>
      </p:pic>
      <p:sp>
        <p:nvSpPr>
          <p:cNvPr id="7" name="Text Placeholder 6"/>
          <p:cNvSpPr>
            <a:spLocks noGrp="1"/>
          </p:cNvSpPr>
          <p:nvPr>
            <p:ph type="body" sz="quarter" idx="14"/>
          </p:nvPr>
        </p:nvSpPr>
        <p:spPr/>
        <p:txBody>
          <a:bodyPr>
            <a:noAutofit/>
          </a:bodyPr>
          <a:lstStyle/>
          <a:p>
            <a:pPr marL="285750" indent="-285750">
              <a:buFont typeface="Arial" charset="0"/>
              <a:buChar char="•"/>
            </a:pPr>
            <a:r>
              <a:rPr lang="en-US" sz="1800" dirty="0"/>
              <a:t>During elongation, the prokaryotic RNA polymerase tracks along the DNA template.</a:t>
            </a:r>
          </a:p>
          <a:p>
            <a:pPr marL="285750" indent="-285750">
              <a:buFont typeface="Arial" charset="0"/>
              <a:buChar char="•"/>
            </a:pPr>
            <a:r>
              <a:rPr lang="en-US" sz="1800" dirty="0"/>
              <a:t>Then it synthesizes mRNA in the 5' to 3' direction, and unwinds and rewinds the DNA as it is read. </a:t>
            </a:r>
          </a:p>
          <a:p>
            <a:pPr marL="285750" indent="-285750">
              <a:buFont typeface="Arial" charset="0"/>
              <a:buChar char="•"/>
            </a:pPr>
            <a:r>
              <a:rPr lang="en-US" sz="1800" dirty="0"/>
              <a:t>Elongation occurs at a rate of 40 nucleotides per second.</a:t>
            </a:r>
          </a:p>
        </p:txBody>
      </p:sp>
    </p:spTree>
    <p:extLst>
      <p:ext uri="{BB962C8B-B14F-4D97-AF65-F5344CB8AC3E}">
        <p14:creationId xmlns:p14="http://schemas.microsoft.com/office/powerpoint/2010/main" val="7201888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termination</a:t>
            </a:r>
          </a:p>
        </p:txBody>
      </p:sp>
      <p:sp>
        <p:nvSpPr>
          <p:cNvPr id="4" name="Text Placeholder 3"/>
          <p:cNvSpPr>
            <a:spLocks noGrp="1"/>
          </p:cNvSpPr>
          <p:nvPr>
            <p:ph type="body" sz="quarter" idx="14"/>
          </p:nvPr>
        </p:nvSpPr>
        <p:spPr>
          <a:xfrm>
            <a:off x="457200" y="1238865"/>
            <a:ext cx="8062912" cy="4771499"/>
          </a:xfrm>
        </p:spPr>
        <p:txBody>
          <a:bodyPr>
            <a:normAutofit/>
          </a:bodyPr>
          <a:lstStyle/>
          <a:p>
            <a:pPr marL="236538" indent="-236538">
              <a:buFont typeface="Arial" pitchFamily="34" charset="0"/>
              <a:buChar char="•"/>
            </a:pPr>
            <a:r>
              <a:rPr lang="en-US" sz="2800" dirty="0"/>
              <a:t>Liberates the mRNA strand</a:t>
            </a:r>
          </a:p>
          <a:p>
            <a:pPr marL="236538" indent="-236538">
              <a:buFont typeface="Arial" pitchFamily="34" charset="0"/>
              <a:buChar char="•"/>
            </a:pPr>
            <a:r>
              <a:rPr lang="en-US" sz="2800" dirty="0"/>
              <a:t>Occurs by:</a:t>
            </a:r>
          </a:p>
          <a:p>
            <a:pPr marL="968058" lvl="1" indent="-236538">
              <a:buFont typeface="Arial" pitchFamily="34" charset="0"/>
              <a:buChar char="•"/>
            </a:pPr>
            <a:r>
              <a:rPr lang="en-US" sz="2400" dirty="0"/>
              <a:t>Rho protein interaction</a:t>
            </a:r>
          </a:p>
          <a:p>
            <a:pPr marL="968058" lvl="1" indent="-236538">
              <a:buFont typeface="Arial" pitchFamily="34" charset="0"/>
              <a:buChar char="•"/>
            </a:pPr>
            <a:r>
              <a:rPr lang="en-US" sz="2400" dirty="0"/>
              <a:t>Formation of an mRNA hairpin</a:t>
            </a:r>
          </a:p>
          <a:p>
            <a:pPr marL="236538" indent="-236538">
              <a:buFont typeface="Arial" pitchFamily="34" charset="0"/>
              <a:buChar char="•"/>
            </a:pPr>
            <a:r>
              <a:rPr lang="en-US" sz="2800" dirty="0"/>
              <a:t>Two types of termination signals:</a:t>
            </a:r>
          </a:p>
          <a:p>
            <a:pPr marL="968058" lvl="1" indent="-236538">
              <a:buFont typeface="Arial" pitchFamily="34" charset="0"/>
              <a:buChar char="•"/>
            </a:pPr>
            <a:r>
              <a:rPr lang="en-US" sz="2400" dirty="0"/>
              <a:t>Rho-dependent (controlled by the Rho protein)</a:t>
            </a:r>
          </a:p>
          <a:p>
            <a:pPr marL="968058" lvl="1" indent="-236538">
              <a:buFont typeface="Arial" pitchFamily="34" charset="0"/>
              <a:buChar char="•"/>
            </a:pPr>
            <a:r>
              <a:rPr lang="en-US" sz="2400" dirty="0"/>
              <a:t>Rho-independent (controlled by sequences in the DNA strand)</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Placeholder 1" descr="Figure_15_03_03.jp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2473" b="-12473"/>
          <a:stretch>
            <a:fillRect/>
          </a:stretch>
        </p:blipFill>
        <p:spPr/>
      </p:pic>
      <p:sp>
        <p:nvSpPr>
          <p:cNvPr id="7" name="Text Placeholder 6"/>
          <p:cNvSpPr>
            <a:spLocks noGrp="1"/>
          </p:cNvSpPr>
          <p:nvPr>
            <p:ph type="body" sz="quarter" idx="14"/>
          </p:nvPr>
        </p:nvSpPr>
        <p:spPr/>
        <p:txBody>
          <a:bodyPr>
            <a:normAutofit/>
          </a:bodyPr>
          <a:lstStyle/>
          <a:p>
            <a:r>
              <a:rPr lang="en-US" sz="1600" dirty="0"/>
              <a:t>Multiple polymerases can transcribe a single bacterial gene while numerous ribosomes concurrently translate the mRNA transcripts into polypeptides. In this way, a specific protein can rapidly reach a high concentration in the bacterial cell.</a:t>
            </a:r>
          </a:p>
        </p:txBody>
      </p:sp>
    </p:spTree>
    <p:extLst>
      <p:ext uri="{BB962C8B-B14F-4D97-AF65-F5344CB8AC3E}">
        <p14:creationId xmlns:p14="http://schemas.microsoft.com/office/powerpoint/2010/main" val="18030301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Transcription</a:t>
            </a:r>
          </a:p>
        </p:txBody>
      </p:sp>
      <p:pic>
        <p:nvPicPr>
          <p:cNvPr id="5" name="Picture Placeholder 4">
            <a:hlinkClick r:id="rId2"/>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tretch>
            <a:fillRect/>
          </a:stretch>
        </p:blipFill>
        <p:spPr>
          <a:xfrm>
            <a:off x="1113714" y="1057011"/>
            <a:ext cx="6749881" cy="4251306"/>
          </a:xfrm>
        </p:spPr>
      </p:pic>
      <p:sp>
        <p:nvSpPr>
          <p:cNvPr id="4" name="Text Placeholder 3"/>
          <p:cNvSpPr>
            <a:spLocks noGrp="1"/>
          </p:cNvSpPr>
          <p:nvPr>
            <p:ph type="body" sz="quarter" idx="14"/>
          </p:nvPr>
        </p:nvSpPr>
        <p:spPr>
          <a:xfrm>
            <a:off x="457199" y="5464468"/>
            <a:ext cx="8062912" cy="1166382"/>
          </a:xfrm>
        </p:spPr>
        <p:txBody>
          <a:bodyPr/>
          <a:lstStyle/>
          <a:p>
            <a:r>
              <a:rPr lang="en-US" dirty="0">
                <a:hlinkClick r:id="rId2"/>
              </a:rPr>
              <a:t>https://www.youtube.com/watch?v=WsofH466lqk</a:t>
            </a:r>
            <a:endParaRPr lang="en-US" dirty="0"/>
          </a:p>
          <a:p>
            <a:endParaRPr lang="en-US" dirty="0"/>
          </a:p>
        </p:txBody>
      </p:sp>
    </p:spTree>
    <p:extLst>
      <p:ext uri="{BB962C8B-B14F-4D97-AF65-F5344CB8AC3E}">
        <p14:creationId xmlns:p14="http://schemas.microsoft.com/office/powerpoint/2010/main" val="8920131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dirty="0"/>
              <a:t>Termination</a:t>
            </a:r>
            <a:endParaRPr lang="en-US" sz="2400" dirty="0">
              <a:solidFill>
                <a:srgbClr val="6CB255"/>
              </a:solidFill>
            </a:endParaRPr>
          </a:p>
        </p:txBody>
      </p:sp>
      <p:sp>
        <p:nvSpPr>
          <p:cNvPr id="14" name="Text Placeholder 13"/>
          <p:cNvSpPr>
            <a:spLocks noGrp="1"/>
          </p:cNvSpPr>
          <p:nvPr>
            <p:ph type="body" sz="quarter" idx="14"/>
          </p:nvPr>
        </p:nvSpPr>
        <p:spPr>
          <a:xfrm>
            <a:off x="457200" y="1107617"/>
            <a:ext cx="8062913" cy="5256973"/>
          </a:xfrm>
        </p:spPr>
        <p:txBody>
          <a:bodyPr>
            <a:noAutofit/>
          </a:bodyPr>
          <a:lstStyle/>
          <a:p>
            <a:pPr marL="236538" indent="-236538">
              <a:buFont typeface="Arial" pitchFamily="34" charset="0"/>
              <a:buChar char="•"/>
            </a:pPr>
            <a:r>
              <a:rPr lang="en-US" sz="2800" dirty="0">
                <a:solidFill>
                  <a:srgbClr val="000000"/>
                </a:solidFill>
              </a:rPr>
              <a:t>RNA polymerase I requires a termination protein that recognizes a specific 18 nucleotide sequence.</a:t>
            </a:r>
          </a:p>
          <a:p>
            <a:pPr marL="236538" indent="-236538">
              <a:buFont typeface="Arial" pitchFamily="34" charset="0"/>
              <a:buChar char="•"/>
            </a:pPr>
            <a:r>
              <a:rPr lang="en-US" sz="2800" dirty="0">
                <a:solidFill>
                  <a:srgbClr val="000000"/>
                </a:solidFill>
              </a:rPr>
              <a:t>RNA polymerase III terminates transcription via hairpin formation.</a:t>
            </a:r>
          </a:p>
          <a:p>
            <a:pPr marL="236538" indent="-236538">
              <a:buFont typeface="Arial" pitchFamily="34" charset="0"/>
              <a:buChar char="•"/>
            </a:pPr>
            <a:r>
              <a:rPr lang="en-US" sz="2800" dirty="0">
                <a:solidFill>
                  <a:srgbClr val="000000"/>
                </a:solidFill>
              </a:rPr>
              <a:t>RNA polymerase II transcribes 1,000 – 2,000 nucleotides excess of the gene template which are removed during mRNA processing.</a:t>
            </a:r>
          </a:p>
          <a:p>
            <a:pPr marL="236538" indent="-236538">
              <a:buFont typeface="Arial" pitchFamily="34" charset="0"/>
              <a:buChar char="•"/>
            </a:pPr>
            <a:endParaRPr lang="en-US" dirty="0">
              <a:solidFill>
                <a:srgbClr val="000000"/>
              </a:solidFill>
            </a:endParaRPr>
          </a:p>
        </p:txBody>
      </p:sp>
    </p:spTree>
    <p:extLst>
      <p:ext uri="{BB962C8B-B14F-4D97-AF65-F5344CB8AC3E}">
        <p14:creationId xmlns:p14="http://schemas.microsoft.com/office/powerpoint/2010/main" val="31920675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Types of eukaryotic polymerases</a:t>
            </a:r>
          </a:p>
        </p:txBody>
      </p:sp>
      <p:sp>
        <p:nvSpPr>
          <p:cNvPr id="4" name="Text Placeholder 3"/>
          <p:cNvSpPr>
            <a:spLocks noGrp="1"/>
          </p:cNvSpPr>
          <p:nvPr>
            <p:ph type="body" sz="quarter" idx="14"/>
          </p:nvPr>
        </p:nvSpPr>
        <p:spPr>
          <a:xfrm>
            <a:off x="457200" y="1253613"/>
            <a:ext cx="8062912" cy="4756751"/>
          </a:xfrm>
        </p:spPr>
        <p:txBody>
          <a:bodyPr>
            <a:normAutofit/>
          </a:bodyPr>
          <a:lstStyle/>
          <a:p>
            <a:pPr marL="236538" indent="-236538">
              <a:buFont typeface="Arial" pitchFamily="34" charset="0"/>
              <a:buChar char="•"/>
            </a:pPr>
            <a:r>
              <a:rPr lang="en-US" sz="2800" dirty="0"/>
              <a:t>RNA polymerase I</a:t>
            </a:r>
          </a:p>
          <a:p>
            <a:pPr marL="968058" lvl="1" indent="-236538">
              <a:buFont typeface="Arial" pitchFamily="34" charset="0"/>
              <a:buChar char="•"/>
            </a:pPr>
            <a:r>
              <a:rPr lang="en-US" sz="2800" dirty="0"/>
              <a:t>Transcribes </a:t>
            </a:r>
            <a:r>
              <a:rPr lang="en-US" sz="2800" dirty="0" err="1"/>
              <a:t>rRNA</a:t>
            </a:r>
            <a:r>
              <a:rPr lang="en-US" sz="2800" dirty="0"/>
              <a:t> genes</a:t>
            </a:r>
          </a:p>
          <a:p>
            <a:pPr marL="236538" indent="-236538">
              <a:buFont typeface="Arial" pitchFamily="34" charset="0"/>
              <a:buChar char="•"/>
            </a:pPr>
            <a:r>
              <a:rPr lang="en-US" sz="2800" dirty="0"/>
              <a:t>RNA polymerase II</a:t>
            </a:r>
          </a:p>
          <a:p>
            <a:pPr marL="968058" lvl="1" indent="-236538">
              <a:buFont typeface="Arial" pitchFamily="34" charset="0"/>
              <a:buChar char="•"/>
            </a:pPr>
            <a:r>
              <a:rPr lang="en-US" sz="2800" dirty="0"/>
              <a:t>Transcribes protein-coding genes</a:t>
            </a:r>
          </a:p>
          <a:p>
            <a:pPr marL="236538" indent="-236538">
              <a:buFont typeface="Arial" pitchFamily="34" charset="0"/>
              <a:buChar char="•"/>
            </a:pPr>
            <a:r>
              <a:rPr lang="en-US" sz="2800" dirty="0"/>
              <a:t>RNA polymerase III</a:t>
            </a:r>
          </a:p>
          <a:p>
            <a:pPr marL="968058" lvl="1" indent="-236538">
              <a:buFont typeface="Arial" pitchFamily="34" charset="0"/>
              <a:buChar char="•"/>
            </a:pPr>
            <a:r>
              <a:rPr lang="en-US" sz="2800" dirty="0"/>
              <a:t>Transcribes </a:t>
            </a:r>
            <a:r>
              <a:rPr lang="en-US" sz="2800" dirty="0" err="1"/>
              <a:t>rRNA</a:t>
            </a:r>
            <a:r>
              <a:rPr lang="en-US" sz="2800" dirty="0"/>
              <a:t>, </a:t>
            </a:r>
            <a:r>
              <a:rPr lang="en-US" sz="2800" dirty="0" err="1"/>
              <a:t>tRNA</a:t>
            </a:r>
            <a:r>
              <a:rPr lang="en-US" sz="2800" dirty="0"/>
              <a:t>, and small nuclear RNA genes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sz="2400" dirty="0">
                <a:solidFill>
                  <a:srgbClr val="6CB255"/>
                </a:solidFill>
              </a:rPr>
              <a:t>Initiation</a:t>
            </a:r>
          </a:p>
        </p:txBody>
      </p:sp>
      <p:pic>
        <p:nvPicPr>
          <p:cNvPr id="2" name="Picture Placeholder 1" descr="Figure_15_04_01.jp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049" r="-1049"/>
          <a:stretch>
            <a:fillRect/>
          </a:stretch>
        </p:blipFill>
        <p:spPr>
          <a:xfrm>
            <a:off x="457200" y="1108075"/>
            <a:ext cx="4032250" cy="5256213"/>
          </a:xfrm>
        </p:spPr>
      </p:pic>
      <p:sp>
        <p:nvSpPr>
          <p:cNvPr id="14" name="Text Placeholder 13"/>
          <p:cNvSpPr>
            <a:spLocks noGrp="1"/>
          </p:cNvSpPr>
          <p:nvPr>
            <p:ph type="body" sz="quarter" idx="14"/>
          </p:nvPr>
        </p:nvSpPr>
        <p:spPr>
          <a:xfrm>
            <a:off x="5176157" y="1107617"/>
            <a:ext cx="3343956" cy="5256973"/>
          </a:xfrm>
        </p:spPr>
        <p:txBody>
          <a:bodyPr>
            <a:noAutofit/>
          </a:bodyPr>
          <a:lstStyle/>
          <a:p>
            <a:r>
              <a:rPr lang="en-US" sz="2400" dirty="0">
                <a:solidFill>
                  <a:srgbClr val="000000"/>
                </a:solidFill>
              </a:rPr>
              <a:t>Transcription factors recognize the promoter. </a:t>
            </a:r>
          </a:p>
          <a:p>
            <a:endParaRPr lang="en-US" sz="2400" dirty="0">
              <a:solidFill>
                <a:srgbClr val="000000"/>
              </a:solidFill>
            </a:endParaRPr>
          </a:p>
          <a:p>
            <a:r>
              <a:rPr lang="en-US" sz="2400" dirty="0">
                <a:solidFill>
                  <a:srgbClr val="000000"/>
                </a:solidFill>
              </a:rPr>
              <a:t>RNA polymerase II then binds and forms the </a:t>
            </a:r>
            <a:r>
              <a:rPr lang="fr-FR" sz="2400" dirty="0">
                <a:solidFill>
                  <a:srgbClr val="000000"/>
                </a:solidFill>
              </a:rPr>
              <a:t>transcription initiation </a:t>
            </a:r>
            <a:r>
              <a:rPr lang="fr-FR" sz="2400" dirty="0" err="1">
                <a:solidFill>
                  <a:srgbClr val="000000"/>
                </a:solidFill>
              </a:rPr>
              <a:t>complex</a:t>
            </a:r>
            <a:r>
              <a:rPr lang="fr-FR" sz="2400" dirty="0">
                <a:solidFill>
                  <a:srgbClr val="000000"/>
                </a:solidFill>
              </a:rPr>
              <a:t>.</a:t>
            </a:r>
            <a:endParaRPr lang="en-US" sz="2400" dirty="0">
              <a:solidFill>
                <a:srgbClr val="000000"/>
              </a:solidFill>
            </a:endParaRPr>
          </a:p>
        </p:txBody>
      </p:sp>
    </p:spTree>
    <p:extLst>
      <p:ext uri="{BB962C8B-B14F-4D97-AF65-F5344CB8AC3E}">
        <p14:creationId xmlns:p14="http://schemas.microsoft.com/office/powerpoint/2010/main" val="8412856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dirty="0"/>
              <a:t>elongation</a:t>
            </a:r>
            <a:endParaRPr lang="en-US" sz="2400" dirty="0">
              <a:solidFill>
                <a:srgbClr val="6CB255"/>
              </a:solidFill>
            </a:endParaRPr>
          </a:p>
        </p:txBody>
      </p:sp>
      <p:sp>
        <p:nvSpPr>
          <p:cNvPr id="14" name="Text Placeholder 13"/>
          <p:cNvSpPr>
            <a:spLocks noGrp="1"/>
          </p:cNvSpPr>
          <p:nvPr>
            <p:ph type="body" sz="quarter" idx="14"/>
          </p:nvPr>
        </p:nvSpPr>
        <p:spPr>
          <a:xfrm>
            <a:off x="457200" y="1107617"/>
            <a:ext cx="8062913" cy="5256973"/>
          </a:xfrm>
        </p:spPr>
        <p:txBody>
          <a:bodyPr>
            <a:noAutofit/>
          </a:bodyPr>
          <a:lstStyle/>
          <a:p>
            <a:pPr marL="236538" indent="-236538">
              <a:buFont typeface="Arial" pitchFamily="34" charset="0"/>
              <a:buChar char="•"/>
            </a:pPr>
            <a:r>
              <a:rPr lang="en-US" dirty="0">
                <a:solidFill>
                  <a:srgbClr val="000000"/>
                </a:solidFill>
              </a:rPr>
              <a:t>mRNA is synthesized 5’ to 3’</a:t>
            </a:r>
          </a:p>
          <a:p>
            <a:pPr marL="236538" indent="-236538">
              <a:buFont typeface="Arial" pitchFamily="34" charset="0"/>
              <a:buChar char="•"/>
            </a:pPr>
            <a:r>
              <a:rPr lang="en-US" dirty="0">
                <a:solidFill>
                  <a:srgbClr val="000000"/>
                </a:solidFill>
              </a:rPr>
              <a:t>The FACT complex reassembles the </a:t>
            </a:r>
            <a:r>
              <a:rPr lang="en-US" dirty="0" err="1">
                <a:solidFill>
                  <a:srgbClr val="000000"/>
                </a:solidFill>
              </a:rPr>
              <a:t>nucleosomes</a:t>
            </a:r>
            <a:r>
              <a:rPr lang="en-US" dirty="0">
                <a:solidFill>
                  <a:srgbClr val="000000"/>
                </a:solidFill>
              </a:rPr>
              <a:t> as polymerase synthesizes the mRNA</a:t>
            </a:r>
          </a:p>
          <a:p>
            <a:pPr marL="236538" indent="-236538">
              <a:buFont typeface="Arial" pitchFamily="34" charset="0"/>
              <a:buChar char="•"/>
            </a:pPr>
            <a:endParaRPr lang="en-US" dirty="0">
              <a:solidFill>
                <a:srgbClr val="000000"/>
              </a:solidFill>
            </a:endParaRPr>
          </a:p>
        </p:txBody>
      </p:sp>
      <p:pic>
        <p:nvPicPr>
          <p:cNvPr id="36866" name="Picture 2" descr="http://figures.boundless.com/29907/full/Transcription%20with%20FACT.jpg"/>
          <p:cNvPicPr>
            <a:picLocks noChangeAspect="1" noChangeArrowheads="1"/>
          </p:cNvPicPr>
          <p:nvPr/>
        </p:nvPicPr>
        <p:blipFill>
          <a:blip r:embed="rId2" cstate="print"/>
          <a:srcRect/>
          <a:stretch>
            <a:fillRect/>
          </a:stretch>
        </p:blipFill>
        <p:spPr bwMode="auto">
          <a:xfrm>
            <a:off x="535830" y="2398740"/>
            <a:ext cx="8200103" cy="3467427"/>
          </a:xfrm>
          <a:prstGeom prst="rect">
            <a:avLst/>
          </a:prstGeom>
          <a:noFill/>
        </p:spPr>
      </p:pic>
    </p:spTree>
    <p:extLst>
      <p:ext uri="{BB962C8B-B14F-4D97-AF65-F5344CB8AC3E}">
        <p14:creationId xmlns:p14="http://schemas.microsoft.com/office/powerpoint/2010/main" val="131010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mRNA processing</a:t>
            </a:r>
          </a:p>
        </p:txBody>
      </p:sp>
      <p:sp>
        <p:nvSpPr>
          <p:cNvPr id="4" name="Text Placeholder 3"/>
          <p:cNvSpPr>
            <a:spLocks noGrp="1"/>
          </p:cNvSpPr>
          <p:nvPr>
            <p:ph type="body" sz="quarter" idx="14"/>
          </p:nvPr>
        </p:nvSpPr>
        <p:spPr>
          <a:xfrm>
            <a:off x="457200" y="1165123"/>
            <a:ext cx="8062912" cy="4845241"/>
          </a:xfrm>
        </p:spPr>
        <p:txBody>
          <a:bodyPr>
            <a:normAutofit/>
          </a:bodyPr>
          <a:lstStyle/>
          <a:p>
            <a:pPr marL="236538" indent="-236538">
              <a:buFont typeface="Arial" pitchFamily="34" charset="0"/>
              <a:buChar char="•"/>
            </a:pPr>
            <a:r>
              <a:rPr lang="en-US" sz="2800" dirty="0"/>
              <a:t>Addition of a 5' </a:t>
            </a:r>
            <a:r>
              <a:rPr lang="en-US" sz="2800" dirty="0" err="1"/>
              <a:t>methylguanosine</a:t>
            </a:r>
            <a:r>
              <a:rPr lang="en-US" sz="2800" dirty="0"/>
              <a:t> cap and a 3’ poly-A tail</a:t>
            </a:r>
          </a:p>
          <a:p>
            <a:pPr marL="236538" indent="-236538">
              <a:buFont typeface="Arial" pitchFamily="34" charset="0"/>
              <a:buChar char="•"/>
            </a:pPr>
            <a:r>
              <a:rPr lang="en-US" sz="2800" dirty="0"/>
              <a:t>Intron splicing – removal of the non-coding introns.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mRNA Processing</a:t>
            </a:r>
          </a:p>
        </p:txBody>
      </p:sp>
      <p:pic>
        <p:nvPicPr>
          <p:cNvPr id="2" name="Picture Placeholder 1" descr="Figure_15_05_03.pn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6064" r="-16064"/>
          <a:stretch>
            <a:fillRect/>
          </a:stretch>
        </p:blipFill>
        <p:spPr/>
      </p:pic>
      <p:sp>
        <p:nvSpPr>
          <p:cNvPr id="7" name="Text Placeholder 6"/>
          <p:cNvSpPr>
            <a:spLocks noGrp="1"/>
          </p:cNvSpPr>
          <p:nvPr>
            <p:ph type="body" sz="quarter" idx="14"/>
          </p:nvPr>
        </p:nvSpPr>
        <p:spPr/>
        <p:txBody>
          <a:bodyPr>
            <a:normAutofit/>
          </a:bodyPr>
          <a:lstStyle/>
          <a:p>
            <a:r>
              <a:rPr lang="en-US" sz="1600" dirty="0"/>
              <a:t>Eukaryotic mRNA contains introns that must be spliced out. A 5' cap and 3' poly-A tail are also added.</a:t>
            </a:r>
          </a:p>
        </p:txBody>
      </p:sp>
    </p:spTree>
    <p:extLst>
      <p:ext uri="{BB962C8B-B14F-4D97-AF65-F5344CB8AC3E}">
        <p14:creationId xmlns:p14="http://schemas.microsoft.com/office/powerpoint/2010/main" val="16545725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r"/>
            <a:r>
              <a:rPr lang="en-US" dirty="0"/>
              <a:t>Pre-mRNA Splicing</a:t>
            </a:r>
            <a:endParaRPr lang="en-US" sz="2400" dirty="0">
              <a:solidFill>
                <a:srgbClr val="6CB255"/>
              </a:solidFill>
            </a:endParaRPr>
          </a:p>
        </p:txBody>
      </p:sp>
      <p:pic>
        <p:nvPicPr>
          <p:cNvPr id="2" name="Picture Placeholder 1" descr="Figure_15_05_02.pn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6008" b="-6008"/>
          <a:stretch>
            <a:fillRect/>
          </a:stretch>
        </p:blipFill>
        <p:spPr>
          <a:xfrm>
            <a:off x="4489450" y="1108075"/>
            <a:ext cx="4030663" cy="5256213"/>
          </a:xfrm>
        </p:spPr>
      </p:pic>
      <p:sp>
        <p:nvSpPr>
          <p:cNvPr id="14" name="Text Placeholder 13"/>
          <p:cNvSpPr>
            <a:spLocks noGrp="1"/>
          </p:cNvSpPr>
          <p:nvPr>
            <p:ph type="body" sz="quarter" idx="14"/>
          </p:nvPr>
        </p:nvSpPr>
        <p:spPr>
          <a:xfrm>
            <a:off x="457200" y="1107617"/>
            <a:ext cx="3913188" cy="5256973"/>
          </a:xfrm>
        </p:spPr>
        <p:txBody>
          <a:bodyPr>
            <a:noAutofit/>
          </a:bodyPr>
          <a:lstStyle/>
          <a:p>
            <a:r>
              <a:rPr lang="en-US" dirty="0">
                <a:solidFill>
                  <a:srgbClr val="000000"/>
                </a:solidFill>
              </a:rPr>
              <a:t>Pre-mRNA splicing involves the precise removal of introns from the primary RNA transcript. </a:t>
            </a:r>
          </a:p>
          <a:p>
            <a:endParaRPr lang="en-US" dirty="0">
              <a:solidFill>
                <a:srgbClr val="000000"/>
              </a:solidFill>
            </a:endParaRPr>
          </a:p>
          <a:p>
            <a:r>
              <a:rPr lang="en-US" dirty="0">
                <a:solidFill>
                  <a:srgbClr val="000000"/>
                </a:solidFill>
              </a:rPr>
              <a:t>The splicing process is catalyzed by protein complexes called </a:t>
            </a:r>
            <a:r>
              <a:rPr lang="en-US" b="1" dirty="0" err="1">
                <a:solidFill>
                  <a:srgbClr val="000000"/>
                </a:solidFill>
              </a:rPr>
              <a:t>spliceosomes</a:t>
            </a:r>
            <a:r>
              <a:rPr lang="en-US" dirty="0">
                <a:solidFill>
                  <a:srgbClr val="000000"/>
                </a:solidFill>
              </a:rPr>
              <a:t> that are composed of proteins and RNA molecules called </a:t>
            </a:r>
            <a:r>
              <a:rPr lang="en-US" dirty="0" err="1">
                <a:solidFill>
                  <a:srgbClr val="000000"/>
                </a:solidFill>
              </a:rPr>
              <a:t>snRNAs</a:t>
            </a:r>
            <a:r>
              <a:rPr lang="en-US" dirty="0">
                <a:solidFill>
                  <a:srgbClr val="000000"/>
                </a:solidFill>
              </a:rPr>
              <a:t>. </a:t>
            </a:r>
          </a:p>
          <a:p>
            <a:endParaRPr lang="en-US" dirty="0">
              <a:solidFill>
                <a:srgbClr val="000000"/>
              </a:solidFill>
            </a:endParaRPr>
          </a:p>
          <a:p>
            <a:r>
              <a:rPr lang="en-US" dirty="0" err="1">
                <a:solidFill>
                  <a:srgbClr val="000000"/>
                </a:solidFill>
              </a:rPr>
              <a:t>Spliceosomes</a:t>
            </a:r>
            <a:r>
              <a:rPr lang="en-US" dirty="0">
                <a:solidFill>
                  <a:srgbClr val="000000"/>
                </a:solidFill>
              </a:rPr>
              <a:t> recognize sequences at the 5' and 3' end of the intron.</a:t>
            </a:r>
          </a:p>
        </p:txBody>
      </p:sp>
    </p:spTree>
    <p:extLst>
      <p:ext uri="{BB962C8B-B14F-4D97-AF65-F5344CB8AC3E}">
        <p14:creationId xmlns:p14="http://schemas.microsoft.com/office/powerpoint/2010/main" val="147257936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Rna</a:t>
            </a:r>
            <a:r>
              <a:rPr lang="en-US" dirty="0"/>
              <a:t> and </a:t>
            </a:r>
            <a:r>
              <a:rPr lang="en-US" dirty="0" err="1"/>
              <a:t>Trna</a:t>
            </a:r>
            <a:r>
              <a:rPr lang="en-US" dirty="0"/>
              <a:t> processing</a:t>
            </a:r>
          </a:p>
        </p:txBody>
      </p:sp>
      <p:sp>
        <p:nvSpPr>
          <p:cNvPr id="4" name="Text Placeholder 3"/>
          <p:cNvSpPr>
            <a:spLocks noGrp="1"/>
          </p:cNvSpPr>
          <p:nvPr>
            <p:ph type="body" sz="quarter" idx="14"/>
          </p:nvPr>
        </p:nvSpPr>
        <p:spPr>
          <a:xfrm>
            <a:off x="457200" y="1165123"/>
            <a:ext cx="8062912" cy="4845241"/>
          </a:xfrm>
        </p:spPr>
        <p:txBody>
          <a:bodyPr>
            <a:normAutofit/>
          </a:bodyPr>
          <a:lstStyle/>
          <a:p>
            <a:pPr marL="236538" indent="-236538">
              <a:buFont typeface="Arial" pitchFamily="34" charset="0"/>
              <a:buChar char="•"/>
            </a:pPr>
            <a:r>
              <a:rPr lang="en-US" sz="2800" dirty="0" err="1"/>
              <a:t>Intramolecular</a:t>
            </a:r>
            <a:r>
              <a:rPr lang="en-US" sz="2800" dirty="0"/>
              <a:t> cleavage</a:t>
            </a:r>
          </a:p>
          <a:p>
            <a:pPr marL="236538" indent="-236538">
              <a:buFont typeface="Arial" pitchFamily="34" charset="0"/>
              <a:buChar char="•"/>
            </a:pPr>
            <a:r>
              <a:rPr lang="en-US" sz="2800" dirty="0"/>
              <a:t>Splicing</a:t>
            </a:r>
          </a:p>
          <a:p>
            <a:pPr marL="236538" indent="-236538">
              <a:buFont typeface="Arial" pitchFamily="34" charset="0"/>
              <a:buChar char="•"/>
            </a:pPr>
            <a:r>
              <a:rPr lang="en-US" sz="2800" dirty="0" err="1"/>
              <a:t>Methylation</a:t>
            </a:r>
            <a:endParaRPr lang="en-US" sz="2800" dirty="0"/>
          </a:p>
          <a:p>
            <a:pPr marL="236538" indent="-236538">
              <a:buFont typeface="Arial" pitchFamily="34" charset="0"/>
              <a:buChar char="•"/>
            </a:pPr>
            <a:r>
              <a:rPr lang="en-US" sz="2800" dirty="0"/>
              <a:t>Chemical conversion of nucleotides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Placeholder 1" descr="Figure_15_05_04.jp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626" r="-626"/>
          <a:stretch>
            <a:fillRect/>
          </a:stretch>
        </p:blipFill>
        <p:spPr>
          <a:xfrm>
            <a:off x="457200" y="1108075"/>
            <a:ext cx="4032250" cy="5256213"/>
          </a:xfrm>
        </p:spPr>
      </p:pic>
      <p:sp>
        <p:nvSpPr>
          <p:cNvPr id="14" name="Text Placeholder 13"/>
          <p:cNvSpPr>
            <a:spLocks noGrp="1"/>
          </p:cNvSpPr>
          <p:nvPr>
            <p:ph type="body" sz="quarter" idx="14"/>
          </p:nvPr>
        </p:nvSpPr>
        <p:spPr>
          <a:xfrm>
            <a:off x="4606925" y="1107617"/>
            <a:ext cx="3913188" cy="5256973"/>
          </a:xfrm>
        </p:spPr>
        <p:txBody>
          <a:bodyPr>
            <a:noAutofit/>
          </a:bodyPr>
          <a:lstStyle/>
          <a:p>
            <a:r>
              <a:rPr lang="en-US" sz="1600" dirty="0">
                <a:solidFill>
                  <a:srgbClr val="000000"/>
                </a:solidFill>
              </a:rPr>
              <a:t>This is a space-filling model of a tRNA molecule that adds the amino acid phenylalanine to a growing polypeptide chain.</a:t>
            </a:r>
          </a:p>
          <a:p>
            <a:endParaRPr lang="en-US" sz="1600" dirty="0">
              <a:solidFill>
                <a:srgbClr val="000000"/>
              </a:solidFill>
            </a:endParaRPr>
          </a:p>
          <a:p>
            <a:r>
              <a:rPr lang="en-US" sz="1600" dirty="0">
                <a:solidFill>
                  <a:srgbClr val="000000"/>
                </a:solidFill>
              </a:rPr>
              <a:t> The anticodon AAG binds the Codon UUC on the mRNA.</a:t>
            </a:r>
          </a:p>
          <a:p>
            <a:endParaRPr lang="en-US" sz="1600" dirty="0">
              <a:solidFill>
                <a:srgbClr val="000000"/>
              </a:solidFill>
            </a:endParaRPr>
          </a:p>
          <a:p>
            <a:r>
              <a:rPr lang="en-US" sz="1600" dirty="0">
                <a:solidFill>
                  <a:srgbClr val="000000"/>
                </a:solidFill>
              </a:rPr>
              <a:t> The amino acid phenylalanine is attached to the other end of the tRNA.</a:t>
            </a:r>
          </a:p>
        </p:txBody>
      </p:sp>
      <p:sp>
        <p:nvSpPr>
          <p:cNvPr id="8" name="Title 1"/>
          <p:cNvSpPr txBox="1">
            <a:spLocks/>
          </p:cNvSpPr>
          <p:nvPr/>
        </p:nvSpPr>
        <p:spPr>
          <a:xfrm>
            <a:off x="457994" y="164741"/>
            <a:ext cx="8062912" cy="659535"/>
          </a:xfrm>
          <a:prstGeom prst="rect">
            <a:avLst/>
          </a:prstGeom>
        </p:spPr>
        <p:txBody>
          <a:bodyPr vert="horz" lIns="91440" tIns="45720" rIns="91440" bIns="45720" rtlCol="0" anchor="b">
            <a:normAutofit/>
          </a:bodyPr>
          <a:lstStyle>
            <a:lvl1pPr algn="l" defTabSz="914400" rtl="0" eaLnBrk="1" latinLnBrk="0" hangingPunct="1">
              <a:spcBef>
                <a:spcPct val="0"/>
              </a:spcBef>
              <a:buNone/>
              <a:defRPr sz="2400" kern="1200" cap="all" spc="-60" baseline="0">
                <a:solidFill>
                  <a:srgbClr val="6CB255"/>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0" i="0" u="none" strike="noStrike" kern="1200" cap="all" spc="-60" normalizeH="0" baseline="0" noProof="0">
                <a:ln>
                  <a:noFill/>
                </a:ln>
                <a:solidFill>
                  <a:srgbClr val="6CB255"/>
                </a:solidFill>
                <a:effectLst/>
                <a:uLnTx/>
                <a:uFillTx/>
                <a:latin typeface="Arial Black"/>
                <a:ea typeface="+mj-ea"/>
                <a:cs typeface="+mj-cs"/>
              </a:rPr>
              <a:t>Rrna</a:t>
            </a:r>
            <a:r>
              <a:rPr kumimoji="0" lang="en-US" sz="2400" b="0" i="0" u="none" strike="noStrike" kern="1200" cap="all" spc="-60" normalizeH="0" baseline="0" noProof="0" dirty="0">
                <a:ln>
                  <a:noFill/>
                </a:ln>
                <a:solidFill>
                  <a:srgbClr val="6CB255"/>
                </a:solidFill>
                <a:effectLst/>
                <a:uLnTx/>
                <a:uFillTx/>
                <a:latin typeface="Arial Black"/>
                <a:ea typeface="+mj-ea"/>
                <a:cs typeface="+mj-cs"/>
              </a:rPr>
              <a:t> and </a:t>
            </a:r>
            <a:r>
              <a:rPr kumimoji="0" lang="en-US" sz="2400" b="0" i="0" u="none" strike="noStrike" kern="1200" cap="all" spc="-60" normalizeH="0" baseline="0" noProof="0" dirty="0" err="1">
                <a:ln>
                  <a:noFill/>
                </a:ln>
                <a:solidFill>
                  <a:srgbClr val="6CB255"/>
                </a:solidFill>
                <a:effectLst/>
                <a:uLnTx/>
                <a:uFillTx/>
                <a:latin typeface="Arial Black"/>
                <a:ea typeface="+mj-ea"/>
                <a:cs typeface="+mj-cs"/>
              </a:rPr>
              <a:t>Trna</a:t>
            </a:r>
            <a:r>
              <a:rPr kumimoji="0" lang="en-US" sz="2400" b="0" i="0" u="none" strike="noStrike" kern="1200" cap="all" spc="-60" normalizeH="0" baseline="0" noProof="0" dirty="0">
                <a:ln>
                  <a:noFill/>
                </a:ln>
                <a:solidFill>
                  <a:srgbClr val="6CB255"/>
                </a:solidFill>
                <a:effectLst/>
                <a:uLnTx/>
                <a:uFillTx/>
                <a:latin typeface="Arial Black"/>
                <a:ea typeface="+mj-ea"/>
                <a:cs typeface="+mj-cs"/>
              </a:rPr>
              <a:t> processing</a:t>
            </a:r>
          </a:p>
        </p:txBody>
      </p:sp>
    </p:spTree>
    <p:extLst>
      <p:ext uri="{BB962C8B-B14F-4D97-AF65-F5344CB8AC3E}">
        <p14:creationId xmlns:p14="http://schemas.microsoft.com/office/powerpoint/2010/main" val="37743191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D0BB4-A454-4600-B8A9-F7BE2A96758A}"/>
              </a:ext>
            </a:extLst>
          </p:cNvPr>
          <p:cNvSpPr txBox="1">
            <a:spLocks/>
          </p:cNvSpPr>
          <p:nvPr/>
        </p:nvSpPr>
        <p:spPr>
          <a:xfrm>
            <a:off x="3278571" y="390590"/>
            <a:ext cx="3344907"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200" dirty="0">
                <a:solidFill>
                  <a:srgbClr val="FF0000"/>
                </a:solidFill>
                <a:latin typeface="Arial" panose="020B0604020202020204" pitchFamily="34" charset="0"/>
                <a:cs typeface="Arial" panose="020B0604020202020204" pitchFamily="34" charset="0"/>
              </a:rPr>
              <a:t>Translation</a:t>
            </a:r>
          </a:p>
        </p:txBody>
      </p:sp>
      <p:sp>
        <p:nvSpPr>
          <p:cNvPr id="3" name="TextBox 2">
            <a:extLst>
              <a:ext uri="{FF2B5EF4-FFF2-40B4-BE49-F238E27FC236}">
                <a16:creationId xmlns:a16="http://schemas.microsoft.com/office/drawing/2014/main" id="{26FFB0F4-5FFD-4598-BD51-AC72B30BBF01}"/>
              </a:ext>
            </a:extLst>
          </p:cNvPr>
          <p:cNvSpPr txBox="1"/>
          <p:nvPr/>
        </p:nvSpPr>
        <p:spPr>
          <a:xfrm>
            <a:off x="1223628" y="1353211"/>
            <a:ext cx="6588732" cy="553998"/>
          </a:xfrm>
          <a:prstGeom prst="rect">
            <a:avLst/>
          </a:prstGeom>
          <a:noFill/>
        </p:spPr>
        <p:txBody>
          <a:bodyPr wrap="square" rtlCol="0">
            <a:spAutoFit/>
          </a:bodyPr>
          <a:lstStyle/>
          <a:p>
            <a:r>
              <a:rPr lang="en-GB" sz="1500" dirty="0">
                <a:latin typeface="Arial" panose="020B0604020202020204" pitchFamily="34" charset="0"/>
                <a:cs typeface="Arial" panose="020B0604020202020204" pitchFamily="34" charset="0"/>
              </a:rPr>
              <a:t>The process in which the mRNA code is used in protein synthesis is called </a:t>
            </a:r>
            <a:r>
              <a:rPr lang="en-GB" sz="1500" dirty="0">
                <a:solidFill>
                  <a:srgbClr val="7030A0"/>
                </a:solidFill>
                <a:latin typeface="Arial" panose="020B0604020202020204" pitchFamily="34" charset="0"/>
                <a:cs typeface="Arial" panose="020B0604020202020204" pitchFamily="34" charset="0"/>
              </a:rPr>
              <a:t>translation</a:t>
            </a:r>
            <a:r>
              <a:rPr lang="en-GB" sz="1500" dirty="0">
                <a:latin typeface="Arial" panose="020B0604020202020204" pitchFamily="34" charset="0"/>
                <a:cs typeface="Arial" panose="020B0604020202020204" pitchFamily="34" charset="0"/>
              </a:rPr>
              <a:t>;</a:t>
            </a:r>
          </a:p>
        </p:txBody>
      </p:sp>
      <p:grpSp>
        <p:nvGrpSpPr>
          <p:cNvPr id="4" name="Group 3">
            <a:extLst>
              <a:ext uri="{FF2B5EF4-FFF2-40B4-BE49-F238E27FC236}">
                <a16:creationId xmlns:a16="http://schemas.microsoft.com/office/drawing/2014/main" id="{EB5348CE-C473-42C6-844B-9F87F75B70C2}"/>
              </a:ext>
            </a:extLst>
          </p:cNvPr>
          <p:cNvGrpSpPr/>
          <p:nvPr/>
        </p:nvGrpSpPr>
        <p:grpSpPr>
          <a:xfrm>
            <a:off x="5231362" y="1754814"/>
            <a:ext cx="1715847" cy="2153072"/>
            <a:chOff x="2813682" y="3372322"/>
            <a:chExt cx="2287795" cy="2870762"/>
          </a:xfrm>
        </p:grpSpPr>
        <p:grpSp>
          <p:nvGrpSpPr>
            <p:cNvPr id="5" name="Group 4">
              <a:extLst>
                <a:ext uri="{FF2B5EF4-FFF2-40B4-BE49-F238E27FC236}">
                  <a16:creationId xmlns:a16="http://schemas.microsoft.com/office/drawing/2014/main" id="{C511FD22-9931-4C97-ACBB-FD965BB37389}"/>
                </a:ext>
              </a:extLst>
            </p:cNvPr>
            <p:cNvGrpSpPr/>
            <p:nvPr/>
          </p:nvGrpSpPr>
          <p:grpSpPr>
            <a:xfrm>
              <a:off x="2813682" y="3372322"/>
              <a:ext cx="599754" cy="2870762"/>
              <a:chOff x="2521136" y="2284537"/>
              <a:chExt cx="599754" cy="2870762"/>
            </a:xfrm>
          </p:grpSpPr>
          <p:grpSp>
            <p:nvGrpSpPr>
              <p:cNvPr id="8" name="Group 7">
                <a:extLst>
                  <a:ext uri="{FF2B5EF4-FFF2-40B4-BE49-F238E27FC236}">
                    <a16:creationId xmlns:a16="http://schemas.microsoft.com/office/drawing/2014/main" id="{9CEC87C6-FD13-4776-A663-5D702163B49D}"/>
                  </a:ext>
                </a:extLst>
              </p:cNvPr>
              <p:cNvGrpSpPr/>
              <p:nvPr/>
            </p:nvGrpSpPr>
            <p:grpSpPr>
              <a:xfrm>
                <a:off x="2904866" y="2284537"/>
                <a:ext cx="216024" cy="2864990"/>
                <a:chOff x="1619672" y="2276872"/>
                <a:chExt cx="216024" cy="2864990"/>
              </a:xfrm>
            </p:grpSpPr>
            <p:sp>
              <p:nvSpPr>
                <p:cNvPr id="25" name="Rectangle 24">
                  <a:extLst>
                    <a:ext uri="{FF2B5EF4-FFF2-40B4-BE49-F238E27FC236}">
                      <a16:creationId xmlns:a16="http://schemas.microsoft.com/office/drawing/2014/main" id="{C2CFCD1E-03C6-4224-A777-05464F04A284}"/>
                    </a:ext>
                  </a:extLst>
                </p:cNvPr>
                <p:cNvSpPr/>
                <p:nvPr/>
              </p:nvSpPr>
              <p:spPr>
                <a:xfrm>
                  <a:off x="1619672" y="227687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6" name="Rectangle 25">
                  <a:extLst>
                    <a:ext uri="{FF2B5EF4-FFF2-40B4-BE49-F238E27FC236}">
                      <a16:creationId xmlns:a16="http://schemas.microsoft.com/office/drawing/2014/main" id="{FB7D72B2-B7DF-471B-B094-2194577C1742}"/>
                    </a:ext>
                  </a:extLst>
                </p:cNvPr>
                <p:cNvSpPr/>
                <p:nvPr/>
              </p:nvSpPr>
              <p:spPr>
                <a:xfrm>
                  <a:off x="1619672" y="263691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7" name="Rectangle 26">
                  <a:extLst>
                    <a:ext uri="{FF2B5EF4-FFF2-40B4-BE49-F238E27FC236}">
                      <a16:creationId xmlns:a16="http://schemas.microsoft.com/office/drawing/2014/main" id="{340BA95A-A301-4F09-B759-1C8293ED349A}"/>
                    </a:ext>
                  </a:extLst>
                </p:cNvPr>
                <p:cNvSpPr/>
                <p:nvPr/>
              </p:nvSpPr>
              <p:spPr>
                <a:xfrm>
                  <a:off x="1619672" y="299695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8" name="Rectangle 27">
                  <a:extLst>
                    <a:ext uri="{FF2B5EF4-FFF2-40B4-BE49-F238E27FC236}">
                      <a16:creationId xmlns:a16="http://schemas.microsoft.com/office/drawing/2014/main" id="{606B5241-84BD-4AD4-AFDE-C4FEE0C0DB45}"/>
                    </a:ext>
                  </a:extLst>
                </p:cNvPr>
                <p:cNvSpPr/>
                <p:nvPr/>
              </p:nvSpPr>
              <p:spPr>
                <a:xfrm>
                  <a:off x="1619672" y="335699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29" name="Rectangle 28">
                  <a:extLst>
                    <a:ext uri="{FF2B5EF4-FFF2-40B4-BE49-F238E27FC236}">
                      <a16:creationId xmlns:a16="http://schemas.microsoft.com/office/drawing/2014/main" id="{A824C53A-7B6B-4AA2-9DBD-4E445CB3535F}"/>
                    </a:ext>
                  </a:extLst>
                </p:cNvPr>
                <p:cNvSpPr/>
                <p:nvPr/>
              </p:nvSpPr>
              <p:spPr>
                <a:xfrm>
                  <a:off x="1619672" y="370170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0" name="Rectangle 29">
                  <a:extLst>
                    <a:ext uri="{FF2B5EF4-FFF2-40B4-BE49-F238E27FC236}">
                      <a16:creationId xmlns:a16="http://schemas.microsoft.com/office/drawing/2014/main" id="{9445D941-4AA0-474C-9C22-F84C9203561E}"/>
                    </a:ext>
                  </a:extLst>
                </p:cNvPr>
                <p:cNvSpPr/>
                <p:nvPr/>
              </p:nvSpPr>
              <p:spPr>
                <a:xfrm>
                  <a:off x="1619672" y="406174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1" name="Rectangle 30">
                  <a:extLst>
                    <a:ext uri="{FF2B5EF4-FFF2-40B4-BE49-F238E27FC236}">
                      <a16:creationId xmlns:a16="http://schemas.microsoft.com/office/drawing/2014/main" id="{AA5C56C9-66CA-4E6C-83BE-C86AC2BB00C1}"/>
                    </a:ext>
                  </a:extLst>
                </p:cNvPr>
                <p:cNvSpPr/>
                <p:nvPr/>
              </p:nvSpPr>
              <p:spPr>
                <a:xfrm>
                  <a:off x="1619672" y="442178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2" name="Rectangle 31">
                  <a:extLst>
                    <a:ext uri="{FF2B5EF4-FFF2-40B4-BE49-F238E27FC236}">
                      <a16:creationId xmlns:a16="http://schemas.microsoft.com/office/drawing/2014/main" id="{5B567F56-6996-40DF-9ECE-879A478A09A1}"/>
                    </a:ext>
                  </a:extLst>
                </p:cNvPr>
                <p:cNvSpPr/>
                <p:nvPr/>
              </p:nvSpPr>
              <p:spPr>
                <a:xfrm>
                  <a:off x="1619672" y="4781822"/>
                  <a:ext cx="216024" cy="360040"/>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
            <p:nvSpPr>
              <p:cNvPr id="9" name="Rectangle 8">
                <a:extLst>
                  <a:ext uri="{FF2B5EF4-FFF2-40B4-BE49-F238E27FC236}">
                    <a16:creationId xmlns:a16="http://schemas.microsoft.com/office/drawing/2014/main" id="{11D966A6-0A5E-4A5E-8400-A2C75E181DD5}"/>
                  </a:ext>
                </a:extLst>
              </p:cNvPr>
              <p:cNvSpPr/>
              <p:nvPr/>
            </p:nvSpPr>
            <p:spPr>
              <a:xfrm>
                <a:off x="2527196" y="2404847"/>
                <a:ext cx="366915" cy="16005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0" name="TextBox 9">
                <a:extLst>
                  <a:ext uri="{FF2B5EF4-FFF2-40B4-BE49-F238E27FC236}">
                    <a16:creationId xmlns:a16="http://schemas.microsoft.com/office/drawing/2014/main" id="{4415FF85-51F4-4773-BAA2-839A73063B2B}"/>
                  </a:ext>
                </a:extLst>
              </p:cNvPr>
              <p:cNvSpPr txBox="1"/>
              <p:nvPr/>
            </p:nvSpPr>
            <p:spPr>
              <a:xfrm>
                <a:off x="2557085" y="2332872"/>
                <a:ext cx="376600"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U</a:t>
                </a:r>
              </a:p>
            </p:txBody>
          </p:sp>
          <p:sp>
            <p:nvSpPr>
              <p:cNvPr id="11" name="Rectangle 10">
                <a:extLst>
                  <a:ext uri="{FF2B5EF4-FFF2-40B4-BE49-F238E27FC236}">
                    <a16:creationId xmlns:a16="http://schemas.microsoft.com/office/drawing/2014/main" id="{56879C32-D7BE-4F40-B6F1-E18933F29297}"/>
                  </a:ext>
                </a:extLst>
              </p:cNvPr>
              <p:cNvSpPr/>
              <p:nvPr/>
            </p:nvSpPr>
            <p:spPr>
              <a:xfrm>
                <a:off x="2537951" y="2770700"/>
                <a:ext cx="366915" cy="16005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2" name="Rectangle 11">
                <a:extLst>
                  <a:ext uri="{FF2B5EF4-FFF2-40B4-BE49-F238E27FC236}">
                    <a16:creationId xmlns:a16="http://schemas.microsoft.com/office/drawing/2014/main" id="{85764862-1478-488A-993E-EC3F97FDCE62}"/>
                  </a:ext>
                </a:extLst>
              </p:cNvPr>
              <p:cNvSpPr/>
              <p:nvPr/>
            </p:nvSpPr>
            <p:spPr>
              <a:xfrm>
                <a:off x="2545162" y="3115410"/>
                <a:ext cx="366915" cy="16005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3" name="Rectangle 12">
                <a:extLst>
                  <a:ext uri="{FF2B5EF4-FFF2-40B4-BE49-F238E27FC236}">
                    <a16:creationId xmlns:a16="http://schemas.microsoft.com/office/drawing/2014/main" id="{B41694DF-976A-4621-AA1A-647D16A4F168}"/>
                  </a:ext>
                </a:extLst>
              </p:cNvPr>
              <p:cNvSpPr/>
              <p:nvPr/>
            </p:nvSpPr>
            <p:spPr>
              <a:xfrm>
                <a:off x="2527195" y="3475680"/>
                <a:ext cx="366915" cy="160055"/>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4" name="Rectangle 13">
                <a:extLst>
                  <a:ext uri="{FF2B5EF4-FFF2-40B4-BE49-F238E27FC236}">
                    <a16:creationId xmlns:a16="http://schemas.microsoft.com/office/drawing/2014/main" id="{820CBA9C-D878-49F0-8FAA-CB82CE4ED64B}"/>
                  </a:ext>
                </a:extLst>
              </p:cNvPr>
              <p:cNvSpPr/>
              <p:nvPr/>
            </p:nvSpPr>
            <p:spPr>
              <a:xfrm>
                <a:off x="2530009" y="3827090"/>
                <a:ext cx="366915" cy="16005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5" name="Rectangle 14">
                <a:extLst>
                  <a:ext uri="{FF2B5EF4-FFF2-40B4-BE49-F238E27FC236}">
                    <a16:creationId xmlns:a16="http://schemas.microsoft.com/office/drawing/2014/main" id="{2A2A51D8-371A-4B4C-9DC6-29C6C29CF021}"/>
                  </a:ext>
                </a:extLst>
              </p:cNvPr>
              <p:cNvSpPr/>
              <p:nvPr/>
            </p:nvSpPr>
            <p:spPr>
              <a:xfrm>
                <a:off x="2545162" y="4181787"/>
                <a:ext cx="366915" cy="160055"/>
              </a:xfrm>
              <a:prstGeom prst="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6" name="Rectangle 15">
                <a:extLst>
                  <a:ext uri="{FF2B5EF4-FFF2-40B4-BE49-F238E27FC236}">
                    <a16:creationId xmlns:a16="http://schemas.microsoft.com/office/drawing/2014/main" id="{5B74B386-1960-4D28-874A-8F4726BED2A1}"/>
                  </a:ext>
                </a:extLst>
              </p:cNvPr>
              <p:cNvSpPr/>
              <p:nvPr/>
            </p:nvSpPr>
            <p:spPr>
              <a:xfrm>
                <a:off x="2534943" y="4543068"/>
                <a:ext cx="366915" cy="160055"/>
              </a:xfrm>
              <a:prstGeom prst="rect">
                <a:avLst/>
              </a:prstGeom>
              <a:solidFill>
                <a:srgbClr val="00B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7" name="Rectangle 16">
                <a:extLst>
                  <a:ext uri="{FF2B5EF4-FFF2-40B4-BE49-F238E27FC236}">
                    <a16:creationId xmlns:a16="http://schemas.microsoft.com/office/drawing/2014/main" id="{6CF0B0F9-F4E7-4BD9-A262-7B7E57FAAD00}"/>
                  </a:ext>
                </a:extLst>
              </p:cNvPr>
              <p:cNvSpPr/>
              <p:nvPr/>
            </p:nvSpPr>
            <p:spPr>
              <a:xfrm>
                <a:off x="2521136" y="4887894"/>
                <a:ext cx="366915" cy="160055"/>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8" name="TextBox 17">
                <a:extLst>
                  <a:ext uri="{FF2B5EF4-FFF2-40B4-BE49-F238E27FC236}">
                    <a16:creationId xmlns:a16="http://schemas.microsoft.com/office/drawing/2014/main" id="{92FD0D36-684E-4E23-81D9-57975D679EC4}"/>
                  </a:ext>
                </a:extLst>
              </p:cNvPr>
              <p:cNvSpPr txBox="1"/>
              <p:nvPr/>
            </p:nvSpPr>
            <p:spPr>
              <a:xfrm>
                <a:off x="2566667" y="3038385"/>
                <a:ext cx="365912"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A</a:t>
                </a:r>
              </a:p>
            </p:txBody>
          </p:sp>
          <p:sp>
            <p:nvSpPr>
              <p:cNvPr id="19" name="TextBox 18">
                <a:extLst>
                  <a:ext uri="{FF2B5EF4-FFF2-40B4-BE49-F238E27FC236}">
                    <a16:creationId xmlns:a16="http://schemas.microsoft.com/office/drawing/2014/main" id="{38BBC660-EB41-4475-8E88-27C65610646F}"/>
                  </a:ext>
                </a:extLst>
              </p:cNvPr>
              <p:cNvSpPr txBox="1"/>
              <p:nvPr/>
            </p:nvSpPr>
            <p:spPr>
              <a:xfrm>
                <a:off x="2586281" y="4095538"/>
                <a:ext cx="365912"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A</a:t>
                </a:r>
              </a:p>
            </p:txBody>
          </p:sp>
          <p:sp>
            <p:nvSpPr>
              <p:cNvPr id="20" name="TextBox 19">
                <a:extLst>
                  <a:ext uri="{FF2B5EF4-FFF2-40B4-BE49-F238E27FC236}">
                    <a16:creationId xmlns:a16="http://schemas.microsoft.com/office/drawing/2014/main" id="{3358E436-B25A-4B01-9926-59B101770621}"/>
                  </a:ext>
                </a:extLst>
              </p:cNvPr>
              <p:cNvSpPr txBox="1"/>
              <p:nvPr/>
            </p:nvSpPr>
            <p:spPr>
              <a:xfrm>
                <a:off x="2572275" y="3750089"/>
                <a:ext cx="376600"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U</a:t>
                </a:r>
              </a:p>
            </p:txBody>
          </p:sp>
          <p:sp>
            <p:nvSpPr>
              <p:cNvPr id="21" name="TextBox 20">
                <a:extLst>
                  <a:ext uri="{FF2B5EF4-FFF2-40B4-BE49-F238E27FC236}">
                    <a16:creationId xmlns:a16="http://schemas.microsoft.com/office/drawing/2014/main" id="{9A175DE6-0BBD-4A08-A018-7CAFD51683D0}"/>
                  </a:ext>
                </a:extLst>
              </p:cNvPr>
              <p:cNvSpPr txBox="1"/>
              <p:nvPr/>
            </p:nvSpPr>
            <p:spPr>
              <a:xfrm>
                <a:off x="2599975" y="4816744"/>
                <a:ext cx="376600"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U</a:t>
                </a:r>
              </a:p>
            </p:txBody>
          </p:sp>
          <p:sp>
            <p:nvSpPr>
              <p:cNvPr id="22" name="TextBox 21">
                <a:extLst>
                  <a:ext uri="{FF2B5EF4-FFF2-40B4-BE49-F238E27FC236}">
                    <a16:creationId xmlns:a16="http://schemas.microsoft.com/office/drawing/2014/main" id="{693AF650-DD53-4ED7-BF33-C09CDB85A39A}"/>
                  </a:ext>
                </a:extLst>
              </p:cNvPr>
              <p:cNvSpPr txBox="1"/>
              <p:nvPr/>
            </p:nvSpPr>
            <p:spPr>
              <a:xfrm>
                <a:off x="2541023" y="3398991"/>
                <a:ext cx="385149"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G</a:t>
                </a:r>
              </a:p>
            </p:txBody>
          </p:sp>
          <p:sp>
            <p:nvSpPr>
              <p:cNvPr id="23" name="TextBox 22">
                <a:extLst>
                  <a:ext uri="{FF2B5EF4-FFF2-40B4-BE49-F238E27FC236}">
                    <a16:creationId xmlns:a16="http://schemas.microsoft.com/office/drawing/2014/main" id="{61B9AD10-F98C-4FDB-B788-C258CBD5E64F}"/>
                  </a:ext>
                </a:extLst>
              </p:cNvPr>
              <p:cNvSpPr txBox="1"/>
              <p:nvPr/>
            </p:nvSpPr>
            <p:spPr>
              <a:xfrm>
                <a:off x="2572796" y="2694012"/>
                <a:ext cx="376600"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C</a:t>
                </a:r>
              </a:p>
            </p:txBody>
          </p:sp>
          <p:sp>
            <p:nvSpPr>
              <p:cNvPr id="24" name="TextBox 23">
                <a:extLst>
                  <a:ext uri="{FF2B5EF4-FFF2-40B4-BE49-F238E27FC236}">
                    <a16:creationId xmlns:a16="http://schemas.microsoft.com/office/drawing/2014/main" id="{A732E1FD-74A3-48E5-AA6C-B16242454B40}"/>
                  </a:ext>
                </a:extLst>
              </p:cNvPr>
              <p:cNvSpPr txBox="1"/>
              <p:nvPr/>
            </p:nvSpPr>
            <p:spPr>
              <a:xfrm>
                <a:off x="2557085" y="4459200"/>
                <a:ext cx="376600" cy="338555"/>
              </a:xfrm>
              <a:prstGeom prst="rect">
                <a:avLst/>
              </a:prstGeom>
              <a:noFill/>
            </p:spPr>
            <p:txBody>
              <a:bodyPr wrap="none" rtlCol="0">
                <a:spAutoFit/>
              </a:bodyPr>
              <a:lstStyle/>
              <a:p>
                <a:r>
                  <a:rPr lang="en-GB" sz="1050">
                    <a:solidFill>
                      <a:schemeClr val="bg1"/>
                    </a:solidFill>
                    <a:latin typeface="Arial" panose="020B0604020202020204" pitchFamily="34" charset="0"/>
                    <a:cs typeface="Arial" panose="020B0604020202020204" pitchFamily="34" charset="0"/>
                  </a:rPr>
                  <a:t>C</a:t>
                </a:r>
              </a:p>
            </p:txBody>
          </p:sp>
        </p:grpSp>
        <p:cxnSp>
          <p:nvCxnSpPr>
            <p:cNvPr id="6" name="Straight Connector 5">
              <a:extLst>
                <a:ext uri="{FF2B5EF4-FFF2-40B4-BE49-F238E27FC236}">
                  <a16:creationId xmlns:a16="http://schemas.microsoft.com/office/drawing/2014/main" id="{8CCD85D3-ECAE-4B86-BD63-B90632453872}"/>
                </a:ext>
              </a:extLst>
            </p:cNvPr>
            <p:cNvCxnSpPr>
              <a:cxnSpLocks/>
            </p:cNvCxnSpPr>
            <p:nvPr/>
          </p:nvCxnSpPr>
          <p:spPr>
            <a:xfrm flipV="1">
              <a:off x="3446744" y="4089574"/>
              <a:ext cx="1223092" cy="276430"/>
            </a:xfrm>
            <a:prstGeom prst="line">
              <a:avLst/>
            </a:prstGeom>
            <a:ln>
              <a:prstDash val="dash"/>
            </a:ln>
          </p:spPr>
          <p:style>
            <a:lnRef idx="1">
              <a:schemeClr val="dk1"/>
            </a:lnRef>
            <a:fillRef idx="0">
              <a:schemeClr val="dk1"/>
            </a:fillRef>
            <a:effectRef idx="0">
              <a:schemeClr val="dk1"/>
            </a:effectRef>
            <a:fontRef idx="minor">
              <a:schemeClr val="tx1"/>
            </a:fontRef>
          </p:style>
        </p:cxnSp>
        <p:sp>
          <p:nvSpPr>
            <p:cNvPr id="7" name="TextBox 6">
              <a:extLst>
                <a:ext uri="{FF2B5EF4-FFF2-40B4-BE49-F238E27FC236}">
                  <a16:creationId xmlns:a16="http://schemas.microsoft.com/office/drawing/2014/main" id="{4DEEABBF-4750-4438-BD0F-2557A24D7A72}"/>
                </a:ext>
              </a:extLst>
            </p:cNvPr>
            <p:cNvSpPr txBox="1"/>
            <p:nvPr/>
          </p:nvSpPr>
          <p:spPr>
            <a:xfrm>
              <a:off x="4098638" y="3705698"/>
              <a:ext cx="1002839" cy="430887"/>
            </a:xfrm>
            <a:prstGeom prst="rect">
              <a:avLst/>
            </a:prstGeom>
            <a:noFill/>
          </p:spPr>
          <p:txBody>
            <a:bodyPr wrap="none" rtlCol="0">
              <a:spAutoFit/>
            </a:bodyPr>
            <a:lstStyle/>
            <a:p>
              <a:r>
                <a:rPr lang="en-GB" sz="1500">
                  <a:latin typeface="Arial" panose="020B0604020202020204" pitchFamily="34" charset="0"/>
                  <a:cs typeface="Arial" panose="020B0604020202020204" pitchFamily="34" charset="0"/>
                </a:rPr>
                <a:t>mRNA</a:t>
              </a:r>
            </a:p>
          </p:txBody>
        </p:sp>
      </p:grpSp>
      <p:sp>
        <p:nvSpPr>
          <p:cNvPr id="33" name="TextBox 32">
            <a:extLst>
              <a:ext uri="{FF2B5EF4-FFF2-40B4-BE49-F238E27FC236}">
                <a16:creationId xmlns:a16="http://schemas.microsoft.com/office/drawing/2014/main" id="{3CA1F791-F019-40AD-B708-FB94E8ECDA35}"/>
              </a:ext>
            </a:extLst>
          </p:cNvPr>
          <p:cNvSpPr txBox="1"/>
          <p:nvPr/>
        </p:nvSpPr>
        <p:spPr>
          <a:xfrm>
            <a:off x="1196625" y="4050546"/>
            <a:ext cx="6750750" cy="1015663"/>
          </a:xfrm>
          <a:prstGeom prst="rect">
            <a:avLst/>
          </a:prstGeom>
          <a:noFill/>
        </p:spPr>
        <p:txBody>
          <a:bodyPr wrap="square" rtlCol="0">
            <a:spAutoFit/>
          </a:bodyPr>
          <a:lstStyle/>
          <a:p>
            <a:r>
              <a:rPr lang="en-GB" sz="1500" dirty="0">
                <a:latin typeface="Arial" panose="020B0604020202020204" pitchFamily="34" charset="0"/>
                <a:cs typeface="Arial" panose="020B0604020202020204" pitchFamily="34" charset="0"/>
              </a:rPr>
              <a:t>In translation, a base-pair sequence in the mRNA is converted into an amino acid sequence;</a:t>
            </a:r>
          </a:p>
          <a:p>
            <a:endParaRPr lang="en-GB" sz="1500" dirty="0">
              <a:latin typeface="Arial" panose="020B0604020202020204" pitchFamily="34" charset="0"/>
              <a:cs typeface="Arial" panose="020B0604020202020204" pitchFamily="34" charset="0"/>
            </a:endParaRPr>
          </a:p>
          <a:p>
            <a:r>
              <a:rPr lang="en-GB" sz="1500" dirty="0">
                <a:latin typeface="Arial" panose="020B0604020202020204" pitchFamily="34" charset="0"/>
                <a:cs typeface="Arial" panose="020B0604020202020204" pitchFamily="34" charset="0"/>
              </a:rPr>
              <a:t>Proteins are made of amino acids sequences;</a:t>
            </a:r>
          </a:p>
        </p:txBody>
      </p:sp>
      <p:grpSp>
        <p:nvGrpSpPr>
          <p:cNvPr id="42" name="Group 41">
            <a:extLst>
              <a:ext uri="{FF2B5EF4-FFF2-40B4-BE49-F238E27FC236}">
                <a16:creationId xmlns:a16="http://schemas.microsoft.com/office/drawing/2014/main" id="{6C3808CE-BDA4-47F8-AF3B-A5F30E73CDFE}"/>
              </a:ext>
            </a:extLst>
          </p:cNvPr>
          <p:cNvGrpSpPr/>
          <p:nvPr/>
        </p:nvGrpSpPr>
        <p:grpSpPr>
          <a:xfrm>
            <a:off x="1205179" y="2317884"/>
            <a:ext cx="3148308" cy="980512"/>
            <a:chOff x="82904" y="1947510"/>
            <a:chExt cx="4197745" cy="1307350"/>
          </a:xfrm>
        </p:grpSpPr>
        <p:sp>
          <p:nvSpPr>
            <p:cNvPr id="39" name="TextBox 38">
              <a:extLst>
                <a:ext uri="{FF2B5EF4-FFF2-40B4-BE49-F238E27FC236}">
                  <a16:creationId xmlns:a16="http://schemas.microsoft.com/office/drawing/2014/main" id="{1A4B0CC5-C487-4F18-B81B-C42F036B893E}"/>
                </a:ext>
              </a:extLst>
            </p:cNvPr>
            <p:cNvSpPr txBox="1"/>
            <p:nvPr/>
          </p:nvSpPr>
          <p:spPr>
            <a:xfrm>
              <a:off x="97453" y="1947510"/>
              <a:ext cx="4183196" cy="430887"/>
            </a:xfrm>
            <a:prstGeom prst="rect">
              <a:avLst/>
            </a:prstGeom>
            <a:noFill/>
          </p:spPr>
          <p:txBody>
            <a:bodyPr wrap="none" rtlCol="0">
              <a:spAutoFit/>
            </a:bodyPr>
            <a:lstStyle/>
            <a:p>
              <a:r>
                <a:rPr lang="en-GB" sz="1500">
                  <a:solidFill>
                    <a:srgbClr val="0070C0"/>
                  </a:solidFill>
                  <a:latin typeface="Arial" panose="020B0604020202020204" pitchFamily="34" charset="0"/>
                  <a:cs typeface="Arial" panose="020B0604020202020204" pitchFamily="34" charset="0"/>
                </a:rPr>
                <a:t>Number of possible codons=4</a:t>
              </a:r>
              <a:r>
                <a:rPr lang="en-GB" sz="1500" baseline="30000">
                  <a:solidFill>
                    <a:srgbClr val="0070C0"/>
                  </a:solidFill>
                  <a:latin typeface="Arial" panose="020B0604020202020204" pitchFamily="34" charset="0"/>
                  <a:cs typeface="Arial" panose="020B0604020202020204" pitchFamily="34" charset="0"/>
                </a:rPr>
                <a:t>3</a:t>
              </a:r>
              <a:r>
                <a:rPr lang="en-GB" sz="1500">
                  <a:solidFill>
                    <a:srgbClr val="0070C0"/>
                  </a:solidFill>
                  <a:latin typeface="Arial" panose="020B0604020202020204" pitchFamily="34" charset="0"/>
                  <a:cs typeface="Arial" panose="020B0604020202020204" pitchFamily="34" charset="0"/>
                </a:rPr>
                <a:t>=64</a:t>
              </a:r>
            </a:p>
          </p:txBody>
        </p:sp>
        <p:sp>
          <p:nvSpPr>
            <p:cNvPr id="40" name="TextBox 39">
              <a:extLst>
                <a:ext uri="{FF2B5EF4-FFF2-40B4-BE49-F238E27FC236}">
                  <a16:creationId xmlns:a16="http://schemas.microsoft.com/office/drawing/2014/main" id="{DDF6C435-C809-4B4F-965F-CAF99F96A87B}"/>
                </a:ext>
              </a:extLst>
            </p:cNvPr>
            <p:cNvSpPr txBox="1"/>
            <p:nvPr/>
          </p:nvSpPr>
          <p:spPr>
            <a:xfrm>
              <a:off x="82904" y="2516196"/>
              <a:ext cx="3802752" cy="738664"/>
            </a:xfrm>
            <a:prstGeom prst="rect">
              <a:avLst/>
            </a:prstGeom>
            <a:noFill/>
          </p:spPr>
          <p:txBody>
            <a:bodyPr wrap="none" rtlCol="0">
              <a:spAutoFit/>
            </a:bodyPr>
            <a:lstStyle/>
            <a:p>
              <a:r>
                <a:rPr lang="en-GB" sz="1500">
                  <a:solidFill>
                    <a:srgbClr val="0070C0"/>
                  </a:solidFill>
                  <a:latin typeface="Arial" panose="020B0604020202020204" pitchFamily="34" charset="0"/>
                  <a:cs typeface="Arial" panose="020B0604020202020204" pitchFamily="34" charset="0"/>
                </a:rPr>
                <a:t>61 codons code for 20 possible</a:t>
              </a:r>
            </a:p>
            <a:p>
              <a:r>
                <a:rPr lang="en-GB" sz="1500">
                  <a:solidFill>
                    <a:srgbClr val="0070C0"/>
                  </a:solidFill>
                  <a:latin typeface="Arial" panose="020B0604020202020204" pitchFamily="34" charset="0"/>
                  <a:cs typeface="Arial" panose="020B0604020202020204" pitchFamily="34" charset="0"/>
                </a:rPr>
                <a:t>amino acids;</a:t>
              </a:r>
            </a:p>
          </p:txBody>
        </p:sp>
      </p:grpSp>
      <p:grpSp>
        <p:nvGrpSpPr>
          <p:cNvPr id="41" name="Group 40">
            <a:extLst>
              <a:ext uri="{FF2B5EF4-FFF2-40B4-BE49-F238E27FC236}">
                <a16:creationId xmlns:a16="http://schemas.microsoft.com/office/drawing/2014/main" id="{D3E846B7-C932-4FDE-8AAA-C627B3EB8723}"/>
              </a:ext>
            </a:extLst>
          </p:cNvPr>
          <p:cNvGrpSpPr/>
          <p:nvPr/>
        </p:nvGrpSpPr>
        <p:grpSpPr>
          <a:xfrm>
            <a:off x="4572000" y="1788847"/>
            <a:ext cx="969326" cy="2277662"/>
            <a:chOff x="4572000" y="1242127"/>
            <a:chExt cx="1292434" cy="3036883"/>
          </a:xfrm>
        </p:grpSpPr>
        <p:sp>
          <p:nvSpPr>
            <p:cNvPr id="34" name="Rectangle: Rounded Corners 33">
              <a:extLst>
                <a:ext uri="{FF2B5EF4-FFF2-40B4-BE49-F238E27FC236}">
                  <a16:creationId xmlns:a16="http://schemas.microsoft.com/office/drawing/2014/main" id="{7DA8BA34-8458-4AE0-9059-1BEA4C337294}"/>
                </a:ext>
              </a:extLst>
            </p:cNvPr>
            <p:cNvSpPr/>
            <p:nvPr/>
          </p:nvSpPr>
          <p:spPr>
            <a:xfrm>
              <a:off x="5432386" y="1242127"/>
              <a:ext cx="432048" cy="975119"/>
            </a:xfrm>
            <a:prstGeom prst="round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5" name="Rectangle: Rounded Corners 34">
              <a:extLst>
                <a:ext uri="{FF2B5EF4-FFF2-40B4-BE49-F238E27FC236}">
                  <a16:creationId xmlns:a16="http://schemas.microsoft.com/office/drawing/2014/main" id="{A80201E0-7D5E-45FB-B7CD-97B0BA770E58}"/>
                </a:ext>
              </a:extLst>
            </p:cNvPr>
            <p:cNvSpPr/>
            <p:nvPr/>
          </p:nvSpPr>
          <p:spPr>
            <a:xfrm>
              <a:off x="5412331" y="2319129"/>
              <a:ext cx="432048" cy="975119"/>
            </a:xfrm>
            <a:prstGeom prst="round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36" name="TextBox 35">
              <a:extLst>
                <a:ext uri="{FF2B5EF4-FFF2-40B4-BE49-F238E27FC236}">
                  <a16:creationId xmlns:a16="http://schemas.microsoft.com/office/drawing/2014/main" id="{2B93EAA3-C4CF-4D89-A99F-1492286E76E7}"/>
                </a:ext>
              </a:extLst>
            </p:cNvPr>
            <p:cNvSpPr txBox="1"/>
            <p:nvPr/>
          </p:nvSpPr>
          <p:spPr>
            <a:xfrm>
              <a:off x="4572000" y="1498248"/>
              <a:ext cx="874598" cy="400109"/>
            </a:xfrm>
            <a:prstGeom prst="rect">
              <a:avLst/>
            </a:prstGeom>
            <a:noFill/>
          </p:spPr>
          <p:txBody>
            <a:bodyPr wrap="none" rtlCol="0">
              <a:spAutoFit/>
            </a:bodyPr>
            <a:lstStyle/>
            <a:p>
              <a:r>
                <a:rPr lang="en-GB" sz="1350">
                  <a:solidFill>
                    <a:srgbClr val="7030A0"/>
                  </a:solidFill>
                  <a:latin typeface="Arial" panose="020B0604020202020204" pitchFamily="34" charset="0"/>
                  <a:cs typeface="Arial" panose="020B0604020202020204" pitchFamily="34" charset="0"/>
                </a:rPr>
                <a:t>codon</a:t>
              </a:r>
            </a:p>
          </p:txBody>
        </p:sp>
        <p:sp>
          <p:nvSpPr>
            <p:cNvPr id="37" name="TextBox 36">
              <a:extLst>
                <a:ext uri="{FF2B5EF4-FFF2-40B4-BE49-F238E27FC236}">
                  <a16:creationId xmlns:a16="http://schemas.microsoft.com/office/drawing/2014/main" id="{F8EB9729-3FCA-4119-94F8-FDA13A83A529}"/>
                </a:ext>
              </a:extLst>
            </p:cNvPr>
            <p:cNvSpPr txBox="1"/>
            <p:nvPr/>
          </p:nvSpPr>
          <p:spPr>
            <a:xfrm>
              <a:off x="4613013" y="2554639"/>
              <a:ext cx="874598" cy="400109"/>
            </a:xfrm>
            <a:prstGeom prst="rect">
              <a:avLst/>
            </a:prstGeom>
            <a:noFill/>
          </p:spPr>
          <p:txBody>
            <a:bodyPr wrap="none" rtlCol="0">
              <a:spAutoFit/>
            </a:bodyPr>
            <a:lstStyle/>
            <a:p>
              <a:r>
                <a:rPr lang="en-GB" sz="1350">
                  <a:solidFill>
                    <a:srgbClr val="7030A0"/>
                  </a:solidFill>
                  <a:latin typeface="Arial" panose="020B0604020202020204" pitchFamily="34" charset="0"/>
                  <a:cs typeface="Arial" panose="020B0604020202020204" pitchFamily="34" charset="0"/>
                </a:rPr>
                <a:t>codon</a:t>
              </a:r>
            </a:p>
          </p:txBody>
        </p:sp>
        <p:sp>
          <p:nvSpPr>
            <p:cNvPr id="38" name="Rectangle: Rounded Corners 37">
              <a:extLst>
                <a:ext uri="{FF2B5EF4-FFF2-40B4-BE49-F238E27FC236}">
                  <a16:creationId xmlns:a16="http://schemas.microsoft.com/office/drawing/2014/main" id="{FF847FB6-4AF9-4B55-8BBF-7138C333985C}"/>
                </a:ext>
              </a:extLst>
            </p:cNvPr>
            <p:cNvSpPr/>
            <p:nvPr/>
          </p:nvSpPr>
          <p:spPr>
            <a:xfrm>
              <a:off x="5410039" y="3340260"/>
              <a:ext cx="432048" cy="938750"/>
            </a:xfrm>
            <a:prstGeom prst="roundRect">
              <a:avLst/>
            </a:prstGeom>
            <a:noFill/>
            <a:ln>
              <a:solidFill>
                <a:srgbClr val="7030A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Tree>
    <p:extLst>
      <p:ext uri="{BB962C8B-B14F-4D97-AF65-F5344CB8AC3E}">
        <p14:creationId xmlns:p14="http://schemas.microsoft.com/office/powerpoint/2010/main" val="24493817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1"/>
                                        </p:tgtEl>
                                        <p:attrNameLst>
                                          <p:attrName>style.visibility</p:attrName>
                                        </p:attrNameLst>
                                      </p:cBhvr>
                                      <p:to>
                                        <p:strVal val="visible"/>
                                      </p:to>
                                    </p:set>
                                    <p:animEffect transition="in" filter="fade">
                                      <p:cBhvr>
                                        <p:cTn id="21" dur="1000"/>
                                        <p:tgtEl>
                                          <p:spTgt spid="41"/>
                                        </p:tgtEl>
                                      </p:cBhvr>
                                    </p:animEffect>
                                    <p:anim calcmode="lin" valueType="num">
                                      <p:cBhvr>
                                        <p:cTn id="22" dur="1000" fill="hold"/>
                                        <p:tgtEl>
                                          <p:spTgt spid="41"/>
                                        </p:tgtEl>
                                        <p:attrNameLst>
                                          <p:attrName>ppt_x</p:attrName>
                                        </p:attrNameLst>
                                      </p:cBhvr>
                                      <p:tavLst>
                                        <p:tav tm="0">
                                          <p:val>
                                            <p:strVal val="#ppt_x"/>
                                          </p:val>
                                        </p:tav>
                                        <p:tav tm="100000">
                                          <p:val>
                                            <p:strVal val="#ppt_x"/>
                                          </p:val>
                                        </p:tav>
                                      </p:tavLst>
                                    </p:anim>
                                    <p:anim calcmode="lin" valueType="num">
                                      <p:cBhvr>
                                        <p:cTn id="23" dur="1000" fill="hold"/>
                                        <p:tgtEl>
                                          <p:spTgt spid="41"/>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42"/>
                                        </p:tgtEl>
                                        <p:attrNameLst>
                                          <p:attrName>style.visibility</p:attrName>
                                        </p:attrNameLst>
                                      </p:cBhvr>
                                      <p:to>
                                        <p:strVal val="visible"/>
                                      </p:to>
                                    </p:set>
                                    <p:animEffect transition="in" filter="fade">
                                      <p:cBhvr>
                                        <p:cTn id="28" dur="1000"/>
                                        <p:tgtEl>
                                          <p:spTgt spid="42"/>
                                        </p:tgtEl>
                                      </p:cBhvr>
                                    </p:animEffect>
                                    <p:anim calcmode="lin" valueType="num">
                                      <p:cBhvr>
                                        <p:cTn id="29" dur="1000" fill="hold"/>
                                        <p:tgtEl>
                                          <p:spTgt spid="42"/>
                                        </p:tgtEl>
                                        <p:attrNameLst>
                                          <p:attrName>ppt_x</p:attrName>
                                        </p:attrNameLst>
                                      </p:cBhvr>
                                      <p:tavLst>
                                        <p:tav tm="0">
                                          <p:val>
                                            <p:strVal val="#ppt_x"/>
                                          </p:val>
                                        </p:tav>
                                        <p:tav tm="100000">
                                          <p:val>
                                            <p:strVal val="#ppt_x"/>
                                          </p:val>
                                        </p:tav>
                                      </p:tavLst>
                                    </p:anim>
                                    <p:anim calcmode="lin" valueType="num">
                                      <p:cBhvr>
                                        <p:cTn id="30" dur="1000" fill="hold"/>
                                        <p:tgtEl>
                                          <p:spTgt spid="42"/>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33">
                                            <p:txEl>
                                              <p:pRg st="0" end="0"/>
                                            </p:txEl>
                                          </p:spTgt>
                                        </p:tgtEl>
                                        <p:attrNameLst>
                                          <p:attrName>style.visibility</p:attrName>
                                        </p:attrNameLst>
                                      </p:cBhvr>
                                      <p:to>
                                        <p:strVal val="visible"/>
                                      </p:to>
                                    </p:set>
                                    <p:animEffect transition="in" filter="fade">
                                      <p:cBhvr>
                                        <p:cTn id="35" dur="1000"/>
                                        <p:tgtEl>
                                          <p:spTgt spid="33">
                                            <p:txEl>
                                              <p:pRg st="0" end="0"/>
                                            </p:txEl>
                                          </p:spTgt>
                                        </p:tgtEl>
                                      </p:cBhvr>
                                    </p:animEffect>
                                    <p:anim calcmode="lin" valueType="num">
                                      <p:cBhvr>
                                        <p:cTn id="36" dur="1000" fill="hold"/>
                                        <p:tgtEl>
                                          <p:spTgt spid="33">
                                            <p:txEl>
                                              <p:pRg st="0" end="0"/>
                                            </p:txEl>
                                          </p:spTgt>
                                        </p:tgtEl>
                                        <p:attrNameLst>
                                          <p:attrName>ppt_x</p:attrName>
                                        </p:attrNameLst>
                                      </p:cBhvr>
                                      <p:tavLst>
                                        <p:tav tm="0">
                                          <p:val>
                                            <p:strVal val="#ppt_x"/>
                                          </p:val>
                                        </p:tav>
                                        <p:tav tm="100000">
                                          <p:val>
                                            <p:strVal val="#ppt_x"/>
                                          </p:val>
                                        </p:tav>
                                      </p:tavLst>
                                    </p:anim>
                                    <p:anim calcmode="lin" valueType="num">
                                      <p:cBhvr>
                                        <p:cTn id="37" dur="1000" fill="hold"/>
                                        <p:tgtEl>
                                          <p:spTgt spid="3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33">
                                            <p:txEl>
                                              <p:pRg st="2" end="2"/>
                                            </p:txEl>
                                          </p:spTgt>
                                        </p:tgtEl>
                                        <p:attrNameLst>
                                          <p:attrName>style.visibility</p:attrName>
                                        </p:attrNameLst>
                                      </p:cBhvr>
                                      <p:to>
                                        <p:strVal val="visible"/>
                                      </p:to>
                                    </p:set>
                                    <p:animEffect transition="in" filter="fade">
                                      <p:cBhvr>
                                        <p:cTn id="42" dur="1000"/>
                                        <p:tgtEl>
                                          <p:spTgt spid="33">
                                            <p:txEl>
                                              <p:pRg st="2" end="2"/>
                                            </p:txEl>
                                          </p:spTgt>
                                        </p:tgtEl>
                                      </p:cBhvr>
                                    </p:animEffect>
                                    <p:anim calcmode="lin" valueType="num">
                                      <p:cBhvr>
                                        <p:cTn id="43" dur="1000" fill="hold"/>
                                        <p:tgtEl>
                                          <p:spTgt spid="33">
                                            <p:txEl>
                                              <p:pRg st="2" end="2"/>
                                            </p:txEl>
                                          </p:spTgt>
                                        </p:tgtEl>
                                        <p:attrNameLst>
                                          <p:attrName>ppt_x</p:attrName>
                                        </p:attrNameLst>
                                      </p:cBhvr>
                                      <p:tavLst>
                                        <p:tav tm="0">
                                          <p:val>
                                            <p:strVal val="#ppt_x"/>
                                          </p:val>
                                        </p:tav>
                                        <p:tav tm="100000">
                                          <p:val>
                                            <p:strVal val="#ppt_x"/>
                                          </p:val>
                                        </p:tav>
                                      </p:tavLst>
                                    </p:anim>
                                    <p:anim calcmode="lin" valueType="num">
                                      <p:cBhvr>
                                        <p:cTn id="44" dur="1000" fill="hold"/>
                                        <p:tgtEl>
                                          <p:spTgt spid="3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protein synthesis</a:t>
            </a:r>
          </a:p>
        </p:txBody>
      </p:sp>
      <p:sp>
        <p:nvSpPr>
          <p:cNvPr id="4" name="Text Placeholder 3"/>
          <p:cNvSpPr>
            <a:spLocks noGrp="1"/>
          </p:cNvSpPr>
          <p:nvPr>
            <p:ph type="body" sz="quarter" idx="14"/>
          </p:nvPr>
        </p:nvSpPr>
        <p:spPr>
          <a:xfrm>
            <a:off x="457200" y="1135626"/>
            <a:ext cx="8062912" cy="4874738"/>
          </a:xfrm>
        </p:spPr>
        <p:txBody>
          <a:bodyPr>
            <a:normAutofit/>
          </a:bodyPr>
          <a:lstStyle/>
          <a:p>
            <a:pPr marL="236538" indent="-236538">
              <a:buFont typeface="Arial" pitchFamily="34" charset="0"/>
              <a:buChar char="•"/>
            </a:pPr>
            <a:r>
              <a:rPr lang="en-US" sz="2800" dirty="0"/>
              <a:t>Decodes mRNA to produce a polypeptide</a:t>
            </a:r>
          </a:p>
          <a:p>
            <a:pPr marL="236538" indent="-236538">
              <a:buFont typeface="Arial" pitchFamily="34" charset="0"/>
              <a:buChar char="•"/>
            </a:pPr>
            <a:r>
              <a:rPr lang="en-US" sz="2800" dirty="0"/>
              <a:t>Polypeptides are formed when the amino group of one amino acid forms an amide (i.e., peptide) bond with the carboxyl group of another amino acid.</a:t>
            </a:r>
          </a:p>
          <a:p>
            <a:pPr marL="236538" indent="-236538">
              <a:buFont typeface="Arial" pitchFamily="34" charset="0"/>
              <a:buChar char="•"/>
            </a:pPr>
            <a:r>
              <a:rPr lang="en-US" sz="2800" dirty="0"/>
              <a:t>The reaction is catalyzed by ribosomes.</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pPr algn="ctr"/>
            <a:r>
              <a:rPr lang="en-US" dirty="0"/>
              <a:t>Peptide Bond</a:t>
            </a:r>
          </a:p>
        </p:txBody>
      </p:sp>
      <p:pic>
        <p:nvPicPr>
          <p:cNvPr id="2" name="Picture Placeholder 1" descr="Figure_15_06_01.jp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32821" r="-32821"/>
          <a:stretch>
            <a:fillRect/>
          </a:stretch>
        </p:blipFill>
        <p:spPr/>
      </p:pic>
      <p:sp>
        <p:nvSpPr>
          <p:cNvPr id="7" name="Text Placeholder 6"/>
          <p:cNvSpPr>
            <a:spLocks noGrp="1"/>
          </p:cNvSpPr>
          <p:nvPr>
            <p:ph type="body" sz="quarter" idx="14"/>
          </p:nvPr>
        </p:nvSpPr>
        <p:spPr/>
        <p:txBody>
          <a:bodyPr>
            <a:normAutofit/>
          </a:bodyPr>
          <a:lstStyle/>
          <a:p>
            <a:r>
              <a:rPr lang="en-US" sz="1600" dirty="0"/>
              <a:t>A peptide bond links the carboxyl end of one amino acid with the amino end of another, expelling one water molecule. For simplicity in this image, only the functional groups involved in the peptide bond are shown. The R and R' designations refer to the rest of each amino acid structure.</a:t>
            </a:r>
          </a:p>
        </p:txBody>
      </p:sp>
    </p:spTree>
    <p:extLst>
      <p:ext uri="{BB962C8B-B14F-4D97-AF65-F5344CB8AC3E}">
        <p14:creationId xmlns:p14="http://schemas.microsoft.com/office/powerpoint/2010/main" val="61219887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Translation Process</a:t>
            </a:r>
          </a:p>
        </p:txBody>
      </p:sp>
      <p:sp>
        <p:nvSpPr>
          <p:cNvPr id="4" name="Text Placeholder 3"/>
          <p:cNvSpPr>
            <a:spLocks noGrp="1"/>
          </p:cNvSpPr>
          <p:nvPr>
            <p:ph type="body" sz="quarter" idx="14"/>
          </p:nvPr>
        </p:nvSpPr>
        <p:spPr>
          <a:xfrm>
            <a:off x="457200" y="1135626"/>
            <a:ext cx="8062912" cy="4874738"/>
          </a:xfrm>
        </p:spPr>
        <p:txBody>
          <a:bodyPr>
            <a:normAutofit lnSpcReduction="10000"/>
          </a:bodyPr>
          <a:lstStyle/>
          <a:p>
            <a:r>
              <a:rPr lang="en-US" sz="2400" dirty="0"/>
              <a:t>Initiation</a:t>
            </a:r>
          </a:p>
          <a:p>
            <a:pPr lvl="2"/>
            <a:r>
              <a:rPr lang="en-US" sz="2000" dirty="0"/>
              <a:t>mRNA attaches to the smaller subunit of the ribosome</a:t>
            </a:r>
          </a:p>
          <a:p>
            <a:pPr lvl="2"/>
            <a:r>
              <a:rPr lang="en-US" sz="2000" dirty="0"/>
              <a:t>AUG is the start codon – a </a:t>
            </a:r>
            <a:r>
              <a:rPr lang="en-US" sz="2000" dirty="0" err="1"/>
              <a:t>tRNA</a:t>
            </a:r>
            <a:r>
              <a:rPr lang="en-US" sz="2000" dirty="0"/>
              <a:t> with the appropriate anticodon attaches</a:t>
            </a:r>
          </a:p>
          <a:p>
            <a:pPr lvl="2"/>
            <a:r>
              <a:rPr lang="en-US" sz="2000" dirty="0"/>
              <a:t>The larger subunit of the ribosome then comes in</a:t>
            </a:r>
          </a:p>
          <a:p>
            <a:r>
              <a:rPr lang="en-US" sz="2400" dirty="0"/>
              <a:t>Elongation</a:t>
            </a:r>
          </a:p>
          <a:p>
            <a:pPr lvl="2"/>
            <a:r>
              <a:rPr lang="en-US" sz="2000" dirty="0" err="1"/>
              <a:t>tRNAs</a:t>
            </a:r>
            <a:r>
              <a:rPr lang="en-US" sz="2000" dirty="0"/>
              <a:t> move in with the appropriate amino acid, the amino acid chain grows using </a:t>
            </a:r>
            <a:r>
              <a:rPr lang="en-US" sz="2000" dirty="0" err="1"/>
              <a:t>peptidyl</a:t>
            </a:r>
            <a:r>
              <a:rPr lang="en-US" sz="2000" dirty="0"/>
              <a:t> </a:t>
            </a:r>
            <a:r>
              <a:rPr lang="en-US" sz="2000" dirty="0" err="1"/>
              <a:t>transferase</a:t>
            </a:r>
            <a:endParaRPr lang="en-US" sz="2000" dirty="0"/>
          </a:p>
          <a:p>
            <a:r>
              <a:rPr lang="en-US" sz="2400" dirty="0"/>
              <a:t>Termination</a:t>
            </a:r>
          </a:p>
          <a:p>
            <a:pPr lvl="2"/>
            <a:r>
              <a:rPr lang="en-US" sz="2000" dirty="0"/>
              <a:t>Stop codon is reached</a:t>
            </a:r>
          </a:p>
          <a:p>
            <a:pPr lvl="2"/>
            <a:r>
              <a:rPr lang="en-US" sz="2000" dirty="0"/>
              <a:t>The amino acid chain then is processed</a:t>
            </a:r>
          </a:p>
          <a:p>
            <a:pPr lvl="4"/>
            <a:r>
              <a:rPr lang="en-US" sz="2000" dirty="0"/>
              <a:t>In eukaryotes, the amino acid chain moves into the endoplasmic reticulum to be further processed</a:t>
            </a:r>
          </a:p>
          <a:p>
            <a:pPr marL="236538" indent="-236538">
              <a:buFont typeface="Arial" pitchFamily="34" charset="0"/>
              <a:buChar char="•"/>
            </a:pPr>
            <a:endParaRPr lang="en-US" sz="2800" dirty="0"/>
          </a:p>
        </p:txBody>
      </p:sp>
    </p:spTree>
    <p:extLst>
      <p:ext uri="{BB962C8B-B14F-4D97-AF65-F5344CB8AC3E}">
        <p14:creationId xmlns:p14="http://schemas.microsoft.com/office/powerpoint/2010/main" val="10522708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2" descr="Image result for genetic code and protein synthesis">
            <a:extLst>
              <a:ext uri="{FF2B5EF4-FFF2-40B4-BE49-F238E27FC236}">
                <a16:creationId xmlns:a16="http://schemas.microsoft.com/office/drawing/2014/main" id="{39312F26-C7FE-4319-8FA5-31AC135B46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8020" y="1229710"/>
            <a:ext cx="7754430" cy="5169620"/>
          </a:xfrm>
          <a:prstGeom prst="rect">
            <a:avLst/>
          </a:prstGeom>
          <a:noFill/>
          <a:extLst>
            <a:ext uri="{909E8E84-426E-40DD-AFC4-6F175D3DCCD1}">
              <a14:hiddenFill xmlns:a14="http://schemas.microsoft.com/office/drawing/2010/main">
                <a:solidFill>
                  <a:srgbClr val="FFFFFF"/>
                </a:solidFill>
              </a14:hiddenFill>
            </a:ext>
          </a:extLst>
        </p:spPr>
      </p:pic>
      <p:sp>
        <p:nvSpPr>
          <p:cNvPr id="3" name="Title 1">
            <a:extLst>
              <a:ext uri="{FF2B5EF4-FFF2-40B4-BE49-F238E27FC236}">
                <a16:creationId xmlns:a16="http://schemas.microsoft.com/office/drawing/2014/main" id="{553FA09A-90FA-4845-8718-5FA8B6E0AE59}"/>
              </a:ext>
            </a:extLst>
          </p:cNvPr>
          <p:cNvSpPr txBox="1">
            <a:spLocks/>
          </p:cNvSpPr>
          <p:nvPr/>
        </p:nvSpPr>
        <p:spPr>
          <a:xfrm>
            <a:off x="3513252" y="458670"/>
            <a:ext cx="2635299"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3600" dirty="0">
                <a:solidFill>
                  <a:srgbClr val="FF0000"/>
                </a:solidFill>
                <a:latin typeface="Arial" panose="020B0604020202020204" pitchFamily="34" charset="0"/>
                <a:cs typeface="Arial" panose="020B0604020202020204" pitchFamily="34" charset="0"/>
              </a:rPr>
              <a:t>Translation</a:t>
            </a:r>
          </a:p>
        </p:txBody>
      </p:sp>
    </p:spTree>
    <p:extLst>
      <p:ext uri="{BB962C8B-B14F-4D97-AF65-F5344CB8AC3E}">
        <p14:creationId xmlns:p14="http://schemas.microsoft.com/office/powerpoint/2010/main" val="8527321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13A51-0A4F-AC48-9421-E6FC96066845}"/>
              </a:ext>
            </a:extLst>
          </p:cNvPr>
          <p:cNvSpPr>
            <a:spLocks noGrp="1"/>
          </p:cNvSpPr>
          <p:nvPr>
            <p:ph type="title"/>
          </p:nvPr>
        </p:nvSpPr>
        <p:spPr/>
        <p:txBody>
          <a:bodyPr/>
          <a:lstStyle/>
          <a:p>
            <a:r>
              <a:rPr lang="en-US" dirty="0"/>
              <a:t>Protein Synthesis</a:t>
            </a:r>
          </a:p>
        </p:txBody>
      </p:sp>
      <p:pic>
        <p:nvPicPr>
          <p:cNvPr id="12" name="Picture 11" descr="Illustration shows the steps of protein synthesis. First, the initiator tRNA recognizes the sequence AUG on an mRNA that is associated with the small ribosomal subunit. The large subunit then joins the complex. Next, a second tRNA is recruited at the A site. A peptide bond is formed between the first amino acid, which is at the P site, and the second amino acid, which is at the A site. The mRNA then shifts and the first tRNA is moved to the E site, where it dissociates from the ribosome. Another tRNA binds at the A site, and the process is repeated.">
            <a:extLst>
              <a:ext uri="{FF2B5EF4-FFF2-40B4-BE49-F238E27FC236}">
                <a16:creationId xmlns:a16="http://schemas.microsoft.com/office/drawing/2014/main" id="{C0014157-DFA3-7649-A81B-0E4D7B5E7C9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3768" y="1049087"/>
            <a:ext cx="3657600" cy="5168900"/>
          </a:xfrm>
          <a:prstGeom prst="rect">
            <a:avLst/>
          </a:prstGeom>
        </p:spPr>
      </p:pic>
      <p:sp>
        <p:nvSpPr>
          <p:cNvPr id="14" name="TextBox 13">
            <a:extLst>
              <a:ext uri="{FF2B5EF4-FFF2-40B4-BE49-F238E27FC236}">
                <a16:creationId xmlns:a16="http://schemas.microsoft.com/office/drawing/2014/main" id="{3AD32AB9-6D3D-2144-B5B6-FFA2B2EB2DA2}"/>
              </a:ext>
            </a:extLst>
          </p:cNvPr>
          <p:cNvSpPr txBox="1"/>
          <p:nvPr/>
        </p:nvSpPr>
        <p:spPr>
          <a:xfrm>
            <a:off x="4848727" y="1555862"/>
            <a:ext cx="3621505" cy="3970318"/>
          </a:xfrm>
          <a:prstGeom prst="rect">
            <a:avLst/>
          </a:prstGeom>
          <a:noFill/>
        </p:spPr>
        <p:txBody>
          <a:bodyPr wrap="square" rtlCol="0">
            <a:spAutoFit/>
          </a:bodyPr>
          <a:lstStyle/>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The ribosome is responsible for translating the mRNA into protein.</a:t>
            </a:r>
          </a:p>
          <a:p>
            <a:pPr marR="0" lvl="0" algn="l" defTabSz="914400" rtl="0" eaLnBrk="1" fontAlgn="auto" latinLnBrk="0" hangingPunct="1">
              <a:lnSpc>
                <a:spcPct val="100000"/>
              </a:lnSpc>
              <a:spcBef>
                <a:spcPts val="0"/>
              </a:spcBef>
              <a:spcAft>
                <a:spcPts val="0"/>
              </a:spcAft>
              <a:buClrTx/>
              <a:buSzTx/>
              <a:tabLst/>
              <a:defRPr/>
            </a:pPr>
            <a:endParaRPr lang="en-US" dirty="0">
              <a:solidFill>
                <a:prstClr val="black"/>
              </a:solidFill>
              <a:latin typeface="Arial"/>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 The ribosome consists of a large and small ribosomal subunit. Assembly of the subunits on the mRNA forms three tRNA binding sites.</a:t>
            </a:r>
          </a:p>
          <a:p>
            <a:pPr marR="0" lvl="0" algn="l" defTabSz="914400" rtl="0" eaLnBrk="1" fontAlgn="auto" latinLnBrk="0" hangingPunct="1">
              <a:lnSpc>
                <a:spcPct val="100000"/>
              </a:lnSpc>
              <a:spcBef>
                <a:spcPts val="0"/>
              </a:spcBef>
              <a:spcAft>
                <a:spcPts val="0"/>
              </a:spcAft>
              <a:buClrTx/>
              <a:buSzTx/>
              <a:tabLst/>
              <a:defRPr/>
            </a:pPr>
            <a:endParaRPr lang="en-US" dirty="0">
              <a:solidFill>
                <a:prstClr val="black"/>
              </a:solidFill>
              <a:latin typeface="Arial"/>
            </a:endParaRPr>
          </a:p>
          <a:p>
            <a:pPr marR="0" lvl="0" algn="l" defTabSz="914400" rtl="0" eaLnBrk="1" fontAlgn="auto" latinLnBrk="0" hangingPunct="1">
              <a:lnSpc>
                <a:spcPct val="100000"/>
              </a:lnSpc>
              <a:spcBef>
                <a:spcPts val="0"/>
              </a:spcBef>
              <a:spcAft>
                <a:spcPts val="0"/>
              </a:spcAft>
              <a:buClrTx/>
              <a:buSzTx/>
              <a:tabLst/>
              <a:defRPr/>
            </a:pPr>
            <a:r>
              <a:rPr kumimoji="0" lang="en-US" sz="1800" b="0" i="0" u="none" strike="noStrike" kern="1200" cap="none" spc="0" normalizeH="0" baseline="0" noProof="0" dirty="0">
                <a:ln>
                  <a:noFill/>
                </a:ln>
                <a:solidFill>
                  <a:prstClr val="black"/>
                </a:solidFill>
                <a:effectLst/>
                <a:uLnTx/>
                <a:uFillTx/>
                <a:latin typeface="Arial"/>
                <a:ea typeface="+mn-ea"/>
                <a:cs typeface="+mn-cs"/>
              </a:rPr>
              <a:t> During translation, charged tRNAs enter the Acceptor site, and the anticodon on the tRNA base pairs with the codon in the mRNA. </a:t>
            </a:r>
          </a:p>
        </p:txBody>
      </p:sp>
    </p:spTree>
    <p:extLst>
      <p:ext uri="{BB962C8B-B14F-4D97-AF65-F5344CB8AC3E}">
        <p14:creationId xmlns:p14="http://schemas.microsoft.com/office/powerpoint/2010/main" val="371387586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Picture Placeholder 1" descr="Figure_15_06_02.png"/>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6628" r="-16628"/>
          <a:stretch>
            <a:fillRect/>
          </a:stretch>
        </p:blipFill>
        <p:spPr>
          <a:xfrm>
            <a:off x="4102694" y="241326"/>
            <a:ext cx="4858290" cy="6335486"/>
          </a:xfrm>
        </p:spPr>
      </p:pic>
      <p:sp>
        <p:nvSpPr>
          <p:cNvPr id="3" name="Title 2"/>
          <p:cNvSpPr>
            <a:spLocks noGrp="1"/>
          </p:cNvSpPr>
          <p:nvPr>
            <p:ph type="title"/>
          </p:nvPr>
        </p:nvSpPr>
        <p:spPr/>
        <p:txBody>
          <a:bodyPr/>
          <a:lstStyle/>
          <a:p>
            <a:r>
              <a:rPr lang="en-US" dirty="0"/>
              <a:t>Translation Process</a:t>
            </a:r>
          </a:p>
        </p:txBody>
      </p:sp>
    </p:spTree>
    <p:extLst>
      <p:ext uri="{BB962C8B-B14F-4D97-AF65-F5344CB8AC3E}">
        <p14:creationId xmlns:p14="http://schemas.microsoft.com/office/powerpoint/2010/main" val="26348511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7EA6A-F1BA-4F6D-B2F2-2637C57C963D}"/>
              </a:ext>
            </a:extLst>
          </p:cNvPr>
          <p:cNvSpPr txBox="1">
            <a:spLocks/>
          </p:cNvSpPr>
          <p:nvPr/>
        </p:nvSpPr>
        <p:spPr>
          <a:xfrm>
            <a:off x="2141730" y="998730"/>
            <a:ext cx="4860540" cy="37804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Ribosomes and Protein Synthesis</a:t>
            </a:r>
          </a:p>
        </p:txBody>
      </p:sp>
      <p:sp>
        <p:nvSpPr>
          <p:cNvPr id="3" name="Rectangle 2">
            <a:extLst>
              <a:ext uri="{FF2B5EF4-FFF2-40B4-BE49-F238E27FC236}">
                <a16:creationId xmlns:a16="http://schemas.microsoft.com/office/drawing/2014/main" id="{8D376380-46E2-43FA-BB2D-D72BC35F3BF1}"/>
              </a:ext>
            </a:extLst>
          </p:cNvPr>
          <p:cNvSpPr/>
          <p:nvPr/>
        </p:nvSpPr>
        <p:spPr>
          <a:xfrm>
            <a:off x="1169622" y="1484785"/>
            <a:ext cx="6804756" cy="1272143"/>
          </a:xfrm>
          <a:prstGeom prst="rect">
            <a:avLst/>
          </a:prstGeom>
        </p:spPr>
        <p:txBody>
          <a:bodyPr wrap="square">
            <a:spAutoFit/>
          </a:bodyPr>
          <a:lstStyle/>
          <a:p>
            <a:pPr algn="just">
              <a:spcBef>
                <a:spcPts val="450"/>
              </a:spcBef>
              <a:spcAft>
                <a:spcPts val="450"/>
              </a:spcAft>
            </a:pPr>
            <a:r>
              <a:rPr lang="en-GB" sz="1500">
                <a:solidFill>
                  <a:srgbClr val="7030A0"/>
                </a:solidFill>
                <a:latin typeface="Arial" panose="020B0604020202020204" pitchFamily="34" charset="0"/>
                <a:cs typeface="Arial" panose="020B0604020202020204" pitchFamily="34" charset="0"/>
              </a:rPr>
              <a:t>Ribosomes</a:t>
            </a:r>
            <a:r>
              <a:rPr lang="en-GB" sz="1500">
                <a:solidFill>
                  <a:srgbClr val="333333"/>
                </a:solidFill>
                <a:latin typeface="Arial" panose="020B0604020202020204" pitchFamily="34" charset="0"/>
                <a:cs typeface="Arial" panose="020B0604020202020204" pitchFamily="34" charset="0"/>
              </a:rPr>
              <a:t> </a:t>
            </a:r>
            <a:r>
              <a:rPr lang="en-GB" sz="1500">
                <a:latin typeface="Arial" panose="020B0604020202020204" pitchFamily="34" charset="0"/>
                <a:cs typeface="Arial" panose="020B0604020202020204" pitchFamily="34" charset="0"/>
              </a:rPr>
              <a:t>are the sites in a cell in which protein synthesis takes place;</a:t>
            </a:r>
          </a:p>
          <a:p>
            <a:pPr algn="just">
              <a:spcBef>
                <a:spcPts val="450"/>
              </a:spcBef>
              <a:spcAft>
                <a:spcPts val="450"/>
              </a:spcAft>
            </a:pPr>
            <a:r>
              <a:rPr lang="en-GB" sz="1500">
                <a:latin typeface="Arial" panose="020B0604020202020204" pitchFamily="34" charset="0"/>
                <a:cs typeface="Arial" panose="020B0604020202020204" pitchFamily="34" charset="0"/>
              </a:rPr>
              <a:t>Cells have many ribosomes, and the exact number depends on how active a particular cell is in synthesising proteins;</a:t>
            </a:r>
          </a:p>
          <a:p>
            <a:pPr algn="just">
              <a:spcBef>
                <a:spcPts val="450"/>
              </a:spcBef>
              <a:spcAft>
                <a:spcPts val="450"/>
              </a:spcAft>
            </a:pPr>
            <a:r>
              <a:rPr lang="en-GB" sz="1500">
                <a:latin typeface="Arial" panose="020B0604020202020204" pitchFamily="34" charset="0"/>
                <a:cs typeface="Arial" panose="020B0604020202020204" pitchFamily="34" charset="0"/>
              </a:rPr>
              <a:t>For example, rapidly growing cells usually have a large number of ribosomes; </a:t>
            </a:r>
          </a:p>
        </p:txBody>
      </p:sp>
      <p:grpSp>
        <p:nvGrpSpPr>
          <p:cNvPr id="7" name="Group 6">
            <a:extLst>
              <a:ext uri="{FF2B5EF4-FFF2-40B4-BE49-F238E27FC236}">
                <a16:creationId xmlns:a16="http://schemas.microsoft.com/office/drawing/2014/main" id="{AB4F3F20-25ED-4373-9CA2-2C33B59C32B1}"/>
              </a:ext>
            </a:extLst>
          </p:cNvPr>
          <p:cNvGrpSpPr/>
          <p:nvPr/>
        </p:nvGrpSpPr>
        <p:grpSpPr>
          <a:xfrm>
            <a:off x="1358643" y="2871301"/>
            <a:ext cx="6426714" cy="2557008"/>
            <a:chOff x="287524" y="2685401"/>
            <a:chExt cx="8568952" cy="3409344"/>
          </a:xfrm>
        </p:grpSpPr>
        <p:grpSp>
          <p:nvGrpSpPr>
            <p:cNvPr id="5" name="Group 4">
              <a:extLst>
                <a:ext uri="{FF2B5EF4-FFF2-40B4-BE49-F238E27FC236}">
                  <a16:creationId xmlns:a16="http://schemas.microsoft.com/office/drawing/2014/main" id="{38D4B1E2-5FAC-4BD4-869B-BFE8A5535432}"/>
                </a:ext>
              </a:extLst>
            </p:cNvPr>
            <p:cNvGrpSpPr/>
            <p:nvPr/>
          </p:nvGrpSpPr>
          <p:grpSpPr>
            <a:xfrm>
              <a:off x="287524" y="2685401"/>
              <a:ext cx="8568952" cy="3409344"/>
              <a:chOff x="791580" y="2467928"/>
              <a:chExt cx="7560840" cy="2606427"/>
            </a:xfrm>
          </p:grpSpPr>
          <p:pic>
            <p:nvPicPr>
              <p:cNvPr id="1026" name="Picture 2" descr="Related image">
                <a:extLst>
                  <a:ext uri="{FF2B5EF4-FFF2-40B4-BE49-F238E27FC236}">
                    <a16:creationId xmlns:a16="http://schemas.microsoft.com/office/drawing/2014/main" id="{44ADC742-48F4-4585-A7EF-7BA27D19E8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1580" y="2467928"/>
                <a:ext cx="7560840" cy="2606427"/>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Rounded Corners 3">
                <a:extLst>
                  <a:ext uri="{FF2B5EF4-FFF2-40B4-BE49-F238E27FC236}">
                    <a16:creationId xmlns:a16="http://schemas.microsoft.com/office/drawing/2014/main" id="{F55D351C-16A3-44E2-A927-9A2B859E4D4D}"/>
                  </a:ext>
                </a:extLst>
              </p:cNvPr>
              <p:cNvSpPr/>
              <p:nvPr/>
            </p:nvSpPr>
            <p:spPr>
              <a:xfrm>
                <a:off x="4067944" y="4653136"/>
                <a:ext cx="1152128" cy="288032"/>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
          <p:nvSpPr>
            <p:cNvPr id="6" name="TextBox 5">
              <a:extLst>
                <a:ext uri="{FF2B5EF4-FFF2-40B4-BE49-F238E27FC236}">
                  <a16:creationId xmlns:a16="http://schemas.microsoft.com/office/drawing/2014/main" id="{2DF8C170-B9CA-407A-BEFF-D8EC26C03164}"/>
                </a:ext>
              </a:extLst>
            </p:cNvPr>
            <p:cNvSpPr txBox="1"/>
            <p:nvPr/>
          </p:nvSpPr>
          <p:spPr>
            <a:xfrm>
              <a:off x="6804248" y="3501008"/>
              <a:ext cx="810479" cy="400109"/>
            </a:xfrm>
            <a:prstGeom prst="rect">
              <a:avLst/>
            </a:prstGeom>
            <a:noFill/>
          </p:spPr>
          <p:txBody>
            <a:bodyPr wrap="none" rtlCol="0">
              <a:spAutoFit/>
            </a:bodyPr>
            <a:lstStyle/>
            <a:p>
              <a:r>
                <a:rPr lang="en-GB" sz="1350">
                  <a:solidFill>
                    <a:srgbClr val="C00000"/>
                  </a:solidFill>
                </a:rPr>
                <a:t>(DNA)</a:t>
              </a:r>
            </a:p>
          </p:txBody>
        </p:sp>
        <p:sp>
          <p:nvSpPr>
            <p:cNvPr id="8" name="TextBox 7">
              <a:extLst>
                <a:ext uri="{FF2B5EF4-FFF2-40B4-BE49-F238E27FC236}">
                  <a16:creationId xmlns:a16="http://schemas.microsoft.com/office/drawing/2014/main" id="{2EA822EC-9AB9-48E4-893A-E55683B1BC9C}"/>
                </a:ext>
              </a:extLst>
            </p:cNvPr>
            <p:cNvSpPr txBox="1"/>
            <p:nvPr/>
          </p:nvSpPr>
          <p:spPr>
            <a:xfrm>
              <a:off x="683568" y="4020741"/>
              <a:ext cx="810479" cy="400109"/>
            </a:xfrm>
            <a:prstGeom prst="rect">
              <a:avLst/>
            </a:prstGeom>
            <a:noFill/>
          </p:spPr>
          <p:txBody>
            <a:bodyPr wrap="none" rtlCol="0">
              <a:spAutoFit/>
            </a:bodyPr>
            <a:lstStyle/>
            <a:p>
              <a:r>
                <a:rPr lang="en-GB" sz="1350">
                  <a:solidFill>
                    <a:srgbClr val="C00000"/>
                  </a:solidFill>
                </a:rPr>
                <a:t>(DNA)</a:t>
              </a:r>
            </a:p>
          </p:txBody>
        </p:sp>
      </p:grpSp>
    </p:spTree>
    <p:extLst>
      <p:ext uri="{BB962C8B-B14F-4D97-AF65-F5344CB8AC3E}">
        <p14:creationId xmlns:p14="http://schemas.microsoft.com/office/powerpoint/2010/main" val="4163752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1000"/>
                                        <p:tgtEl>
                                          <p:spTgt spid="7"/>
                                        </p:tgtEl>
                                      </p:cBhvr>
                                    </p:animEffect>
                                    <p:anim calcmode="lin" valueType="num">
                                      <p:cBhvr>
                                        <p:cTn id="22" dur="1000" fill="hold"/>
                                        <p:tgtEl>
                                          <p:spTgt spid="7"/>
                                        </p:tgtEl>
                                        <p:attrNameLst>
                                          <p:attrName>ppt_x</p:attrName>
                                        </p:attrNameLst>
                                      </p:cBhvr>
                                      <p:tavLst>
                                        <p:tav tm="0">
                                          <p:val>
                                            <p:strVal val="#ppt_x"/>
                                          </p:val>
                                        </p:tav>
                                        <p:tav tm="100000">
                                          <p:val>
                                            <p:strVal val="#ppt_x"/>
                                          </p:val>
                                        </p:tav>
                                      </p:tavLst>
                                    </p:anim>
                                    <p:anim calcmode="lin" valueType="num">
                                      <p:cBhvr>
                                        <p:cTn id="2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2" end="2"/>
                                            </p:txEl>
                                          </p:spTgt>
                                        </p:tgtEl>
                                        <p:attrNameLst>
                                          <p:attrName>style.visibility</p:attrName>
                                        </p:attrNameLst>
                                      </p:cBhvr>
                                      <p:to>
                                        <p:strVal val="visible"/>
                                      </p:to>
                                    </p:set>
                                    <p:animEffect transition="in" filter="fade">
                                      <p:cBhvr>
                                        <p:cTn id="28" dur="1000"/>
                                        <p:tgtEl>
                                          <p:spTgt spid="3">
                                            <p:txEl>
                                              <p:pRg st="2" end="2"/>
                                            </p:txEl>
                                          </p:spTgt>
                                        </p:tgtEl>
                                      </p:cBhvr>
                                    </p:animEffect>
                                    <p:anim calcmode="lin" valueType="num">
                                      <p:cBhvr>
                                        <p:cTn id="29"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8FEBDE7-3186-4759-863C-36B618B5CA5B}"/>
              </a:ext>
            </a:extLst>
          </p:cNvPr>
          <p:cNvSpPr/>
          <p:nvPr/>
        </p:nvSpPr>
        <p:spPr>
          <a:xfrm>
            <a:off x="1164477" y="1430779"/>
            <a:ext cx="6804756" cy="1685077"/>
          </a:xfrm>
          <a:prstGeom prst="rect">
            <a:avLst/>
          </a:prstGeom>
        </p:spPr>
        <p:txBody>
          <a:bodyPr wrap="square">
            <a:spAutoFit/>
          </a:bodyPr>
          <a:lstStyle/>
          <a:p>
            <a:pPr algn="just"/>
            <a:r>
              <a:rPr lang="en-GB" sz="1500">
                <a:latin typeface="Arial" panose="020B0604020202020204" pitchFamily="34" charset="0"/>
                <a:cs typeface="Arial" panose="020B0604020202020204" pitchFamily="34" charset="0"/>
              </a:rPr>
              <a:t>Ribosomal subunits proceed to attract </a:t>
            </a:r>
            <a:r>
              <a:rPr lang="en-GB" sz="1500" err="1">
                <a:latin typeface="Arial" panose="020B0604020202020204" pitchFamily="34" charset="0"/>
                <a:cs typeface="Arial" panose="020B0604020202020204" pitchFamily="34" charset="0"/>
              </a:rPr>
              <a:t>tRNA</a:t>
            </a:r>
            <a:r>
              <a:rPr lang="en-GB" sz="1500">
                <a:latin typeface="Arial" panose="020B0604020202020204" pitchFamily="34" charset="0"/>
                <a:cs typeface="Arial" panose="020B0604020202020204" pitchFamily="34" charset="0"/>
              </a:rPr>
              <a:t> molecules;</a:t>
            </a:r>
          </a:p>
          <a:p>
            <a:pPr algn="just"/>
            <a:endParaRPr lang="en-GB" sz="1350"/>
          </a:p>
          <a:p>
            <a:pPr algn="just"/>
            <a:r>
              <a:rPr lang="en-GB" sz="1500">
                <a:solidFill>
                  <a:srgbClr val="0070C0"/>
                </a:solidFill>
                <a:latin typeface="Arial" panose="020B0604020202020204" pitchFamily="34" charset="0"/>
                <a:cs typeface="Arial" panose="020B0604020202020204" pitchFamily="34" charset="0"/>
              </a:rPr>
              <a:t>Transfer ribonucleic acid</a:t>
            </a:r>
            <a:r>
              <a:rPr lang="en-GB" sz="1500">
                <a:latin typeface="Arial" panose="020B0604020202020204" pitchFamily="34" charset="0"/>
                <a:cs typeface="Arial" panose="020B0604020202020204" pitchFamily="34" charset="0"/>
              </a:rPr>
              <a:t>, </a:t>
            </a:r>
            <a:r>
              <a:rPr lang="en-GB" sz="1500">
                <a:solidFill>
                  <a:srgbClr val="0070C0"/>
                </a:solidFill>
                <a:latin typeface="Arial" panose="020B0604020202020204" pitchFamily="34" charset="0"/>
                <a:cs typeface="Arial" panose="020B0604020202020204" pitchFamily="34" charset="0"/>
              </a:rPr>
              <a:t>tRNA</a:t>
            </a:r>
            <a:r>
              <a:rPr lang="en-GB" sz="1500" b="1">
                <a:latin typeface="Arial" panose="020B0604020202020204" pitchFamily="34" charset="0"/>
                <a:cs typeface="Arial" panose="020B0604020202020204" pitchFamily="34" charset="0"/>
              </a:rPr>
              <a:t>, </a:t>
            </a:r>
            <a:r>
              <a:rPr lang="en-GB" sz="1500">
                <a:latin typeface="Arial" panose="020B0604020202020204" pitchFamily="34" charset="0"/>
                <a:cs typeface="Arial" panose="020B0604020202020204" pitchFamily="34" charset="0"/>
              </a:rPr>
              <a:t>is a type of RNA molecule that helps decode a messenger RNA (mRNA) sequence into a protein;</a:t>
            </a:r>
          </a:p>
          <a:p>
            <a:pPr algn="just"/>
            <a:endParaRPr lang="en-GB" sz="1500">
              <a:latin typeface="Arial" panose="020B0604020202020204" pitchFamily="34" charset="0"/>
              <a:cs typeface="Arial" panose="020B0604020202020204" pitchFamily="34" charset="0"/>
            </a:endParaRPr>
          </a:p>
          <a:p>
            <a:pPr algn="just"/>
            <a:r>
              <a:rPr lang="en-GB" sz="1500">
                <a:latin typeface="Arial" panose="020B0604020202020204" pitchFamily="34" charset="0"/>
                <a:cs typeface="Arial" panose="020B0604020202020204" pitchFamily="34" charset="0"/>
              </a:rPr>
              <a:t>A long chain of amino acids emerges as the ribosome decodes the mRNA sequence into a polypeptide, or a new protein;</a:t>
            </a:r>
          </a:p>
        </p:txBody>
      </p:sp>
      <p:sp>
        <p:nvSpPr>
          <p:cNvPr id="3" name="Title 1">
            <a:extLst>
              <a:ext uri="{FF2B5EF4-FFF2-40B4-BE49-F238E27FC236}">
                <a16:creationId xmlns:a16="http://schemas.microsoft.com/office/drawing/2014/main" id="{658D32E8-BB0A-41A9-AB7A-68783901E8C2}"/>
              </a:ext>
            </a:extLst>
          </p:cNvPr>
          <p:cNvSpPr txBox="1">
            <a:spLocks/>
          </p:cNvSpPr>
          <p:nvPr/>
        </p:nvSpPr>
        <p:spPr>
          <a:xfrm>
            <a:off x="2168733" y="364553"/>
            <a:ext cx="4752528" cy="378042"/>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dirty="0">
                <a:solidFill>
                  <a:srgbClr val="FF0000"/>
                </a:solidFill>
                <a:latin typeface="Arial" panose="020B0604020202020204" pitchFamily="34" charset="0"/>
                <a:cs typeface="Arial" panose="020B0604020202020204" pitchFamily="34" charset="0"/>
              </a:rPr>
              <a:t>Ribosomes and Protein Synthesis</a:t>
            </a:r>
          </a:p>
        </p:txBody>
      </p:sp>
      <p:pic>
        <p:nvPicPr>
          <p:cNvPr id="14338" name="Picture 2" descr="Image result for trna">
            <a:extLst>
              <a:ext uri="{FF2B5EF4-FFF2-40B4-BE49-F238E27FC236}">
                <a16:creationId xmlns:a16="http://schemas.microsoft.com/office/drawing/2014/main" id="{10E87CB2-A1B3-491B-8213-8297ECDE34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23628" y="3158970"/>
            <a:ext cx="6642738" cy="27543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6278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4" end="4"/>
                                            </p:txEl>
                                          </p:spTgt>
                                        </p:tgtEl>
                                        <p:attrNameLst>
                                          <p:attrName>style.visibility</p:attrName>
                                        </p:attrNameLst>
                                      </p:cBhvr>
                                      <p:to>
                                        <p:strVal val="visible"/>
                                      </p:to>
                                    </p:set>
                                    <p:animEffect transition="in" filter="fade">
                                      <p:cBhvr>
                                        <p:cTn id="21" dur="1000"/>
                                        <p:tgtEl>
                                          <p:spTgt spid="2">
                                            <p:txEl>
                                              <p:pRg st="4" end="4"/>
                                            </p:txEl>
                                          </p:spTgt>
                                        </p:tgtEl>
                                      </p:cBhvr>
                                    </p:animEffect>
                                    <p:anim calcmode="lin" valueType="num">
                                      <p:cBhvr>
                                        <p:cTn id="22"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4338"/>
                                        </p:tgtEl>
                                        <p:attrNameLst>
                                          <p:attrName>style.visibility</p:attrName>
                                        </p:attrNameLst>
                                      </p:cBhvr>
                                      <p:to>
                                        <p:strVal val="visible"/>
                                      </p:to>
                                    </p:set>
                                    <p:animEffect transition="in" filter="fade">
                                      <p:cBhvr>
                                        <p:cTn id="28" dur="1000"/>
                                        <p:tgtEl>
                                          <p:spTgt spid="14338"/>
                                        </p:tgtEl>
                                      </p:cBhvr>
                                    </p:animEffect>
                                    <p:anim calcmode="lin" valueType="num">
                                      <p:cBhvr>
                                        <p:cTn id="29" dur="1000" fill="hold"/>
                                        <p:tgtEl>
                                          <p:spTgt spid="14338"/>
                                        </p:tgtEl>
                                        <p:attrNameLst>
                                          <p:attrName>ppt_x</p:attrName>
                                        </p:attrNameLst>
                                      </p:cBhvr>
                                      <p:tavLst>
                                        <p:tav tm="0">
                                          <p:val>
                                            <p:strVal val="#ppt_x"/>
                                          </p:val>
                                        </p:tav>
                                        <p:tav tm="100000">
                                          <p:val>
                                            <p:strVal val="#ppt_x"/>
                                          </p:val>
                                        </p:tav>
                                      </p:tavLst>
                                    </p:anim>
                                    <p:anim calcmode="lin" valueType="num">
                                      <p:cBhvr>
                                        <p:cTn id="30" dur="1000" fill="hold"/>
                                        <p:tgtEl>
                                          <p:spTgt spid="1433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Flowchart: Document 9">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8631" y="0"/>
            <a:ext cx="2436019"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820DF0-8E63-4851-B96A-EDAEDEF58CBF}"/>
              </a:ext>
            </a:extLst>
          </p:cNvPr>
          <p:cNvSpPr txBox="1">
            <a:spLocks/>
          </p:cNvSpPr>
          <p:nvPr/>
        </p:nvSpPr>
        <p:spPr>
          <a:xfrm>
            <a:off x="628650" y="171162"/>
            <a:ext cx="2130136" cy="2371148"/>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600"/>
              </a:spcAft>
            </a:pPr>
            <a:r>
              <a:rPr lang="en-US" sz="2800" kern="1200">
                <a:solidFill>
                  <a:srgbClr val="FFFFFF"/>
                </a:solidFill>
                <a:latin typeface="+mj-lt"/>
                <a:ea typeface="+mj-ea"/>
                <a:cs typeface="+mj-cs"/>
              </a:rPr>
              <a:t>Translation: The Genetic Code</a:t>
            </a:r>
          </a:p>
        </p:txBody>
      </p:sp>
      <p:sp>
        <p:nvSpPr>
          <p:cNvPr id="4" name="Rectangle 3">
            <a:extLst>
              <a:ext uri="{FF2B5EF4-FFF2-40B4-BE49-F238E27FC236}">
                <a16:creationId xmlns:a16="http://schemas.microsoft.com/office/drawing/2014/main" id="{4978DB99-D2E6-47C6-905A-FDAECFE6B9F1}"/>
              </a:ext>
            </a:extLst>
          </p:cNvPr>
          <p:cNvSpPr/>
          <p:nvPr/>
        </p:nvSpPr>
        <p:spPr>
          <a:xfrm>
            <a:off x="3149600" y="635000"/>
            <a:ext cx="5499100" cy="2349500"/>
          </a:xfrm>
          <a:prstGeom prst="rect">
            <a:avLst/>
          </a:prstGeom>
        </p:spPr>
        <p:txBody>
          <a:bodyPr wrap="square" anchor="t">
            <a:normAutofit/>
          </a:bodyPr>
          <a:lstStyle/>
          <a:p>
            <a:pPr>
              <a:lnSpc>
                <a:spcPct val="90000"/>
              </a:lnSpc>
              <a:spcAft>
                <a:spcPts val="600"/>
              </a:spcAft>
            </a:pPr>
            <a:r>
              <a:rPr lang="en-GB" sz="1500">
                <a:latin typeface="Arial" panose="020B0604020202020204" pitchFamily="34" charset="0"/>
              </a:rPr>
              <a:t>The </a:t>
            </a:r>
            <a:r>
              <a:rPr lang="en-GB" sz="1500">
                <a:solidFill>
                  <a:srgbClr val="0070C0"/>
                </a:solidFill>
                <a:latin typeface="Arial" panose="020B0604020202020204" pitchFamily="34" charset="0"/>
              </a:rPr>
              <a:t>genetic code </a:t>
            </a:r>
            <a:r>
              <a:rPr lang="en-GB" sz="1500">
                <a:latin typeface="Arial" panose="020B0604020202020204" pitchFamily="34" charset="0"/>
              </a:rPr>
              <a:t>translates nucleotide sequences (codons) into amino acids;</a:t>
            </a:r>
          </a:p>
          <a:p>
            <a:pPr>
              <a:lnSpc>
                <a:spcPct val="90000"/>
              </a:lnSpc>
              <a:spcAft>
                <a:spcPts val="600"/>
              </a:spcAft>
            </a:pPr>
            <a:endParaRPr lang="en-GB" sz="1500">
              <a:solidFill>
                <a:srgbClr val="21242C"/>
              </a:solidFill>
              <a:latin typeface="Arial" panose="020B0604020202020204" pitchFamily="34" charset="0"/>
              <a:cs typeface="Arial" panose="020B0604020202020204" pitchFamily="34" charset="0"/>
            </a:endParaRPr>
          </a:p>
          <a:p>
            <a:pPr>
              <a:lnSpc>
                <a:spcPct val="90000"/>
              </a:lnSpc>
              <a:spcAft>
                <a:spcPts val="600"/>
              </a:spcAft>
            </a:pPr>
            <a:r>
              <a:rPr lang="en-GB" sz="1500">
                <a:solidFill>
                  <a:srgbClr val="21242C"/>
                </a:solidFill>
                <a:latin typeface="Arial" panose="020B0604020202020204" pitchFamily="34" charset="0"/>
                <a:cs typeface="Arial" panose="020B0604020202020204" pitchFamily="34" charset="0"/>
              </a:rPr>
              <a:t>“Decoding messages” is a key step in gene expression, in which information from a gene is read out to build a protein;</a:t>
            </a:r>
          </a:p>
          <a:p>
            <a:pPr>
              <a:lnSpc>
                <a:spcPct val="90000"/>
              </a:lnSpc>
              <a:spcAft>
                <a:spcPts val="600"/>
              </a:spcAft>
            </a:pPr>
            <a:endParaRPr lang="en-GB" sz="1500">
              <a:solidFill>
                <a:srgbClr val="21242C"/>
              </a:solidFill>
              <a:latin typeface="Arial" panose="020B0604020202020204" pitchFamily="34" charset="0"/>
              <a:cs typeface="Arial" panose="020B0604020202020204" pitchFamily="34" charset="0"/>
            </a:endParaRPr>
          </a:p>
          <a:p>
            <a:pPr>
              <a:lnSpc>
                <a:spcPct val="90000"/>
              </a:lnSpc>
              <a:spcAft>
                <a:spcPts val="600"/>
              </a:spcAft>
            </a:pPr>
            <a:r>
              <a:rPr lang="en-GB" sz="1500">
                <a:solidFill>
                  <a:srgbClr val="21242C"/>
                </a:solidFill>
                <a:latin typeface="Arial" panose="020B0604020202020204" pitchFamily="34" charset="0"/>
                <a:cs typeface="Arial" panose="020B0604020202020204" pitchFamily="34" charset="0"/>
              </a:rPr>
              <a:t>The </a:t>
            </a:r>
            <a:r>
              <a:rPr lang="en-GB" sz="1500">
                <a:solidFill>
                  <a:srgbClr val="0070C0"/>
                </a:solidFill>
                <a:latin typeface="Arial" panose="020B0604020202020204" pitchFamily="34" charset="0"/>
                <a:cs typeface="Arial" panose="020B0604020202020204" pitchFamily="34" charset="0"/>
              </a:rPr>
              <a:t>genetic code </a:t>
            </a:r>
            <a:r>
              <a:rPr lang="en-GB" sz="1500">
                <a:solidFill>
                  <a:srgbClr val="21242C"/>
                </a:solidFill>
                <a:latin typeface="Arial" panose="020B0604020202020204" pitchFamily="34" charset="0"/>
                <a:cs typeface="Arial" panose="020B0604020202020204" pitchFamily="34" charset="0"/>
              </a:rPr>
              <a:t>allows DNA and RNA sequences to be "decoded" into the amino acids of a protein;</a:t>
            </a:r>
            <a:endParaRPr lang="en-GB" sz="150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FC01B478-2503-4162-97D6-ADAD847D6083}"/>
              </a:ext>
            </a:extLst>
          </p:cNvPr>
          <p:cNvSpPr/>
          <p:nvPr/>
        </p:nvSpPr>
        <p:spPr>
          <a:xfrm>
            <a:off x="3149600" y="3048000"/>
            <a:ext cx="5499100" cy="3149600"/>
          </a:xfrm>
          <a:prstGeom prst="rect">
            <a:avLst/>
          </a:prstGeom>
        </p:spPr>
        <p:txBody>
          <a:bodyPr wrap="square" anchor="t">
            <a:normAutofit/>
          </a:bodyPr>
          <a:lstStyle/>
          <a:p>
            <a:pPr fontAlgn="base">
              <a:lnSpc>
                <a:spcPct val="90000"/>
              </a:lnSpc>
            </a:pPr>
            <a:r>
              <a:rPr lang="en-GB" sz="1500" b="1">
                <a:solidFill>
                  <a:srgbClr val="0070C0"/>
                </a:solidFill>
                <a:latin typeface="Arial" panose="020B0604020202020204" pitchFamily="34" charset="0"/>
                <a:cs typeface="Arial" panose="020B0604020202020204" pitchFamily="34" charset="0"/>
              </a:rPr>
              <a:t>Codons</a:t>
            </a:r>
          </a:p>
          <a:p>
            <a:pPr fontAlgn="base">
              <a:lnSpc>
                <a:spcPct val="90000"/>
              </a:lnSpc>
              <a:spcBef>
                <a:spcPts val="450"/>
              </a:spcBef>
              <a:spcAft>
                <a:spcPts val="450"/>
              </a:spcAft>
            </a:pPr>
            <a:r>
              <a:rPr lang="en-GB" sz="1500">
                <a:solidFill>
                  <a:srgbClr val="21242C"/>
                </a:solidFill>
                <a:latin typeface="Arial" panose="020B0604020202020204" pitchFamily="34" charset="0"/>
                <a:cs typeface="Arial" panose="020B0604020202020204" pitchFamily="34" charset="0"/>
              </a:rPr>
              <a:t>Cells decode mRNAs by reading their nucleotides in groups of three, called codons</a:t>
            </a:r>
            <a:r>
              <a:rPr lang="en-GB" sz="1500" b="1">
                <a:solidFill>
                  <a:srgbClr val="21242C"/>
                </a:solidFill>
                <a:latin typeface="Arial" panose="020B0604020202020204" pitchFamily="34" charset="0"/>
                <a:cs typeface="Arial" panose="020B0604020202020204" pitchFamily="34" charset="0"/>
              </a:rPr>
              <a:t>;</a:t>
            </a:r>
          </a:p>
          <a:p>
            <a:pPr fontAlgn="base">
              <a:lnSpc>
                <a:spcPct val="90000"/>
              </a:lnSpc>
              <a:spcBef>
                <a:spcPts val="450"/>
              </a:spcBef>
              <a:spcAft>
                <a:spcPts val="450"/>
              </a:spcAft>
            </a:pPr>
            <a:r>
              <a:rPr lang="en-GB" sz="1500">
                <a:solidFill>
                  <a:srgbClr val="21242C"/>
                </a:solidFill>
                <a:latin typeface="Arial" panose="020B0604020202020204" pitchFamily="34" charset="0"/>
                <a:cs typeface="Arial" panose="020B0604020202020204" pitchFamily="34" charset="0"/>
              </a:rPr>
              <a:t>Some features of codons are listed below:</a:t>
            </a:r>
          </a:p>
          <a:p>
            <a:pPr marL="257175" indent="-257175" fontAlgn="base">
              <a:lnSpc>
                <a:spcPct val="90000"/>
              </a:lnSpc>
              <a:spcBef>
                <a:spcPts val="450"/>
              </a:spcBef>
              <a:spcAft>
                <a:spcPts val="450"/>
              </a:spcAft>
              <a:buFont typeface="Wingdings" panose="05000000000000000000" pitchFamily="2" charset="2"/>
              <a:buChar char="§"/>
            </a:pPr>
            <a:r>
              <a:rPr lang="en-GB" sz="1500">
                <a:solidFill>
                  <a:srgbClr val="7030A0"/>
                </a:solidFill>
                <a:latin typeface="Arial" panose="020B0604020202020204" pitchFamily="34" charset="0"/>
                <a:cs typeface="Arial" panose="020B0604020202020204" pitchFamily="34" charset="0"/>
              </a:rPr>
              <a:t>most codons specify an amino acid;</a:t>
            </a:r>
          </a:p>
          <a:p>
            <a:pPr marL="257175" indent="-257175" fontAlgn="base">
              <a:lnSpc>
                <a:spcPct val="90000"/>
              </a:lnSpc>
              <a:spcBef>
                <a:spcPts val="450"/>
              </a:spcBef>
              <a:spcAft>
                <a:spcPts val="450"/>
              </a:spcAft>
              <a:buFont typeface="Wingdings" panose="05000000000000000000" pitchFamily="2" charset="2"/>
              <a:buChar char="§"/>
            </a:pPr>
            <a:r>
              <a:rPr lang="en-US" sz="1500">
                <a:solidFill>
                  <a:srgbClr val="7030A0"/>
                </a:solidFill>
                <a:latin typeface="Arial" panose="020B0604020202020204" pitchFamily="34" charset="0"/>
                <a:cs typeface="Arial" panose="020B0604020202020204" pitchFamily="34" charset="0"/>
              </a:rPr>
              <a:t>codons that specify the same amino acids typically differ by one nucleotide;  </a:t>
            </a:r>
            <a:endParaRPr lang="en-GB" sz="1500">
              <a:solidFill>
                <a:srgbClr val="7030A0"/>
              </a:solidFill>
              <a:latin typeface="Arial" panose="020B0604020202020204" pitchFamily="34" charset="0"/>
              <a:cs typeface="Arial" panose="020B0604020202020204" pitchFamily="34" charset="0"/>
            </a:endParaRPr>
          </a:p>
          <a:p>
            <a:pPr marL="257175" indent="-257175" fontAlgn="base">
              <a:lnSpc>
                <a:spcPct val="90000"/>
              </a:lnSpc>
              <a:spcBef>
                <a:spcPts val="450"/>
              </a:spcBef>
              <a:spcAft>
                <a:spcPts val="450"/>
              </a:spcAft>
              <a:buFont typeface="Wingdings" panose="05000000000000000000" pitchFamily="2" charset="2"/>
              <a:buChar char="§"/>
            </a:pPr>
            <a:r>
              <a:rPr lang="en-GB" sz="1500">
                <a:solidFill>
                  <a:srgbClr val="7030A0"/>
                </a:solidFill>
                <a:latin typeface="Arial" panose="020B0604020202020204" pitchFamily="34" charset="0"/>
                <a:cs typeface="Arial" panose="020B0604020202020204" pitchFamily="34" charset="0"/>
              </a:rPr>
              <a:t>three "stop" codons mark the end of a protein;</a:t>
            </a:r>
          </a:p>
          <a:p>
            <a:pPr marL="257175" indent="-257175" fontAlgn="base">
              <a:lnSpc>
                <a:spcPct val="90000"/>
              </a:lnSpc>
              <a:spcBef>
                <a:spcPts val="450"/>
              </a:spcBef>
              <a:spcAft>
                <a:spcPts val="450"/>
              </a:spcAft>
              <a:buFont typeface="Wingdings" panose="05000000000000000000" pitchFamily="2" charset="2"/>
              <a:buChar char="§"/>
            </a:pPr>
            <a:r>
              <a:rPr lang="en-GB" sz="1500">
                <a:solidFill>
                  <a:srgbClr val="7030A0"/>
                </a:solidFill>
                <a:latin typeface="Arial" panose="020B0604020202020204" pitchFamily="34" charset="0"/>
                <a:cs typeface="Arial" panose="020B0604020202020204" pitchFamily="34" charset="0"/>
              </a:rPr>
              <a:t>one "start" codon, AUG, marks the beginning of a protein and also encodes the amino acid methionine;</a:t>
            </a:r>
          </a:p>
        </p:txBody>
      </p:sp>
    </p:spTree>
    <p:extLst>
      <p:ext uri="{BB962C8B-B14F-4D97-AF65-F5344CB8AC3E}">
        <p14:creationId xmlns:p14="http://schemas.microsoft.com/office/powerpoint/2010/main" val="26675820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1000"/>
                                        <p:tgtEl>
                                          <p:spTgt spid="4">
                                            <p:txEl>
                                              <p:pRg st="0" end="0"/>
                                            </p:txEl>
                                          </p:spTgt>
                                        </p:tgtEl>
                                      </p:cBhvr>
                                    </p:animEffect>
                                    <p:anim calcmode="lin" valueType="num">
                                      <p:cBhvr>
                                        <p:cTn id="8" dur="1000" fill="hold"/>
                                        <p:tgtEl>
                                          <p:spTgt spid="4">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4">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xEl>
                                              <p:pRg st="2" end="2"/>
                                            </p:txEl>
                                          </p:spTgt>
                                        </p:tgtEl>
                                        <p:attrNameLst>
                                          <p:attrName>style.visibility</p:attrName>
                                        </p:attrNameLst>
                                      </p:cBhvr>
                                      <p:to>
                                        <p:strVal val="visible"/>
                                      </p:to>
                                    </p:set>
                                    <p:animEffect transition="in" filter="fade">
                                      <p:cBhvr>
                                        <p:cTn id="14" dur="1000"/>
                                        <p:tgtEl>
                                          <p:spTgt spid="4">
                                            <p:txEl>
                                              <p:pRg st="2" end="2"/>
                                            </p:txEl>
                                          </p:spTgt>
                                        </p:tgtEl>
                                      </p:cBhvr>
                                    </p:animEffect>
                                    <p:anim calcmode="lin" valueType="num">
                                      <p:cBhvr>
                                        <p:cTn id="15" dur="1000" fill="hold"/>
                                        <p:tgtEl>
                                          <p:spTgt spid="4">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4">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animEffect transition="in" filter="fade">
                                      <p:cBhvr>
                                        <p:cTn id="21" dur="1000"/>
                                        <p:tgtEl>
                                          <p:spTgt spid="4">
                                            <p:txEl>
                                              <p:pRg st="4" end="4"/>
                                            </p:txEl>
                                          </p:spTgt>
                                        </p:tgtEl>
                                      </p:cBhvr>
                                    </p:animEffect>
                                    <p:anim calcmode="lin" valueType="num">
                                      <p:cBhvr>
                                        <p:cTn id="22" dur="1000" fill="hold"/>
                                        <p:tgtEl>
                                          <p:spTgt spid="4">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4">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fade">
                                      <p:cBhvr>
                                        <p:cTn id="28" dur="1000"/>
                                        <p:tgtEl>
                                          <p:spTgt spid="5">
                                            <p:txEl>
                                              <p:pRg st="0" end="0"/>
                                            </p:txEl>
                                          </p:spTgt>
                                        </p:tgtEl>
                                      </p:cBhvr>
                                    </p:animEffect>
                                    <p:anim calcmode="lin" valueType="num">
                                      <p:cBhvr>
                                        <p:cTn id="29"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30" dur="1000" fill="hold"/>
                                        <p:tgtEl>
                                          <p:spTgt spid="5">
                                            <p:txEl>
                                              <p:pRg st="0" end="0"/>
                                            </p:txEl>
                                          </p:spTgt>
                                        </p:tgtEl>
                                        <p:attrNameLst>
                                          <p:attrName>ppt_y</p:attrName>
                                        </p:attrNameLst>
                                      </p:cBhvr>
                                      <p:tavLst>
                                        <p:tav tm="0">
                                          <p:val>
                                            <p:strVal val="#ppt_y+.1"/>
                                          </p:val>
                                        </p:tav>
                                        <p:tav tm="100000">
                                          <p:val>
                                            <p:strVal val="#ppt_y"/>
                                          </p:val>
                                        </p:tav>
                                      </p:tavLst>
                                    </p:anim>
                                  </p:childTnLst>
                                </p:cTn>
                              </p:par>
                              <p:par>
                                <p:cTn id="31" presetID="42" presetClass="entr" presetSubtype="0" fill="hold" nodeType="withEffect">
                                  <p:stCondLst>
                                    <p:cond delay="0"/>
                                  </p:stCondLst>
                                  <p:childTnLst>
                                    <p:set>
                                      <p:cBhvr>
                                        <p:cTn id="32" dur="1" fill="hold">
                                          <p:stCondLst>
                                            <p:cond delay="0"/>
                                          </p:stCondLst>
                                        </p:cTn>
                                        <p:tgtEl>
                                          <p:spTgt spid="5">
                                            <p:txEl>
                                              <p:pRg st="1" end="1"/>
                                            </p:txEl>
                                          </p:spTgt>
                                        </p:tgtEl>
                                        <p:attrNameLst>
                                          <p:attrName>style.visibility</p:attrName>
                                        </p:attrNameLst>
                                      </p:cBhvr>
                                      <p:to>
                                        <p:strVal val="visible"/>
                                      </p:to>
                                    </p:set>
                                    <p:animEffect transition="in" filter="fade">
                                      <p:cBhvr>
                                        <p:cTn id="33" dur="1000"/>
                                        <p:tgtEl>
                                          <p:spTgt spid="5">
                                            <p:txEl>
                                              <p:pRg st="1" end="1"/>
                                            </p:txEl>
                                          </p:spTgt>
                                        </p:tgtEl>
                                      </p:cBhvr>
                                    </p:animEffect>
                                    <p:anim calcmode="lin" valueType="num">
                                      <p:cBhvr>
                                        <p:cTn id="34"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35" dur="1000" fill="hold"/>
                                        <p:tgtEl>
                                          <p:spTgt spid="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nodeType="clickEffect">
                                  <p:stCondLst>
                                    <p:cond delay="0"/>
                                  </p:stCondLst>
                                  <p:childTnLst>
                                    <p:set>
                                      <p:cBhvr>
                                        <p:cTn id="39" dur="1" fill="hold">
                                          <p:stCondLst>
                                            <p:cond delay="0"/>
                                          </p:stCondLst>
                                        </p:cTn>
                                        <p:tgtEl>
                                          <p:spTgt spid="5">
                                            <p:txEl>
                                              <p:pRg st="2" end="2"/>
                                            </p:txEl>
                                          </p:spTgt>
                                        </p:tgtEl>
                                        <p:attrNameLst>
                                          <p:attrName>style.visibility</p:attrName>
                                        </p:attrNameLst>
                                      </p:cBhvr>
                                      <p:to>
                                        <p:strVal val="visible"/>
                                      </p:to>
                                    </p:set>
                                    <p:animEffect transition="in" filter="fade">
                                      <p:cBhvr>
                                        <p:cTn id="40" dur="1000"/>
                                        <p:tgtEl>
                                          <p:spTgt spid="5">
                                            <p:txEl>
                                              <p:pRg st="2" end="2"/>
                                            </p:txEl>
                                          </p:spTgt>
                                        </p:tgtEl>
                                      </p:cBhvr>
                                    </p:animEffect>
                                    <p:anim calcmode="lin" valueType="num">
                                      <p:cBhvr>
                                        <p:cTn id="41"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42" dur="1000" fill="hold"/>
                                        <p:tgtEl>
                                          <p:spTgt spid="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5">
                                            <p:txEl>
                                              <p:pRg st="3" end="3"/>
                                            </p:txEl>
                                          </p:spTgt>
                                        </p:tgtEl>
                                        <p:attrNameLst>
                                          <p:attrName>style.visibility</p:attrName>
                                        </p:attrNameLst>
                                      </p:cBhvr>
                                      <p:to>
                                        <p:strVal val="visible"/>
                                      </p:to>
                                    </p:set>
                                    <p:animEffect transition="in" filter="fade">
                                      <p:cBhvr>
                                        <p:cTn id="47" dur="1000"/>
                                        <p:tgtEl>
                                          <p:spTgt spid="5">
                                            <p:txEl>
                                              <p:pRg st="3" end="3"/>
                                            </p:txEl>
                                          </p:spTgt>
                                        </p:tgtEl>
                                      </p:cBhvr>
                                    </p:animEffect>
                                    <p:anim calcmode="lin" valueType="num">
                                      <p:cBhvr>
                                        <p:cTn id="48"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49" dur="1000" fill="hold"/>
                                        <p:tgtEl>
                                          <p:spTgt spid="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50" fill="hold">
                      <p:stCondLst>
                        <p:cond delay="indefinite"/>
                      </p:stCondLst>
                      <p:childTnLst>
                        <p:par>
                          <p:cTn id="51" fill="hold">
                            <p:stCondLst>
                              <p:cond delay="0"/>
                            </p:stCondLst>
                            <p:childTnLst>
                              <p:par>
                                <p:cTn id="52" presetID="42" presetClass="entr" presetSubtype="0" fill="hold" nodeType="clickEffect">
                                  <p:stCondLst>
                                    <p:cond delay="0"/>
                                  </p:stCondLst>
                                  <p:childTnLst>
                                    <p:set>
                                      <p:cBhvr>
                                        <p:cTn id="53" dur="1" fill="hold">
                                          <p:stCondLst>
                                            <p:cond delay="0"/>
                                          </p:stCondLst>
                                        </p:cTn>
                                        <p:tgtEl>
                                          <p:spTgt spid="5">
                                            <p:txEl>
                                              <p:pRg st="4" end="4"/>
                                            </p:txEl>
                                          </p:spTgt>
                                        </p:tgtEl>
                                        <p:attrNameLst>
                                          <p:attrName>style.visibility</p:attrName>
                                        </p:attrNameLst>
                                      </p:cBhvr>
                                      <p:to>
                                        <p:strVal val="visible"/>
                                      </p:to>
                                    </p:set>
                                    <p:animEffect transition="in" filter="fade">
                                      <p:cBhvr>
                                        <p:cTn id="54" dur="1000"/>
                                        <p:tgtEl>
                                          <p:spTgt spid="5">
                                            <p:txEl>
                                              <p:pRg st="4" end="4"/>
                                            </p:txEl>
                                          </p:spTgt>
                                        </p:tgtEl>
                                      </p:cBhvr>
                                    </p:animEffect>
                                    <p:anim calcmode="lin" valueType="num">
                                      <p:cBhvr>
                                        <p:cTn id="55"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56"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nodeType="clickEffect">
                                  <p:stCondLst>
                                    <p:cond delay="0"/>
                                  </p:stCondLst>
                                  <p:childTnLst>
                                    <p:set>
                                      <p:cBhvr>
                                        <p:cTn id="60" dur="1" fill="hold">
                                          <p:stCondLst>
                                            <p:cond delay="0"/>
                                          </p:stCondLst>
                                        </p:cTn>
                                        <p:tgtEl>
                                          <p:spTgt spid="5">
                                            <p:txEl>
                                              <p:pRg st="5" end="5"/>
                                            </p:txEl>
                                          </p:spTgt>
                                        </p:tgtEl>
                                        <p:attrNameLst>
                                          <p:attrName>style.visibility</p:attrName>
                                        </p:attrNameLst>
                                      </p:cBhvr>
                                      <p:to>
                                        <p:strVal val="visible"/>
                                      </p:to>
                                    </p:set>
                                    <p:animEffect transition="in" filter="fade">
                                      <p:cBhvr>
                                        <p:cTn id="61" dur="1000"/>
                                        <p:tgtEl>
                                          <p:spTgt spid="5">
                                            <p:txEl>
                                              <p:pRg st="5" end="5"/>
                                            </p:txEl>
                                          </p:spTgt>
                                        </p:tgtEl>
                                      </p:cBhvr>
                                    </p:animEffect>
                                    <p:anim calcmode="lin" valueType="num">
                                      <p:cBhvr>
                                        <p:cTn id="62" dur="1000" fill="hold"/>
                                        <p:tgtEl>
                                          <p:spTgt spid="5">
                                            <p:txEl>
                                              <p:pRg st="5" end="5"/>
                                            </p:txEl>
                                          </p:spTgt>
                                        </p:tgtEl>
                                        <p:attrNameLst>
                                          <p:attrName>ppt_x</p:attrName>
                                        </p:attrNameLst>
                                      </p:cBhvr>
                                      <p:tavLst>
                                        <p:tav tm="0">
                                          <p:val>
                                            <p:strVal val="#ppt_x"/>
                                          </p:val>
                                        </p:tav>
                                        <p:tav tm="100000">
                                          <p:val>
                                            <p:strVal val="#ppt_x"/>
                                          </p:val>
                                        </p:tav>
                                      </p:tavLst>
                                    </p:anim>
                                    <p:anim calcmode="lin" valueType="num">
                                      <p:cBhvr>
                                        <p:cTn id="63" dur="1000" fill="hold"/>
                                        <p:tgtEl>
                                          <p:spTgt spid="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42" presetClass="entr" presetSubtype="0" fill="hold" nodeType="clickEffect">
                                  <p:stCondLst>
                                    <p:cond delay="0"/>
                                  </p:stCondLst>
                                  <p:childTnLst>
                                    <p:set>
                                      <p:cBhvr>
                                        <p:cTn id="67" dur="1" fill="hold">
                                          <p:stCondLst>
                                            <p:cond delay="0"/>
                                          </p:stCondLst>
                                        </p:cTn>
                                        <p:tgtEl>
                                          <p:spTgt spid="5">
                                            <p:txEl>
                                              <p:pRg st="6" end="6"/>
                                            </p:txEl>
                                          </p:spTgt>
                                        </p:tgtEl>
                                        <p:attrNameLst>
                                          <p:attrName>style.visibility</p:attrName>
                                        </p:attrNameLst>
                                      </p:cBhvr>
                                      <p:to>
                                        <p:strVal val="visible"/>
                                      </p:to>
                                    </p:set>
                                    <p:animEffect transition="in" filter="fade">
                                      <p:cBhvr>
                                        <p:cTn id="68" dur="1000"/>
                                        <p:tgtEl>
                                          <p:spTgt spid="5">
                                            <p:txEl>
                                              <p:pRg st="6" end="6"/>
                                            </p:txEl>
                                          </p:spTgt>
                                        </p:tgtEl>
                                      </p:cBhvr>
                                    </p:animEffect>
                                    <p:anim calcmode="lin" valueType="num">
                                      <p:cBhvr>
                                        <p:cTn id="69" dur="1000" fill="hold"/>
                                        <p:tgtEl>
                                          <p:spTgt spid="5">
                                            <p:txEl>
                                              <p:pRg st="6" end="6"/>
                                            </p:txEl>
                                          </p:spTgt>
                                        </p:tgtEl>
                                        <p:attrNameLst>
                                          <p:attrName>ppt_x</p:attrName>
                                        </p:attrNameLst>
                                      </p:cBhvr>
                                      <p:tavLst>
                                        <p:tav tm="0">
                                          <p:val>
                                            <p:strVal val="#ppt_x"/>
                                          </p:val>
                                        </p:tav>
                                        <p:tav tm="100000">
                                          <p:val>
                                            <p:strVal val="#ppt_x"/>
                                          </p:val>
                                        </p:tav>
                                      </p:tavLst>
                                    </p:anim>
                                    <p:anim calcmode="lin" valueType="num">
                                      <p:cBhvr>
                                        <p:cTn id="70" dur="1000" fill="hold"/>
                                        <p:tgtEl>
                                          <p:spTgt spid="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Image result for genetic code">
            <a:extLst>
              <a:ext uri="{FF2B5EF4-FFF2-40B4-BE49-F238E27FC236}">
                <a16:creationId xmlns:a16="http://schemas.microsoft.com/office/drawing/2014/main" id="{9D0A96E1-88AA-4D0E-9BED-D6EF4C5DD89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1326" y="1970838"/>
            <a:ext cx="6507342" cy="3835680"/>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7C36431-D311-4344-B181-98BCFE852A4A}"/>
              </a:ext>
            </a:extLst>
          </p:cNvPr>
          <p:cNvSpPr/>
          <p:nvPr/>
        </p:nvSpPr>
        <p:spPr>
          <a:xfrm>
            <a:off x="1223628" y="1325170"/>
            <a:ext cx="6183306" cy="553998"/>
          </a:xfrm>
          <a:prstGeom prst="rect">
            <a:avLst/>
          </a:prstGeom>
        </p:spPr>
        <p:txBody>
          <a:bodyPr wrap="square">
            <a:spAutoFit/>
          </a:bodyPr>
          <a:lstStyle/>
          <a:p>
            <a:r>
              <a:rPr lang="en-GB" sz="1500">
                <a:solidFill>
                  <a:srgbClr val="21242C"/>
                </a:solidFill>
                <a:latin typeface="Arial" panose="020B0604020202020204" pitchFamily="34" charset="0"/>
                <a:cs typeface="Arial" panose="020B0604020202020204" pitchFamily="34" charset="0"/>
              </a:rPr>
              <a:t>The full set of relationships between </a:t>
            </a:r>
            <a:r>
              <a:rPr lang="en-GB" sz="1500">
                <a:solidFill>
                  <a:srgbClr val="0070C0"/>
                </a:solidFill>
                <a:latin typeface="Arial" panose="020B0604020202020204" pitchFamily="34" charset="0"/>
                <a:cs typeface="Arial" panose="020B0604020202020204" pitchFamily="34" charset="0"/>
              </a:rPr>
              <a:t>codons</a:t>
            </a:r>
            <a:r>
              <a:rPr lang="en-GB" sz="1500">
                <a:solidFill>
                  <a:srgbClr val="21242C"/>
                </a:solidFill>
                <a:latin typeface="Arial" panose="020B0604020202020204" pitchFamily="34" charset="0"/>
                <a:cs typeface="Arial" panose="020B0604020202020204" pitchFamily="34" charset="0"/>
              </a:rPr>
              <a:t> and </a:t>
            </a:r>
            <a:r>
              <a:rPr lang="en-GB" sz="1500">
                <a:solidFill>
                  <a:srgbClr val="0070C0"/>
                </a:solidFill>
                <a:latin typeface="Arial" panose="020B0604020202020204" pitchFamily="34" charset="0"/>
                <a:cs typeface="Arial" panose="020B0604020202020204" pitchFamily="34" charset="0"/>
              </a:rPr>
              <a:t>amino acids </a:t>
            </a:r>
            <a:r>
              <a:rPr lang="en-GB" sz="1500">
                <a:solidFill>
                  <a:srgbClr val="21242C"/>
                </a:solidFill>
                <a:latin typeface="Arial" panose="020B0604020202020204" pitchFamily="34" charset="0"/>
                <a:cs typeface="Arial" panose="020B0604020202020204" pitchFamily="34" charset="0"/>
              </a:rPr>
              <a:t>is called the </a:t>
            </a:r>
            <a:r>
              <a:rPr lang="en-GB" sz="1500">
                <a:solidFill>
                  <a:srgbClr val="7030A0"/>
                </a:solidFill>
                <a:latin typeface="Arial" panose="020B0604020202020204" pitchFamily="34" charset="0"/>
                <a:cs typeface="Arial" panose="020B0604020202020204" pitchFamily="34" charset="0"/>
              </a:rPr>
              <a:t>genetic code</a:t>
            </a:r>
            <a:r>
              <a:rPr lang="en-GB" sz="1500">
                <a:solidFill>
                  <a:srgbClr val="21242C"/>
                </a:solidFill>
                <a:latin typeface="Arial" panose="020B0604020202020204" pitchFamily="34" charset="0"/>
                <a:cs typeface="Arial" panose="020B0604020202020204" pitchFamily="34" charset="0"/>
              </a:rPr>
              <a:t>. The genetic code is summarised in the table below. </a:t>
            </a:r>
            <a:endParaRPr lang="en-GB" sz="1500">
              <a:latin typeface="Arial" panose="020B0604020202020204" pitchFamily="34" charset="0"/>
              <a:cs typeface="Arial" panose="020B0604020202020204" pitchFamily="34" charset="0"/>
            </a:endParaRPr>
          </a:p>
        </p:txBody>
      </p:sp>
      <p:sp>
        <p:nvSpPr>
          <p:cNvPr id="2" name="Rectangle: Rounded Corners 1">
            <a:extLst>
              <a:ext uri="{FF2B5EF4-FFF2-40B4-BE49-F238E27FC236}">
                <a16:creationId xmlns:a16="http://schemas.microsoft.com/office/drawing/2014/main" id="{41EB1796-15BF-4723-8332-DBA16C175DCF}"/>
              </a:ext>
            </a:extLst>
          </p:cNvPr>
          <p:cNvSpPr/>
          <p:nvPr/>
        </p:nvSpPr>
        <p:spPr>
          <a:xfrm>
            <a:off x="4572000" y="2942946"/>
            <a:ext cx="1242138" cy="324036"/>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6" name="Rectangle: Rounded Corners 5">
            <a:extLst>
              <a:ext uri="{FF2B5EF4-FFF2-40B4-BE49-F238E27FC236}">
                <a16:creationId xmlns:a16="http://schemas.microsoft.com/office/drawing/2014/main" id="{46957D4F-DF6C-4E87-93E2-BFA0DD87CD1C}"/>
              </a:ext>
            </a:extLst>
          </p:cNvPr>
          <p:cNvSpPr/>
          <p:nvPr/>
        </p:nvSpPr>
        <p:spPr>
          <a:xfrm>
            <a:off x="5868144" y="2942946"/>
            <a:ext cx="1242138" cy="162018"/>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Title 1">
            <a:extLst>
              <a:ext uri="{FF2B5EF4-FFF2-40B4-BE49-F238E27FC236}">
                <a16:creationId xmlns:a16="http://schemas.microsoft.com/office/drawing/2014/main" id="{1C9DC780-C389-4D8E-84B0-1A8A9F5680C4}"/>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spTree>
    <p:extLst>
      <p:ext uri="{BB962C8B-B14F-4D97-AF65-F5344CB8AC3E}">
        <p14:creationId xmlns:p14="http://schemas.microsoft.com/office/powerpoint/2010/main" val="14176446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1BA4C150-F30D-413F-B3C9-77C7B262D4F7}"/>
              </a:ext>
            </a:extLst>
          </p:cNvPr>
          <p:cNvSpPr/>
          <p:nvPr/>
        </p:nvSpPr>
        <p:spPr>
          <a:xfrm>
            <a:off x="1223628" y="1360928"/>
            <a:ext cx="6696744" cy="1733808"/>
          </a:xfrm>
          <a:prstGeom prst="rect">
            <a:avLst/>
          </a:prstGeom>
        </p:spPr>
        <p:txBody>
          <a:bodyPr wrap="square">
            <a:spAutoFit/>
          </a:bodyPr>
          <a:lstStyle/>
          <a:p>
            <a:pPr algn="just" fontAlgn="base">
              <a:spcBef>
                <a:spcPts val="450"/>
              </a:spcBef>
              <a:spcAft>
                <a:spcPts val="450"/>
              </a:spcAft>
            </a:pPr>
            <a:r>
              <a:rPr lang="en-GB" sz="1500" dirty="0">
                <a:solidFill>
                  <a:srgbClr val="21242C"/>
                </a:solidFill>
                <a:latin typeface="Arial" panose="020B0604020202020204" pitchFamily="34" charset="0"/>
                <a:cs typeface="Arial" panose="020B0604020202020204" pitchFamily="34" charset="0"/>
              </a:rPr>
              <a:t>Some amino acids are represented by more than one codon;</a:t>
            </a:r>
          </a:p>
          <a:p>
            <a:pPr algn="just" fontAlgn="base">
              <a:spcBef>
                <a:spcPts val="450"/>
              </a:spcBef>
              <a:spcAft>
                <a:spcPts val="450"/>
              </a:spcAft>
            </a:pPr>
            <a:r>
              <a:rPr lang="en-GB" sz="1500" dirty="0">
                <a:latin typeface="Arial" panose="020B0604020202020204" pitchFamily="34" charset="0"/>
                <a:cs typeface="Arial" panose="020B0604020202020204" pitchFamily="34" charset="0"/>
              </a:rPr>
              <a:t>The genetic code is </a:t>
            </a:r>
            <a:r>
              <a:rPr lang="en-GB" sz="1500" dirty="0">
                <a:solidFill>
                  <a:srgbClr val="7030A0"/>
                </a:solidFill>
                <a:latin typeface="Arial" panose="020B0604020202020204" pitchFamily="34" charset="0"/>
                <a:cs typeface="Arial" panose="020B0604020202020204" pitchFamily="34" charset="0"/>
              </a:rPr>
              <a:t>degenerate</a:t>
            </a:r>
            <a:r>
              <a:rPr lang="en-GB" sz="1500" dirty="0">
                <a:latin typeface="Arial" panose="020B0604020202020204" pitchFamily="34" charset="0"/>
                <a:cs typeface="Arial" panose="020B0604020202020204" pitchFamily="34" charset="0"/>
              </a:rPr>
              <a:t> because </a:t>
            </a:r>
            <a:r>
              <a:rPr lang="en-GB" sz="1500" dirty="0">
                <a:solidFill>
                  <a:srgbClr val="0070C0"/>
                </a:solidFill>
                <a:latin typeface="Arial" panose="020B0604020202020204" pitchFamily="34" charset="0"/>
                <a:cs typeface="Arial" panose="020B0604020202020204" pitchFamily="34" charset="0"/>
              </a:rPr>
              <a:t>a number of different codons specify the same amino acid</a:t>
            </a:r>
            <a:r>
              <a:rPr lang="en-GB" sz="1500" dirty="0">
                <a:latin typeface="Arial" panose="020B0604020202020204" pitchFamily="34" charset="0"/>
                <a:cs typeface="Arial" panose="020B0604020202020204" pitchFamily="34" charset="0"/>
              </a:rPr>
              <a:t>. </a:t>
            </a:r>
            <a:r>
              <a:rPr lang="en-GB" sz="1500" dirty="0">
                <a:solidFill>
                  <a:srgbClr val="21242C"/>
                </a:solidFill>
                <a:latin typeface="Arial" panose="020B0604020202020204" pitchFamily="34" charset="0"/>
                <a:cs typeface="Arial" panose="020B0604020202020204" pitchFamily="34" charset="0"/>
              </a:rPr>
              <a:t>For instance, there are six different ways (6 codons) to produce leucine, Leu, in the language of mRNA;</a:t>
            </a:r>
          </a:p>
          <a:p>
            <a:pPr algn="just" fontAlgn="base">
              <a:spcBef>
                <a:spcPts val="450"/>
              </a:spcBef>
              <a:spcAft>
                <a:spcPts val="450"/>
              </a:spcAft>
            </a:pPr>
            <a:r>
              <a:rPr lang="en-GB" sz="1500" dirty="0">
                <a:solidFill>
                  <a:srgbClr val="21242C"/>
                </a:solidFill>
                <a:latin typeface="Arial" panose="020B0604020202020204" pitchFamily="34" charset="0"/>
                <a:cs typeface="Arial" panose="020B0604020202020204" pitchFamily="34" charset="0"/>
              </a:rPr>
              <a:t>The genetic code in protein synthesis is </a:t>
            </a:r>
            <a:r>
              <a:rPr lang="en-GB" sz="1500" dirty="0">
                <a:solidFill>
                  <a:srgbClr val="C00000"/>
                </a:solidFill>
                <a:latin typeface="Arial" panose="020B0604020202020204" pitchFamily="34" charset="0"/>
                <a:cs typeface="Arial" panose="020B0604020202020204" pitchFamily="34" charset="0"/>
              </a:rPr>
              <a:t>universal</a:t>
            </a:r>
            <a:r>
              <a:rPr lang="en-GB" sz="1500" dirty="0">
                <a:solidFill>
                  <a:srgbClr val="21242C"/>
                </a:solidFill>
                <a:latin typeface="Arial" panose="020B0604020202020204" pitchFamily="34" charset="0"/>
                <a:cs typeface="Arial" panose="020B0604020202020204" pitchFamily="34" charset="0"/>
              </a:rPr>
              <a:t> and applicable (with minor exceptions) to all species (from bacteria to humans);</a:t>
            </a:r>
          </a:p>
        </p:txBody>
      </p:sp>
      <p:pic>
        <p:nvPicPr>
          <p:cNvPr id="4" name="Picture 4" descr="Image result for genetic code">
            <a:extLst>
              <a:ext uri="{FF2B5EF4-FFF2-40B4-BE49-F238E27FC236}">
                <a16:creationId xmlns:a16="http://schemas.microsoft.com/office/drawing/2014/main" id="{114AB4D5-1273-4AC9-8205-6DDC1B13C9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23628" y="3158970"/>
            <a:ext cx="6507342" cy="2700301"/>
          </a:xfrm>
          <a:prstGeom prst="rect">
            <a:avLst/>
          </a:prstGeom>
          <a:noFill/>
          <a:extLst>
            <a:ext uri="{909E8E84-426E-40DD-AFC4-6F175D3DCCD1}">
              <a14:hiddenFill xmlns:a14="http://schemas.microsoft.com/office/drawing/2010/main">
                <a:solidFill>
                  <a:srgbClr val="FFFFFF"/>
                </a:solidFill>
              </a14:hiddenFill>
            </a:ext>
          </a:extLst>
        </p:spPr>
      </p:pic>
      <p:grpSp>
        <p:nvGrpSpPr>
          <p:cNvPr id="8" name="Group 7">
            <a:extLst>
              <a:ext uri="{FF2B5EF4-FFF2-40B4-BE49-F238E27FC236}">
                <a16:creationId xmlns:a16="http://schemas.microsoft.com/office/drawing/2014/main" id="{D073AE21-BCB0-4846-BD25-B23E31E5D194}"/>
              </a:ext>
            </a:extLst>
          </p:cNvPr>
          <p:cNvGrpSpPr/>
          <p:nvPr/>
        </p:nvGrpSpPr>
        <p:grpSpPr>
          <a:xfrm>
            <a:off x="1925706" y="3807043"/>
            <a:ext cx="1242138" cy="864096"/>
            <a:chOff x="1115616" y="3717034"/>
            <a:chExt cx="1586617" cy="1296145"/>
          </a:xfrm>
        </p:grpSpPr>
        <p:sp>
          <p:nvSpPr>
            <p:cNvPr id="6" name="Rectangle: Rounded Corners 5">
              <a:extLst>
                <a:ext uri="{FF2B5EF4-FFF2-40B4-BE49-F238E27FC236}">
                  <a16:creationId xmlns:a16="http://schemas.microsoft.com/office/drawing/2014/main" id="{911587DB-05F5-4F68-B9C7-F09613A47DEA}"/>
                </a:ext>
              </a:extLst>
            </p:cNvPr>
            <p:cNvSpPr/>
            <p:nvPr/>
          </p:nvSpPr>
          <p:spPr>
            <a:xfrm rot="5400000">
              <a:off x="1512881" y="3823827"/>
              <a:ext cx="792087" cy="1586617"/>
            </a:xfrm>
            <a:prstGeom prst="roundRect">
              <a:avLst/>
            </a:prstGeom>
            <a:noFill/>
            <a:ln>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7" name="Rectangle: Rounded Corners 6">
              <a:extLst>
                <a:ext uri="{FF2B5EF4-FFF2-40B4-BE49-F238E27FC236}">
                  <a16:creationId xmlns:a16="http://schemas.microsoft.com/office/drawing/2014/main" id="{69526598-3C93-41F8-8CE4-47CDA82AA79D}"/>
                </a:ext>
              </a:extLst>
            </p:cNvPr>
            <p:cNvSpPr/>
            <p:nvPr/>
          </p:nvSpPr>
          <p:spPr>
            <a:xfrm rot="5400000">
              <a:off x="1679725" y="3152925"/>
              <a:ext cx="386392" cy="1514610"/>
            </a:xfrm>
            <a:prstGeom prst="roundRect">
              <a:avLst/>
            </a:prstGeom>
            <a:noFill/>
            <a:ln>
              <a:solidFill>
                <a:srgbClr val="0000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
        <p:nvSpPr>
          <p:cNvPr id="9" name="Title 1">
            <a:extLst>
              <a:ext uri="{FF2B5EF4-FFF2-40B4-BE49-F238E27FC236}">
                <a16:creationId xmlns:a16="http://schemas.microsoft.com/office/drawing/2014/main" id="{1760756A-E745-4BA3-A90F-0CE35A5D15C2}"/>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spTree>
    <p:extLst>
      <p:ext uri="{BB962C8B-B14F-4D97-AF65-F5344CB8AC3E}">
        <p14:creationId xmlns:p14="http://schemas.microsoft.com/office/powerpoint/2010/main" val="3192998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854E621-0322-46BD-A655-F9057CFC98E7}"/>
              </a:ext>
            </a:extLst>
          </p:cNvPr>
          <p:cNvSpPr/>
          <p:nvPr/>
        </p:nvSpPr>
        <p:spPr>
          <a:xfrm>
            <a:off x="1143000" y="1360927"/>
            <a:ext cx="6696744" cy="1246495"/>
          </a:xfrm>
          <a:prstGeom prst="rect">
            <a:avLst/>
          </a:prstGeom>
        </p:spPr>
        <p:txBody>
          <a:bodyPr wrap="square">
            <a:spAutoFit/>
          </a:bodyPr>
          <a:lstStyle/>
          <a:p>
            <a:r>
              <a:rPr lang="en-GB" sz="1500" dirty="0">
                <a:latin typeface="Arial" panose="020B0604020202020204" pitchFamily="34" charset="0"/>
                <a:cs typeface="Arial" panose="020B0604020202020204" pitchFamily="34" charset="0"/>
              </a:rPr>
              <a:t>Codons in an mRNA are read during translation, beginning with a start codon and continuing until a stop codon is reached;</a:t>
            </a:r>
          </a:p>
          <a:p>
            <a:endParaRPr lang="en-GB" sz="1500" dirty="0">
              <a:solidFill>
                <a:srgbClr val="21242C"/>
              </a:solidFill>
              <a:latin typeface="Arial" panose="020B0604020202020204" pitchFamily="34" charset="0"/>
              <a:cs typeface="Arial" panose="020B0604020202020204" pitchFamily="34" charset="0"/>
            </a:endParaRPr>
          </a:p>
          <a:p>
            <a:r>
              <a:rPr lang="en-GB" sz="1500" dirty="0">
                <a:latin typeface="Arial" panose="020B0604020202020204" pitchFamily="34" charset="0"/>
                <a:cs typeface="Arial" panose="020B0604020202020204" pitchFamily="34" charset="0"/>
              </a:rPr>
              <a:t>mRNA codons are read in a 5' to 3’ direction, and they specify the order of amino acids in a protein from </a:t>
            </a:r>
            <a:r>
              <a:rPr lang="en-GB" sz="1500" dirty="0">
                <a:solidFill>
                  <a:srgbClr val="0070C0"/>
                </a:solidFill>
                <a:latin typeface="Arial" panose="020B0604020202020204" pitchFamily="34" charset="0"/>
                <a:cs typeface="Arial" panose="020B0604020202020204" pitchFamily="34" charset="0"/>
              </a:rPr>
              <a:t>N-terminus</a:t>
            </a:r>
            <a:r>
              <a:rPr lang="en-GB" sz="1500" dirty="0">
                <a:solidFill>
                  <a:srgbClr val="21242C"/>
                </a:solidFill>
                <a:latin typeface="Arial" panose="020B0604020202020204" pitchFamily="34" charset="0"/>
                <a:cs typeface="Arial" panose="020B0604020202020204" pitchFamily="34" charset="0"/>
              </a:rPr>
              <a:t> </a:t>
            </a:r>
            <a:r>
              <a:rPr lang="en-GB" sz="1500" dirty="0">
                <a:solidFill>
                  <a:srgbClr val="7030A0"/>
                </a:solidFill>
                <a:latin typeface="Arial" panose="020B0604020202020204" pitchFamily="34" charset="0"/>
                <a:cs typeface="Arial" panose="020B0604020202020204" pitchFamily="34" charset="0"/>
              </a:rPr>
              <a:t>(methionine) </a:t>
            </a:r>
            <a:r>
              <a:rPr lang="en-GB" sz="1500" dirty="0">
                <a:latin typeface="Arial" panose="020B0604020202020204" pitchFamily="34" charset="0"/>
                <a:cs typeface="Arial" panose="020B0604020202020204" pitchFamily="34" charset="0"/>
              </a:rPr>
              <a:t>to</a:t>
            </a:r>
            <a:r>
              <a:rPr lang="en-GB" sz="1500" dirty="0">
                <a:solidFill>
                  <a:srgbClr val="21242C"/>
                </a:solidFill>
                <a:latin typeface="Arial" panose="020B0604020202020204" pitchFamily="34" charset="0"/>
                <a:cs typeface="Arial" panose="020B0604020202020204" pitchFamily="34" charset="0"/>
              </a:rPr>
              <a:t> </a:t>
            </a:r>
            <a:r>
              <a:rPr lang="en-GB" sz="1500" dirty="0">
                <a:solidFill>
                  <a:srgbClr val="0070C0"/>
                </a:solidFill>
                <a:latin typeface="Arial" panose="020B0604020202020204" pitchFamily="34" charset="0"/>
                <a:cs typeface="Arial" panose="020B0604020202020204" pitchFamily="34" charset="0"/>
              </a:rPr>
              <a:t>C-terminus</a:t>
            </a:r>
            <a:r>
              <a:rPr lang="en-GB" sz="1500" dirty="0">
                <a:solidFill>
                  <a:srgbClr val="21242C"/>
                </a:solidFill>
                <a:latin typeface="Arial" panose="020B0604020202020204" pitchFamily="34" charset="0"/>
                <a:cs typeface="Arial" panose="020B0604020202020204" pitchFamily="34" charset="0"/>
              </a:rPr>
              <a:t>;</a:t>
            </a:r>
            <a:endParaRPr lang="en-GB" sz="1500" dirty="0">
              <a:latin typeface="Arial" panose="020B0604020202020204" pitchFamily="34" charset="0"/>
              <a:cs typeface="Arial" panose="020B0604020202020204" pitchFamily="34" charset="0"/>
            </a:endParaRPr>
          </a:p>
        </p:txBody>
      </p:sp>
      <p:pic>
        <p:nvPicPr>
          <p:cNvPr id="10242" name="Picture 2" descr="https://ka-perseus-images.s3.amazonaws.com/1ade7bbd40ca8dbc7a55ddf4067935e42c347f35.png">
            <a:extLst>
              <a:ext uri="{FF2B5EF4-FFF2-40B4-BE49-F238E27FC236}">
                <a16:creationId xmlns:a16="http://schemas.microsoft.com/office/drawing/2014/main" id="{C1CFBFD9-6A7C-4333-A85A-016B5C8ADA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8306" y="2584340"/>
            <a:ext cx="6713382" cy="3166919"/>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a:extLst>
              <a:ext uri="{FF2B5EF4-FFF2-40B4-BE49-F238E27FC236}">
                <a16:creationId xmlns:a16="http://schemas.microsoft.com/office/drawing/2014/main" id="{FCDF987A-932F-43C4-8632-DF2C489EAC5C}"/>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grpSp>
        <p:nvGrpSpPr>
          <p:cNvPr id="7" name="Group 6">
            <a:extLst>
              <a:ext uri="{FF2B5EF4-FFF2-40B4-BE49-F238E27FC236}">
                <a16:creationId xmlns:a16="http://schemas.microsoft.com/office/drawing/2014/main" id="{1923270F-DF93-40A9-994D-86BB5BC31FC4}"/>
              </a:ext>
            </a:extLst>
          </p:cNvPr>
          <p:cNvGrpSpPr/>
          <p:nvPr/>
        </p:nvGrpSpPr>
        <p:grpSpPr>
          <a:xfrm>
            <a:off x="5053424" y="4844883"/>
            <a:ext cx="2947577" cy="1155110"/>
            <a:chOff x="5213897" y="5316842"/>
            <a:chExt cx="3930103" cy="1540147"/>
          </a:xfrm>
        </p:grpSpPr>
        <p:sp>
          <p:nvSpPr>
            <p:cNvPr id="3" name="TextBox 2">
              <a:extLst>
                <a:ext uri="{FF2B5EF4-FFF2-40B4-BE49-F238E27FC236}">
                  <a16:creationId xmlns:a16="http://schemas.microsoft.com/office/drawing/2014/main" id="{622612D1-2C85-4F2F-BAAE-076E247ACCBA}"/>
                </a:ext>
              </a:extLst>
            </p:cNvPr>
            <p:cNvSpPr txBox="1"/>
            <p:nvPr/>
          </p:nvSpPr>
          <p:spPr>
            <a:xfrm>
              <a:off x="5807349" y="5502771"/>
              <a:ext cx="3336651" cy="1354218"/>
            </a:xfrm>
            <a:prstGeom prst="rect">
              <a:avLst/>
            </a:prstGeom>
            <a:noFill/>
          </p:spPr>
          <p:txBody>
            <a:bodyPr wrap="square" rtlCol="0">
              <a:spAutoFit/>
            </a:bodyPr>
            <a:lstStyle/>
            <a:p>
              <a:r>
                <a:rPr lang="en-GB" sz="1500" b="1" dirty="0">
                  <a:solidFill>
                    <a:schemeClr val="bg1">
                      <a:lumMod val="50000"/>
                    </a:schemeClr>
                  </a:solidFill>
                  <a:latin typeface="Arial" panose="020B0604020202020204" pitchFamily="34" charset="0"/>
                  <a:cs typeface="Arial" panose="020B0604020202020204" pitchFamily="34" charset="0"/>
                </a:rPr>
                <a:t>Stop codons do not code for an amino acid and signal the release of polypeptide.</a:t>
              </a:r>
            </a:p>
          </p:txBody>
        </p:sp>
        <p:cxnSp>
          <p:nvCxnSpPr>
            <p:cNvPr id="6" name="Straight Connector 5">
              <a:extLst>
                <a:ext uri="{FF2B5EF4-FFF2-40B4-BE49-F238E27FC236}">
                  <a16:creationId xmlns:a16="http://schemas.microsoft.com/office/drawing/2014/main" id="{152AE8BB-94F5-4096-84EB-B3A19BB5C974}"/>
                </a:ext>
              </a:extLst>
            </p:cNvPr>
            <p:cNvCxnSpPr/>
            <p:nvPr/>
          </p:nvCxnSpPr>
          <p:spPr>
            <a:xfrm>
              <a:off x="5213897" y="5316842"/>
              <a:ext cx="750898" cy="242226"/>
            </a:xfrm>
            <a:prstGeom prst="line">
              <a:avLst/>
            </a:prstGeom>
            <a:ln w="3810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364279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2" end="2"/>
                                            </p:txEl>
                                          </p:spTgt>
                                        </p:tgtEl>
                                        <p:attrNameLst>
                                          <p:attrName>style.visibility</p:attrName>
                                        </p:attrNameLst>
                                      </p:cBhvr>
                                      <p:to>
                                        <p:strVal val="visible"/>
                                      </p:to>
                                    </p:set>
                                    <p:animEffect transition="in" filter="fade">
                                      <p:cBhvr>
                                        <p:cTn id="14" dur="1000"/>
                                        <p:tgtEl>
                                          <p:spTgt spid="2">
                                            <p:txEl>
                                              <p:pRg st="2" end="2"/>
                                            </p:txEl>
                                          </p:spTgt>
                                        </p:tgtEl>
                                      </p:cBhvr>
                                    </p:animEffect>
                                    <p:anim calcmode="lin" valueType="num">
                                      <p:cBhvr>
                                        <p:cTn id="15"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10242"/>
                                        </p:tgtEl>
                                        <p:attrNameLst>
                                          <p:attrName>style.visibility</p:attrName>
                                        </p:attrNameLst>
                                      </p:cBhvr>
                                      <p:to>
                                        <p:strVal val="visible"/>
                                      </p:to>
                                    </p:set>
                                    <p:animEffect transition="in" filter="fade">
                                      <p:cBhvr>
                                        <p:cTn id="21" dur="1000"/>
                                        <p:tgtEl>
                                          <p:spTgt spid="10242"/>
                                        </p:tgtEl>
                                      </p:cBhvr>
                                    </p:animEffect>
                                    <p:anim calcmode="lin" valueType="num">
                                      <p:cBhvr>
                                        <p:cTn id="22" dur="1000" fill="hold"/>
                                        <p:tgtEl>
                                          <p:spTgt spid="10242"/>
                                        </p:tgtEl>
                                        <p:attrNameLst>
                                          <p:attrName>ppt_x</p:attrName>
                                        </p:attrNameLst>
                                      </p:cBhvr>
                                      <p:tavLst>
                                        <p:tav tm="0">
                                          <p:val>
                                            <p:strVal val="#ppt_x"/>
                                          </p:val>
                                        </p:tav>
                                        <p:tav tm="100000">
                                          <p:val>
                                            <p:strVal val="#ppt_x"/>
                                          </p:val>
                                        </p:tav>
                                      </p:tavLst>
                                    </p:anim>
                                    <p:anim calcmode="lin" valueType="num">
                                      <p:cBhvr>
                                        <p:cTn id="23" dur="1000" fill="hold"/>
                                        <p:tgtEl>
                                          <p:spTgt spid="10242"/>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7"/>
                                        </p:tgtEl>
                                        <p:attrNameLst>
                                          <p:attrName>style.visibility</p:attrName>
                                        </p:attrNameLst>
                                      </p:cBhvr>
                                      <p:to>
                                        <p:strVal val="visible"/>
                                      </p:to>
                                    </p:set>
                                    <p:animEffect transition="in" filter="fade">
                                      <p:cBhvr>
                                        <p:cTn id="28" dur="1000"/>
                                        <p:tgtEl>
                                          <p:spTgt spid="7"/>
                                        </p:tgtEl>
                                      </p:cBhvr>
                                    </p:animEffect>
                                    <p:anim calcmode="lin" valueType="num">
                                      <p:cBhvr>
                                        <p:cTn id="29" dur="1000" fill="hold"/>
                                        <p:tgtEl>
                                          <p:spTgt spid="7"/>
                                        </p:tgtEl>
                                        <p:attrNameLst>
                                          <p:attrName>ppt_x</p:attrName>
                                        </p:attrNameLst>
                                      </p:cBhvr>
                                      <p:tavLst>
                                        <p:tav tm="0">
                                          <p:val>
                                            <p:strVal val="#ppt_x"/>
                                          </p:val>
                                        </p:tav>
                                        <p:tav tm="100000">
                                          <p:val>
                                            <p:strVal val="#ppt_x"/>
                                          </p:val>
                                        </p:tav>
                                      </p:tavLst>
                                    </p:anim>
                                    <p:anim calcmode="lin" valueType="num">
                                      <p:cBhvr>
                                        <p:cTn id="30"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3F8002BD-0294-4FB6-8E83-0F54279B7AFC}"/>
              </a:ext>
            </a:extLst>
          </p:cNvPr>
          <p:cNvSpPr txBox="1">
            <a:spLocks/>
          </p:cNvSpPr>
          <p:nvPr/>
        </p:nvSpPr>
        <p:spPr>
          <a:xfrm>
            <a:off x="840699" y="687480"/>
            <a:ext cx="5605629" cy="9941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600"/>
              </a:spcAft>
            </a:pPr>
            <a:r>
              <a:rPr lang="en-US" sz="3300" kern="1200">
                <a:solidFill>
                  <a:schemeClr val="tx1"/>
                </a:solidFill>
                <a:latin typeface="+mj-lt"/>
                <a:ea typeface="+mj-ea"/>
                <a:cs typeface="+mj-cs"/>
              </a:rPr>
              <a:t>Translation: The Genetic Code</a:t>
            </a:r>
          </a:p>
        </p:txBody>
      </p:sp>
      <p:sp>
        <p:nvSpPr>
          <p:cNvPr id="3" name="Rectangle 2">
            <a:extLst>
              <a:ext uri="{FF2B5EF4-FFF2-40B4-BE49-F238E27FC236}">
                <a16:creationId xmlns:a16="http://schemas.microsoft.com/office/drawing/2014/main" id="{B1283587-BD43-4C78-A8C3-DE55D7879168}"/>
              </a:ext>
            </a:extLst>
          </p:cNvPr>
          <p:cNvSpPr/>
          <p:nvPr/>
        </p:nvSpPr>
        <p:spPr>
          <a:xfrm>
            <a:off x="852321" y="1681653"/>
            <a:ext cx="5033221" cy="4857884"/>
          </a:xfrm>
          <a:prstGeom prst="rect">
            <a:avLst/>
          </a:prstGeom>
        </p:spPr>
        <p:txBody>
          <a:bodyPr vert="horz" lIns="91440" tIns="45720" rIns="91440" bIns="45720" rtlCol="0" anchor="ctr">
            <a:normAutofit/>
          </a:bodyPr>
          <a:lstStyle/>
          <a:p>
            <a:pPr defTabSz="914400" fontAlgn="base">
              <a:lnSpc>
                <a:spcPct val="90000"/>
              </a:lnSpc>
            </a:pPr>
            <a:r>
              <a:rPr lang="en-US" sz="1900" b="1" dirty="0"/>
              <a:t>Reading frame</a:t>
            </a:r>
          </a:p>
          <a:p>
            <a:pPr indent="-228600" defTabSz="914400" fontAlgn="base">
              <a:lnSpc>
                <a:spcPct val="90000"/>
              </a:lnSpc>
              <a:spcBef>
                <a:spcPts val="450"/>
              </a:spcBef>
              <a:spcAft>
                <a:spcPts val="450"/>
              </a:spcAft>
              <a:buFont typeface="Arial" panose="020B0604020202020204" pitchFamily="34" charset="0"/>
              <a:buChar char="•"/>
            </a:pPr>
            <a:r>
              <a:rPr lang="en-US" sz="1900" dirty="0"/>
              <a:t>Reading frame ensures that information is reliably transferred from an mRNA to a protein;</a:t>
            </a:r>
          </a:p>
          <a:p>
            <a:pPr indent="-228600" defTabSz="914400" fontAlgn="base">
              <a:lnSpc>
                <a:spcPct val="90000"/>
              </a:lnSpc>
              <a:spcBef>
                <a:spcPts val="450"/>
              </a:spcBef>
              <a:spcAft>
                <a:spcPts val="450"/>
              </a:spcAft>
              <a:buFont typeface="Arial" panose="020B0604020202020204" pitchFamily="34" charset="0"/>
              <a:buChar char="•"/>
            </a:pPr>
            <a:r>
              <a:rPr lang="en-US" sz="1900" dirty="0"/>
              <a:t>Reading frame determines how the mRNA sequence is divided up into codons during translation;</a:t>
            </a:r>
          </a:p>
          <a:p>
            <a:pPr indent="-228600" defTabSz="914400" fontAlgn="base">
              <a:lnSpc>
                <a:spcPct val="90000"/>
              </a:lnSpc>
              <a:spcBef>
                <a:spcPts val="450"/>
              </a:spcBef>
              <a:spcAft>
                <a:spcPts val="450"/>
              </a:spcAft>
              <a:buFont typeface="Arial" panose="020B0604020202020204" pitchFamily="34" charset="0"/>
              <a:buChar char="•"/>
            </a:pPr>
            <a:r>
              <a:rPr lang="en-US" sz="1900" dirty="0"/>
              <a:t>The mRNA in the next slide can encode three totally different proteins, depending on the frame in which it is read;</a:t>
            </a:r>
          </a:p>
          <a:p>
            <a:pPr indent="-228600" defTabSz="914400" fontAlgn="base">
              <a:lnSpc>
                <a:spcPct val="90000"/>
              </a:lnSpc>
              <a:spcBef>
                <a:spcPts val="450"/>
              </a:spcBef>
              <a:spcAft>
                <a:spcPts val="450"/>
              </a:spcAft>
              <a:buFont typeface="Arial" panose="020B0604020202020204" pitchFamily="34" charset="0"/>
              <a:buChar char="•"/>
            </a:pPr>
            <a:r>
              <a:rPr lang="en-US" sz="1900" dirty="0"/>
              <a:t>The start codon is critical because it determines where translation will begin on the mRNA. </a:t>
            </a:r>
          </a:p>
        </p:txBody>
      </p:sp>
      <p:sp>
        <p:nvSpPr>
          <p:cNvPr id="11"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Graphic 7" descr="DNA">
            <a:extLst>
              <a:ext uri="{FF2B5EF4-FFF2-40B4-BE49-F238E27FC236}">
                <a16:creationId xmlns:a16="http://schemas.microsoft.com/office/drawing/2014/main" id="{53940D0E-4F98-42DC-B929-5821E73F8DF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3156148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2" descr="https://ka-perseus-images.s3.amazonaws.com/ed3bfd85b8ec88f74515e63649b9dcd5c976e21e.png">
            <a:extLst>
              <a:ext uri="{FF2B5EF4-FFF2-40B4-BE49-F238E27FC236}">
                <a16:creationId xmlns:a16="http://schemas.microsoft.com/office/drawing/2014/main" id="{0CB0780B-7849-4B2F-9417-7035293772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50631" y="1306781"/>
            <a:ext cx="6642738" cy="4693970"/>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Rounded Corners 2">
            <a:extLst>
              <a:ext uri="{FF2B5EF4-FFF2-40B4-BE49-F238E27FC236}">
                <a16:creationId xmlns:a16="http://schemas.microsoft.com/office/drawing/2014/main" id="{733B60B3-6E09-472F-A3CF-5D4FFA8F071F}"/>
              </a:ext>
            </a:extLst>
          </p:cNvPr>
          <p:cNvSpPr/>
          <p:nvPr/>
        </p:nvSpPr>
        <p:spPr>
          <a:xfrm>
            <a:off x="1223628" y="4077073"/>
            <a:ext cx="6426714" cy="1836204"/>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5" name="Title 1">
            <a:extLst>
              <a:ext uri="{FF2B5EF4-FFF2-40B4-BE49-F238E27FC236}">
                <a16:creationId xmlns:a16="http://schemas.microsoft.com/office/drawing/2014/main" id="{21871B2A-6B04-405A-A3A1-02086B8C03CA}"/>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spTree>
    <p:extLst>
      <p:ext uri="{BB962C8B-B14F-4D97-AF65-F5344CB8AC3E}">
        <p14:creationId xmlns:p14="http://schemas.microsoft.com/office/powerpoint/2010/main" val="205090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0F8E004-8402-4F45-9489-B17E76FD440E}"/>
              </a:ext>
            </a:extLst>
          </p:cNvPr>
          <p:cNvSpPr txBox="1">
            <a:spLocks/>
          </p:cNvSpPr>
          <p:nvPr/>
        </p:nvSpPr>
        <p:spPr>
          <a:xfrm>
            <a:off x="840699" y="687480"/>
            <a:ext cx="5605629" cy="994172"/>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lnSpc>
                <a:spcPct val="90000"/>
              </a:lnSpc>
              <a:spcAft>
                <a:spcPts val="600"/>
              </a:spcAft>
            </a:pPr>
            <a:r>
              <a:rPr lang="en-US" sz="3300" kern="1200" dirty="0">
                <a:solidFill>
                  <a:schemeClr val="tx1"/>
                </a:solidFill>
                <a:latin typeface="+mj-lt"/>
                <a:ea typeface="+mj-ea"/>
                <a:cs typeface="+mj-cs"/>
              </a:rPr>
              <a:t>Translation: The Genetic Code</a:t>
            </a:r>
          </a:p>
        </p:txBody>
      </p:sp>
      <p:sp>
        <p:nvSpPr>
          <p:cNvPr id="2" name="Rectangle 1">
            <a:extLst>
              <a:ext uri="{FF2B5EF4-FFF2-40B4-BE49-F238E27FC236}">
                <a16:creationId xmlns:a16="http://schemas.microsoft.com/office/drawing/2014/main" id="{4108A61A-AF29-4111-ABD3-155C433AFFF8}"/>
              </a:ext>
            </a:extLst>
          </p:cNvPr>
          <p:cNvSpPr/>
          <p:nvPr/>
        </p:nvSpPr>
        <p:spPr>
          <a:xfrm>
            <a:off x="852321" y="2227943"/>
            <a:ext cx="5033221" cy="3788227"/>
          </a:xfrm>
          <a:prstGeom prst="rect">
            <a:avLst/>
          </a:prstGeom>
        </p:spPr>
        <p:txBody>
          <a:bodyPr vert="horz" lIns="91440" tIns="45720" rIns="91440" bIns="45720" rtlCol="0" anchor="ctr">
            <a:noAutofit/>
          </a:bodyPr>
          <a:lstStyle/>
          <a:p>
            <a:pPr defTabSz="914400" fontAlgn="base">
              <a:lnSpc>
                <a:spcPct val="90000"/>
              </a:lnSpc>
            </a:pPr>
            <a:r>
              <a:rPr lang="en-US" sz="2000" i="1" dirty="0"/>
              <a:t>So, how does a cell know which of proteins to make?</a:t>
            </a:r>
          </a:p>
          <a:p>
            <a:pPr defTabSz="914400" fontAlgn="base">
              <a:lnSpc>
                <a:spcPct val="90000"/>
              </a:lnSpc>
            </a:pPr>
            <a:endParaRPr lang="en-US" sz="2000" i="1" dirty="0"/>
          </a:p>
          <a:p>
            <a:pPr indent="-228600" defTabSz="914400" fontAlgn="base">
              <a:lnSpc>
                <a:spcPct val="90000"/>
              </a:lnSpc>
              <a:spcBef>
                <a:spcPts val="450"/>
              </a:spcBef>
              <a:spcAft>
                <a:spcPts val="450"/>
              </a:spcAft>
              <a:buFont typeface="Arial" panose="020B0604020202020204" pitchFamily="34" charset="0"/>
              <a:buChar char="•"/>
            </a:pPr>
            <a:r>
              <a:rPr lang="en-US" sz="2000" dirty="0"/>
              <a:t>The start codon, AUG, is the key signal;</a:t>
            </a:r>
          </a:p>
          <a:p>
            <a:pPr indent="-228600" defTabSz="914400" fontAlgn="base">
              <a:lnSpc>
                <a:spcPct val="90000"/>
              </a:lnSpc>
              <a:spcBef>
                <a:spcPts val="450"/>
              </a:spcBef>
              <a:spcAft>
                <a:spcPts val="450"/>
              </a:spcAft>
              <a:buFont typeface="Arial" panose="020B0604020202020204" pitchFamily="34" charset="0"/>
              <a:buChar char="•"/>
            </a:pPr>
            <a:r>
              <a:rPr lang="en-US" sz="2000" dirty="0"/>
              <a:t>Because translation begins at the start codon and continues in successive groups of three, the position of the start codon ensures that the mRNA is read in the correct frame (in the previous example frame 3);</a:t>
            </a:r>
          </a:p>
          <a:p>
            <a:pPr indent="-228600" defTabSz="914400" fontAlgn="base">
              <a:lnSpc>
                <a:spcPct val="90000"/>
              </a:lnSpc>
              <a:spcBef>
                <a:spcPts val="450"/>
              </a:spcBef>
              <a:spcAft>
                <a:spcPts val="450"/>
              </a:spcAft>
              <a:buFont typeface="Arial" panose="020B0604020202020204" pitchFamily="34" charset="0"/>
              <a:buChar char="•"/>
            </a:pPr>
            <a:r>
              <a:rPr lang="en-US" sz="2000" dirty="0"/>
              <a:t>Insertions and deletions of nucleotides can cause frameshift mutations;</a:t>
            </a:r>
          </a:p>
          <a:p>
            <a:pPr indent="-228600" defTabSz="914400" fontAlgn="base">
              <a:lnSpc>
                <a:spcPct val="90000"/>
              </a:lnSpc>
              <a:spcBef>
                <a:spcPts val="450"/>
              </a:spcBef>
              <a:spcAft>
                <a:spcPts val="450"/>
              </a:spcAft>
              <a:buFont typeface="Arial" panose="020B0604020202020204" pitchFamily="34" charset="0"/>
              <a:buChar char="•"/>
            </a:pPr>
            <a:r>
              <a:rPr lang="en-US" sz="2000" dirty="0"/>
              <a:t>Mutations (changes in DNA) that insert or delete one or two nucleotides can change the reading frame, causing an incorrect protein to be produced "downstream" of the mutation site;</a:t>
            </a:r>
          </a:p>
        </p:txBody>
      </p:sp>
      <p:sp>
        <p:nvSpPr>
          <p:cNvPr id="11" name="Rectangle 10">
            <a:extLst>
              <a:ext uri="{FF2B5EF4-FFF2-40B4-BE49-F238E27FC236}">
                <a16:creationId xmlns:a16="http://schemas.microsoft.com/office/drawing/2014/main" id="{59A309A7-1751-4ABE-A3C1-EEC40366AD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9435" y="0"/>
            <a:ext cx="1954565"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13" name="Oval 12">
            <a:extLst>
              <a:ext uri="{FF2B5EF4-FFF2-40B4-BE49-F238E27FC236}">
                <a16:creationId xmlns:a16="http://schemas.microsoft.com/office/drawing/2014/main" id="{967D8EB6-EAE1-4F9C-B398-83321E2872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29567" y="2369132"/>
            <a:ext cx="2119736" cy="2119736"/>
          </a:xfrm>
          <a:prstGeom prst="ellipse">
            <a:avLst/>
          </a:prstGeom>
          <a:solidFill>
            <a:srgbClr val="FFFFFF"/>
          </a:solidFill>
          <a:ln w="2222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8" name="Graphic 7" descr="DNA">
            <a:extLst>
              <a:ext uri="{FF2B5EF4-FFF2-40B4-BE49-F238E27FC236}">
                <a16:creationId xmlns:a16="http://schemas.microsoft.com/office/drawing/2014/main" id="{B8E81E16-646A-4132-AB7A-25DA95C6DD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24964" y="2865141"/>
            <a:ext cx="1143455" cy="1143455"/>
          </a:xfrm>
          <a:prstGeom prst="rect">
            <a:avLst/>
          </a:prstGeom>
        </p:spPr>
      </p:pic>
    </p:spTree>
    <p:extLst>
      <p:ext uri="{BB962C8B-B14F-4D97-AF65-F5344CB8AC3E}">
        <p14:creationId xmlns:p14="http://schemas.microsoft.com/office/powerpoint/2010/main" val="31701410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animEffect transition="in" filter="fade">
                                      <p:cBhvr>
                                        <p:cTn id="7" dur="1000"/>
                                        <p:tgtEl>
                                          <p:spTgt spid="2">
                                            <p:txEl>
                                              <p:pRg st="3" end="3"/>
                                            </p:txEl>
                                          </p:spTgt>
                                        </p:tgtEl>
                                      </p:cBhvr>
                                    </p:animEffect>
                                    <p:anim calcmode="lin" valueType="num">
                                      <p:cBhvr>
                                        <p:cTn id="8"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2">
                                            <p:txEl>
                                              <p:pRg st="4" end="4"/>
                                            </p:txEl>
                                          </p:spTgt>
                                        </p:tgtEl>
                                        <p:attrNameLst>
                                          <p:attrName>style.visibility</p:attrName>
                                        </p:attrNameLst>
                                      </p:cBhvr>
                                      <p:to>
                                        <p:strVal val="visible"/>
                                      </p:to>
                                    </p:set>
                                    <p:animEffect transition="in" filter="fade">
                                      <p:cBhvr>
                                        <p:cTn id="14" dur="1000"/>
                                        <p:tgtEl>
                                          <p:spTgt spid="2">
                                            <p:txEl>
                                              <p:pRg st="4" end="4"/>
                                            </p:txEl>
                                          </p:spTgt>
                                        </p:tgtEl>
                                      </p:cBhvr>
                                    </p:animEffect>
                                    <p:anim calcmode="lin" valueType="num">
                                      <p:cBhvr>
                                        <p:cTn id="15"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2">
                                            <p:txEl>
                                              <p:pRg st="5" end="5"/>
                                            </p:txEl>
                                          </p:spTgt>
                                        </p:tgtEl>
                                        <p:attrNameLst>
                                          <p:attrName>style.visibility</p:attrName>
                                        </p:attrNameLst>
                                      </p:cBhvr>
                                      <p:to>
                                        <p:strVal val="visible"/>
                                      </p:to>
                                    </p:set>
                                    <p:animEffect transition="in" filter="fade">
                                      <p:cBhvr>
                                        <p:cTn id="21" dur="1000"/>
                                        <p:tgtEl>
                                          <p:spTgt spid="2">
                                            <p:txEl>
                                              <p:pRg st="5" end="5"/>
                                            </p:txEl>
                                          </p:spTgt>
                                        </p:tgtEl>
                                      </p:cBhvr>
                                    </p:animEffect>
                                    <p:anim calcmode="lin" valueType="num">
                                      <p:cBhvr>
                                        <p:cTn id="22"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err="1"/>
              <a:t>Frameshift</a:t>
            </a:r>
            <a:r>
              <a:rPr lang="en-US" dirty="0"/>
              <a:t> mutations</a:t>
            </a:r>
          </a:p>
        </p:txBody>
      </p:sp>
      <p:sp>
        <p:nvSpPr>
          <p:cNvPr id="7" name="Text Placeholder 6"/>
          <p:cNvSpPr>
            <a:spLocks noGrp="1"/>
          </p:cNvSpPr>
          <p:nvPr>
            <p:ph type="body" sz="quarter" idx="14"/>
          </p:nvPr>
        </p:nvSpPr>
        <p:spPr/>
        <p:txBody>
          <a:bodyPr>
            <a:normAutofit/>
          </a:bodyPr>
          <a:lstStyle/>
          <a:p>
            <a:r>
              <a:rPr lang="en-US" sz="1600" dirty="0"/>
              <a:t>The deletion of two nucleotides shifts the reading frame of an mRNA and changes the entire protein message, creating a nonfunctional protein or terminating protein synthesis altogether.</a:t>
            </a:r>
          </a:p>
        </p:txBody>
      </p:sp>
      <p:pic>
        <p:nvPicPr>
          <p:cNvPr id="4" name="Picture Placeholder 3"/>
          <p:cNvPicPr>
            <a:picLocks noGrp="1" noChangeAspect="1"/>
          </p:cNvPicPr>
          <p:nvPr>
            <p:ph type="pic" sz="quarter" idx="13"/>
          </p:nvPr>
        </p:nvPicPr>
        <p:blipFill>
          <a:blip r:embed="rId2">
            <a:extLst>
              <a:ext uri="{28A0092B-C50C-407E-A947-70E740481C1C}">
                <a14:useLocalDpi xmlns:a14="http://schemas.microsoft.com/office/drawing/2010/main" val="0"/>
              </a:ext>
            </a:extLst>
          </a:blip>
          <a:stretch>
            <a:fillRect/>
          </a:stretch>
        </p:blipFill>
        <p:spPr>
          <a:xfrm>
            <a:off x="743671" y="1661228"/>
            <a:ext cx="6882216" cy="1473857"/>
          </a:xfrm>
        </p:spPr>
      </p:pic>
    </p:spTree>
    <p:extLst>
      <p:ext uri="{BB962C8B-B14F-4D97-AF65-F5344CB8AC3E}">
        <p14:creationId xmlns:p14="http://schemas.microsoft.com/office/powerpoint/2010/main" val="347972668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1E3E1360-221C-480E-A78E-F5A6EEA070DE}"/>
              </a:ext>
            </a:extLst>
          </p:cNvPr>
          <p:cNvGrpSpPr/>
          <p:nvPr/>
        </p:nvGrpSpPr>
        <p:grpSpPr>
          <a:xfrm>
            <a:off x="1277634" y="1742473"/>
            <a:ext cx="6210690" cy="3674249"/>
            <a:chOff x="179512" y="1180295"/>
            <a:chExt cx="8280920" cy="4898999"/>
          </a:xfrm>
        </p:grpSpPr>
        <p:pic>
          <p:nvPicPr>
            <p:cNvPr id="2" name="Picture 4" descr="Related image">
              <a:extLst>
                <a:ext uri="{FF2B5EF4-FFF2-40B4-BE49-F238E27FC236}">
                  <a16:creationId xmlns:a16="http://schemas.microsoft.com/office/drawing/2014/main" id="{685679C6-A4E3-4B31-BD70-1D27562E54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268760"/>
              <a:ext cx="8280920" cy="481053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771BB108-63DC-4D29-85E5-A5E8CE390C43}"/>
                </a:ext>
              </a:extLst>
            </p:cNvPr>
            <p:cNvSpPr/>
            <p:nvPr/>
          </p:nvSpPr>
          <p:spPr>
            <a:xfrm>
              <a:off x="3491880" y="1180295"/>
              <a:ext cx="1656184" cy="43204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6" name="Rectangle: Rounded Corners 5">
              <a:extLst>
                <a:ext uri="{FF2B5EF4-FFF2-40B4-BE49-F238E27FC236}">
                  <a16:creationId xmlns:a16="http://schemas.microsoft.com/office/drawing/2014/main" id="{FDE4DA59-9F00-4405-9645-B04855623FC6}"/>
                </a:ext>
              </a:extLst>
            </p:cNvPr>
            <p:cNvSpPr/>
            <p:nvPr/>
          </p:nvSpPr>
          <p:spPr>
            <a:xfrm>
              <a:off x="3419872" y="3618180"/>
              <a:ext cx="1656184" cy="432048"/>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grpSp>
      <p:sp>
        <p:nvSpPr>
          <p:cNvPr id="4" name="Rectangle 3">
            <a:extLst>
              <a:ext uri="{FF2B5EF4-FFF2-40B4-BE49-F238E27FC236}">
                <a16:creationId xmlns:a16="http://schemas.microsoft.com/office/drawing/2014/main" id="{8E4DEC71-3C81-4C13-AD78-EDA11EE9E208}"/>
              </a:ext>
            </a:extLst>
          </p:cNvPr>
          <p:cNvSpPr/>
          <p:nvPr/>
        </p:nvSpPr>
        <p:spPr>
          <a:xfrm>
            <a:off x="2411760" y="1771265"/>
            <a:ext cx="4070410" cy="369332"/>
          </a:xfrm>
          <a:prstGeom prst="rect">
            <a:avLst/>
          </a:prstGeom>
        </p:spPr>
        <p:txBody>
          <a:bodyPr wrap="none">
            <a:spAutoFit/>
          </a:bodyPr>
          <a:lstStyle/>
          <a:p>
            <a:r>
              <a:rPr lang="en-GB">
                <a:solidFill>
                  <a:srgbClr val="21242C"/>
                </a:solidFill>
                <a:latin typeface="Arial" panose="020B0604020202020204" pitchFamily="34" charset="0"/>
                <a:cs typeface="Arial" panose="020B0604020202020204" pitchFamily="34" charset="0"/>
              </a:rPr>
              <a:t>Insertion of a nucleotide (one base </a:t>
            </a:r>
            <a:r>
              <a:rPr lang="en-GB">
                <a:solidFill>
                  <a:srgbClr val="FF0000"/>
                </a:solidFill>
                <a:latin typeface="Arial" panose="020B0604020202020204" pitchFamily="34" charset="0"/>
                <a:cs typeface="Arial" panose="020B0604020202020204" pitchFamily="34" charset="0"/>
              </a:rPr>
              <a:t>A</a:t>
            </a:r>
            <a:r>
              <a:rPr lang="en-GB">
                <a:solidFill>
                  <a:srgbClr val="21242C"/>
                </a:solidFill>
                <a:latin typeface="Arial" panose="020B0604020202020204" pitchFamily="34" charset="0"/>
                <a:cs typeface="Arial" panose="020B0604020202020204" pitchFamily="34" charset="0"/>
              </a:rPr>
              <a:t>) </a:t>
            </a:r>
            <a:endParaRPr lang="en-GB"/>
          </a:p>
        </p:txBody>
      </p:sp>
      <p:sp>
        <p:nvSpPr>
          <p:cNvPr id="8" name="Rectangle 7">
            <a:extLst>
              <a:ext uri="{FF2B5EF4-FFF2-40B4-BE49-F238E27FC236}">
                <a16:creationId xmlns:a16="http://schemas.microsoft.com/office/drawing/2014/main" id="{9BECDC5D-028C-41E8-AFAD-7120886985B7}"/>
              </a:ext>
            </a:extLst>
          </p:cNvPr>
          <p:cNvSpPr/>
          <p:nvPr/>
        </p:nvSpPr>
        <p:spPr>
          <a:xfrm>
            <a:off x="2411761" y="3637625"/>
            <a:ext cx="4057521" cy="369332"/>
          </a:xfrm>
          <a:prstGeom prst="rect">
            <a:avLst/>
          </a:prstGeom>
        </p:spPr>
        <p:txBody>
          <a:bodyPr wrap="none">
            <a:spAutoFit/>
          </a:bodyPr>
          <a:lstStyle/>
          <a:p>
            <a:r>
              <a:rPr lang="en-GB">
                <a:solidFill>
                  <a:srgbClr val="21242C"/>
                </a:solidFill>
                <a:latin typeface="Arial" panose="020B0604020202020204" pitchFamily="34" charset="0"/>
                <a:cs typeface="Arial" panose="020B0604020202020204" pitchFamily="34" charset="0"/>
              </a:rPr>
              <a:t>Deletion of a nucleotide (one base </a:t>
            </a:r>
            <a:r>
              <a:rPr lang="en-GB">
                <a:solidFill>
                  <a:srgbClr val="FF0000"/>
                </a:solidFill>
                <a:latin typeface="Arial" panose="020B0604020202020204" pitchFamily="34" charset="0"/>
                <a:cs typeface="Arial" panose="020B0604020202020204" pitchFamily="34" charset="0"/>
              </a:rPr>
              <a:t>C</a:t>
            </a:r>
            <a:r>
              <a:rPr lang="en-GB">
                <a:solidFill>
                  <a:srgbClr val="21242C"/>
                </a:solidFill>
                <a:latin typeface="Arial" panose="020B0604020202020204" pitchFamily="34" charset="0"/>
                <a:cs typeface="Arial" panose="020B0604020202020204" pitchFamily="34" charset="0"/>
              </a:rPr>
              <a:t>) </a:t>
            </a:r>
            <a:endParaRPr lang="en-GB"/>
          </a:p>
        </p:txBody>
      </p:sp>
      <p:sp>
        <p:nvSpPr>
          <p:cNvPr id="9" name="Rectangle 8">
            <a:extLst>
              <a:ext uri="{FF2B5EF4-FFF2-40B4-BE49-F238E27FC236}">
                <a16:creationId xmlns:a16="http://schemas.microsoft.com/office/drawing/2014/main" id="{DAE6ADC3-6F46-40D8-A547-5D79AD82617A}"/>
              </a:ext>
            </a:extLst>
          </p:cNvPr>
          <p:cNvSpPr/>
          <p:nvPr/>
        </p:nvSpPr>
        <p:spPr>
          <a:xfrm>
            <a:off x="1169622" y="1299051"/>
            <a:ext cx="2696572" cy="415498"/>
          </a:xfrm>
          <a:prstGeom prst="rect">
            <a:avLst/>
          </a:prstGeom>
        </p:spPr>
        <p:txBody>
          <a:bodyPr wrap="none">
            <a:spAutoFit/>
          </a:bodyPr>
          <a:lstStyle/>
          <a:p>
            <a:r>
              <a:rPr lang="en-GB" sz="2100">
                <a:solidFill>
                  <a:srgbClr val="7030A0"/>
                </a:solidFill>
                <a:latin typeface="Arial" panose="020B0604020202020204" pitchFamily="34" charset="0"/>
                <a:cs typeface="Arial" panose="020B0604020202020204" pitchFamily="34" charset="0"/>
              </a:rPr>
              <a:t>Frameshift Mutations</a:t>
            </a:r>
            <a:endParaRPr lang="en-GB" sz="2100"/>
          </a:p>
        </p:txBody>
      </p:sp>
      <p:sp>
        <p:nvSpPr>
          <p:cNvPr id="10" name="Title 1">
            <a:extLst>
              <a:ext uri="{FF2B5EF4-FFF2-40B4-BE49-F238E27FC236}">
                <a16:creationId xmlns:a16="http://schemas.microsoft.com/office/drawing/2014/main" id="{F0C9E6BD-8760-4FD0-8A12-A941D7720019}"/>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spTree>
    <p:extLst>
      <p:ext uri="{BB962C8B-B14F-4D97-AF65-F5344CB8AC3E}">
        <p14:creationId xmlns:p14="http://schemas.microsoft.com/office/powerpoint/2010/main" val="30458561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2F08412-E7C9-480D-8546-D945000D910F}"/>
              </a:ext>
            </a:extLst>
          </p:cNvPr>
          <p:cNvSpPr/>
          <p:nvPr/>
        </p:nvSpPr>
        <p:spPr>
          <a:xfrm>
            <a:off x="1277634" y="1214755"/>
            <a:ext cx="1107996" cy="369332"/>
          </a:xfrm>
          <a:prstGeom prst="rect">
            <a:avLst/>
          </a:prstGeom>
        </p:spPr>
        <p:txBody>
          <a:bodyPr wrap="none">
            <a:spAutoFit/>
          </a:bodyPr>
          <a:lstStyle/>
          <a:p>
            <a:r>
              <a:rPr lang="en-GB">
                <a:solidFill>
                  <a:srgbClr val="0070C0"/>
                </a:solidFill>
                <a:latin typeface="Arial" panose="020B0604020202020204" pitchFamily="34" charset="0"/>
                <a:cs typeface="Arial" panose="020B0604020202020204" pitchFamily="34" charset="0"/>
              </a:rPr>
              <a:t>Activity 3</a:t>
            </a:r>
            <a:endParaRPr lang="en-GB">
              <a:latin typeface="Arial" panose="020B0604020202020204" pitchFamily="34" charset="0"/>
              <a:cs typeface="Arial" panose="020B0604020202020204" pitchFamily="34" charset="0"/>
            </a:endParaRPr>
          </a:p>
        </p:txBody>
      </p:sp>
      <p:grpSp>
        <p:nvGrpSpPr>
          <p:cNvPr id="5" name="Group 4">
            <a:extLst>
              <a:ext uri="{FF2B5EF4-FFF2-40B4-BE49-F238E27FC236}">
                <a16:creationId xmlns:a16="http://schemas.microsoft.com/office/drawing/2014/main" id="{1B5097D6-EE47-44C2-A8E9-0E4AD9B6D4F1}"/>
              </a:ext>
            </a:extLst>
          </p:cNvPr>
          <p:cNvGrpSpPr/>
          <p:nvPr/>
        </p:nvGrpSpPr>
        <p:grpSpPr>
          <a:xfrm>
            <a:off x="1277634" y="1592797"/>
            <a:ext cx="4212468" cy="1731189"/>
            <a:chOff x="179512" y="980728"/>
            <a:chExt cx="5616624" cy="2308253"/>
          </a:xfrm>
        </p:grpSpPr>
        <p:sp>
          <p:nvSpPr>
            <p:cNvPr id="2" name="Rectangle 1">
              <a:extLst>
                <a:ext uri="{FF2B5EF4-FFF2-40B4-BE49-F238E27FC236}">
                  <a16:creationId xmlns:a16="http://schemas.microsoft.com/office/drawing/2014/main" id="{983A0745-B4A4-413D-BFFC-1E5355D8EAAD}"/>
                </a:ext>
              </a:extLst>
            </p:cNvPr>
            <p:cNvSpPr/>
            <p:nvPr/>
          </p:nvSpPr>
          <p:spPr>
            <a:xfrm>
              <a:off x="179512" y="980728"/>
              <a:ext cx="5616624" cy="430887"/>
            </a:xfrm>
            <a:prstGeom prst="rect">
              <a:avLst/>
            </a:prstGeom>
          </p:spPr>
          <p:txBody>
            <a:bodyPr wrap="square">
              <a:spAutoFit/>
            </a:bodyPr>
            <a:lstStyle/>
            <a:p>
              <a:r>
                <a:rPr lang="en-GB" sz="1500">
                  <a:latin typeface="Arial" panose="020B0604020202020204" pitchFamily="34" charset="0"/>
                </a:rPr>
                <a:t>The genetic code is degenerate because:</a:t>
              </a:r>
            </a:p>
          </p:txBody>
        </p:sp>
        <p:sp>
          <p:nvSpPr>
            <p:cNvPr id="6" name="Rectangle 5">
              <a:extLst>
                <a:ext uri="{FF2B5EF4-FFF2-40B4-BE49-F238E27FC236}">
                  <a16:creationId xmlns:a16="http://schemas.microsoft.com/office/drawing/2014/main" id="{E656E47D-6F4C-42FC-AFA2-5E67755379CC}"/>
                </a:ext>
              </a:extLst>
            </p:cNvPr>
            <p:cNvSpPr/>
            <p:nvPr/>
          </p:nvSpPr>
          <p:spPr>
            <a:xfrm>
              <a:off x="179512" y="1412776"/>
              <a:ext cx="4752528" cy="430887"/>
            </a:xfrm>
            <a:prstGeom prst="rect">
              <a:avLst/>
            </a:prstGeom>
          </p:spPr>
          <p:txBody>
            <a:bodyPr wrap="square">
              <a:spAutoFit/>
            </a:bodyPr>
            <a:lstStyle/>
            <a:p>
              <a:r>
                <a:rPr lang="en-GB" sz="1500">
                  <a:latin typeface="Arial" panose="020B0604020202020204" pitchFamily="34" charset="0"/>
                </a:rPr>
                <a:t>a. 61 codons define 20 amino acids;</a:t>
              </a:r>
            </a:p>
          </p:txBody>
        </p:sp>
        <p:sp>
          <p:nvSpPr>
            <p:cNvPr id="7" name="Rectangle 6">
              <a:extLst>
                <a:ext uri="{FF2B5EF4-FFF2-40B4-BE49-F238E27FC236}">
                  <a16:creationId xmlns:a16="http://schemas.microsoft.com/office/drawing/2014/main" id="{40DA486A-5433-4553-8B7C-8E45FA01E0FD}"/>
                </a:ext>
              </a:extLst>
            </p:cNvPr>
            <p:cNvSpPr/>
            <p:nvPr/>
          </p:nvSpPr>
          <p:spPr>
            <a:xfrm>
              <a:off x="179512" y="1890052"/>
              <a:ext cx="4464496" cy="430887"/>
            </a:xfrm>
            <a:prstGeom prst="rect">
              <a:avLst/>
            </a:prstGeom>
          </p:spPr>
          <p:txBody>
            <a:bodyPr wrap="square">
              <a:spAutoFit/>
            </a:bodyPr>
            <a:lstStyle/>
            <a:p>
              <a:r>
                <a:rPr lang="en-GB" sz="1500">
                  <a:latin typeface="Arial" panose="020B0604020202020204" pitchFamily="34" charset="0"/>
                </a:rPr>
                <a:t>b. 20 codons define 64 amino acids;</a:t>
              </a:r>
            </a:p>
          </p:txBody>
        </p:sp>
        <p:sp>
          <p:nvSpPr>
            <p:cNvPr id="8" name="Rectangle 7">
              <a:extLst>
                <a:ext uri="{FF2B5EF4-FFF2-40B4-BE49-F238E27FC236}">
                  <a16:creationId xmlns:a16="http://schemas.microsoft.com/office/drawing/2014/main" id="{4D740B3E-ADDB-486D-AE05-FE98ED7C7C1D}"/>
                </a:ext>
              </a:extLst>
            </p:cNvPr>
            <p:cNvSpPr/>
            <p:nvPr/>
          </p:nvSpPr>
          <p:spPr>
            <a:xfrm>
              <a:off x="179512" y="2348880"/>
              <a:ext cx="4752528" cy="430887"/>
            </a:xfrm>
            <a:prstGeom prst="rect">
              <a:avLst/>
            </a:prstGeom>
          </p:spPr>
          <p:txBody>
            <a:bodyPr wrap="square">
              <a:spAutoFit/>
            </a:bodyPr>
            <a:lstStyle/>
            <a:p>
              <a:r>
                <a:rPr lang="en-GB" sz="1500">
                  <a:latin typeface="Arial" panose="020B0604020202020204" pitchFamily="34" charset="0"/>
                </a:rPr>
                <a:t>c. 64 codons define 24 amino acids;</a:t>
              </a:r>
            </a:p>
          </p:txBody>
        </p:sp>
        <p:sp>
          <p:nvSpPr>
            <p:cNvPr id="9" name="Rectangle 8">
              <a:extLst>
                <a:ext uri="{FF2B5EF4-FFF2-40B4-BE49-F238E27FC236}">
                  <a16:creationId xmlns:a16="http://schemas.microsoft.com/office/drawing/2014/main" id="{1256DB3C-0D1C-42AE-8377-D1AF408E3B7B}"/>
                </a:ext>
              </a:extLst>
            </p:cNvPr>
            <p:cNvSpPr/>
            <p:nvPr/>
          </p:nvSpPr>
          <p:spPr>
            <a:xfrm>
              <a:off x="179512" y="2858094"/>
              <a:ext cx="4392488" cy="430887"/>
            </a:xfrm>
            <a:prstGeom prst="rect">
              <a:avLst/>
            </a:prstGeom>
          </p:spPr>
          <p:txBody>
            <a:bodyPr wrap="square">
              <a:spAutoFit/>
            </a:bodyPr>
            <a:lstStyle/>
            <a:p>
              <a:r>
                <a:rPr lang="en-GB" sz="1500">
                  <a:latin typeface="Arial" panose="020B0604020202020204" pitchFamily="34" charset="0"/>
                </a:rPr>
                <a:t>d. 20 codons define 20 amino acids;</a:t>
              </a:r>
            </a:p>
          </p:txBody>
        </p:sp>
      </p:grpSp>
      <p:sp>
        <p:nvSpPr>
          <p:cNvPr id="10" name="Rectangle: Rounded Corners 9">
            <a:extLst>
              <a:ext uri="{FF2B5EF4-FFF2-40B4-BE49-F238E27FC236}">
                <a16:creationId xmlns:a16="http://schemas.microsoft.com/office/drawing/2014/main" id="{F0F08B32-715E-46A1-897A-A3863727CBDE}"/>
              </a:ext>
            </a:extLst>
          </p:cNvPr>
          <p:cNvSpPr/>
          <p:nvPr/>
        </p:nvSpPr>
        <p:spPr>
          <a:xfrm>
            <a:off x="1235989" y="1942657"/>
            <a:ext cx="3348371" cy="239151"/>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2" name="Rectangle 11">
            <a:extLst>
              <a:ext uri="{FF2B5EF4-FFF2-40B4-BE49-F238E27FC236}">
                <a16:creationId xmlns:a16="http://schemas.microsoft.com/office/drawing/2014/main" id="{7D632CDD-4310-4A4B-949F-CCB73B279275}"/>
              </a:ext>
            </a:extLst>
          </p:cNvPr>
          <p:cNvSpPr/>
          <p:nvPr/>
        </p:nvSpPr>
        <p:spPr>
          <a:xfrm>
            <a:off x="1253898" y="3935957"/>
            <a:ext cx="6480720" cy="2118529"/>
          </a:xfrm>
          <a:prstGeom prst="rect">
            <a:avLst/>
          </a:prstGeom>
        </p:spPr>
        <p:txBody>
          <a:bodyPr wrap="square">
            <a:spAutoFit/>
          </a:bodyPr>
          <a:lstStyle/>
          <a:p>
            <a:pPr fontAlgn="base">
              <a:spcBef>
                <a:spcPts val="450"/>
              </a:spcBef>
              <a:spcAft>
                <a:spcPts val="450"/>
              </a:spcAft>
            </a:pPr>
            <a:r>
              <a:rPr lang="en-GB" sz="1500">
                <a:latin typeface="Arial" panose="020B0604020202020204" pitchFamily="34" charset="0"/>
                <a:cs typeface="Arial" panose="020B0604020202020204" pitchFamily="34" charset="0"/>
              </a:rPr>
              <a:t>In protein synthesis, a frameshift mutation results from:</a:t>
            </a:r>
          </a:p>
          <a:p>
            <a:pPr fontAlgn="base">
              <a:spcBef>
                <a:spcPts val="450"/>
              </a:spcBef>
              <a:spcAft>
                <a:spcPts val="450"/>
              </a:spcAft>
            </a:pPr>
            <a:r>
              <a:rPr lang="en-GB" sz="1500">
                <a:latin typeface="Arial" panose="020B0604020202020204" pitchFamily="34" charset="0"/>
                <a:cs typeface="Arial" panose="020B0604020202020204" pitchFamily="34" charset="0"/>
              </a:rPr>
              <a:t>a. insertions or deletions of nucleotides;</a:t>
            </a:r>
          </a:p>
          <a:p>
            <a:pPr fontAlgn="base">
              <a:spcBef>
                <a:spcPts val="450"/>
              </a:spcBef>
              <a:spcAft>
                <a:spcPts val="450"/>
              </a:spcAft>
            </a:pPr>
            <a:r>
              <a:rPr lang="en-GB" sz="1500">
                <a:latin typeface="Arial" panose="020B0604020202020204" pitchFamily="34" charset="0"/>
                <a:cs typeface="Arial" panose="020B0604020202020204" pitchFamily="34" charset="0"/>
              </a:rPr>
              <a:t>b. the start codon AUG;</a:t>
            </a:r>
          </a:p>
          <a:p>
            <a:pPr fontAlgn="base">
              <a:spcBef>
                <a:spcPts val="450"/>
              </a:spcBef>
              <a:spcAft>
                <a:spcPts val="450"/>
              </a:spcAft>
            </a:pPr>
            <a:r>
              <a:rPr lang="en-GB" sz="1500">
                <a:latin typeface="Arial" panose="020B0604020202020204" pitchFamily="34" charset="0"/>
                <a:cs typeface="Arial" panose="020B0604020202020204" pitchFamily="34" charset="0"/>
              </a:rPr>
              <a:t>c. the stop codon UGA;</a:t>
            </a:r>
          </a:p>
          <a:p>
            <a:pPr fontAlgn="base">
              <a:spcBef>
                <a:spcPts val="450"/>
              </a:spcBef>
              <a:spcAft>
                <a:spcPts val="450"/>
              </a:spcAft>
            </a:pPr>
            <a:r>
              <a:rPr lang="en-GB" sz="1500">
                <a:latin typeface="Arial" panose="020B0604020202020204" pitchFamily="34" charset="0"/>
                <a:cs typeface="Arial" panose="020B0604020202020204" pitchFamily="34" charset="0"/>
              </a:rPr>
              <a:t>d. the stop codon UAA;</a:t>
            </a:r>
          </a:p>
          <a:p>
            <a:pPr fontAlgn="base">
              <a:spcBef>
                <a:spcPts val="450"/>
              </a:spcBef>
              <a:spcAft>
                <a:spcPts val="450"/>
              </a:spcAft>
            </a:pPr>
            <a:endParaRPr lang="en-GB" sz="1500">
              <a:latin typeface="Arial" panose="020B0604020202020204" pitchFamily="34" charset="0"/>
              <a:cs typeface="Arial" panose="020B0604020202020204" pitchFamily="34" charset="0"/>
            </a:endParaRPr>
          </a:p>
        </p:txBody>
      </p:sp>
      <p:sp>
        <p:nvSpPr>
          <p:cNvPr id="13" name="Rectangle: Rounded Corners 12">
            <a:extLst>
              <a:ext uri="{FF2B5EF4-FFF2-40B4-BE49-F238E27FC236}">
                <a16:creationId xmlns:a16="http://schemas.microsoft.com/office/drawing/2014/main" id="{F80A62C1-9CD9-404C-A1C0-22D67FAC0590}"/>
              </a:ext>
            </a:extLst>
          </p:cNvPr>
          <p:cNvSpPr/>
          <p:nvPr/>
        </p:nvSpPr>
        <p:spPr>
          <a:xfrm>
            <a:off x="1235989" y="4317867"/>
            <a:ext cx="3532649" cy="239151"/>
          </a:xfrm>
          <a:prstGeom prst="roundRect">
            <a:avLst/>
          </a:prstGeom>
          <a:noFill/>
          <a:ln>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p>
        </p:txBody>
      </p:sp>
      <p:sp>
        <p:nvSpPr>
          <p:cNvPr id="14" name="Rectangle 13">
            <a:extLst>
              <a:ext uri="{FF2B5EF4-FFF2-40B4-BE49-F238E27FC236}">
                <a16:creationId xmlns:a16="http://schemas.microsoft.com/office/drawing/2014/main" id="{F1228115-C6E8-4695-94DE-A331D2DBBF9D}"/>
              </a:ext>
            </a:extLst>
          </p:cNvPr>
          <p:cNvSpPr/>
          <p:nvPr/>
        </p:nvSpPr>
        <p:spPr>
          <a:xfrm>
            <a:off x="1253283" y="3668681"/>
            <a:ext cx="1107996" cy="369332"/>
          </a:xfrm>
          <a:prstGeom prst="rect">
            <a:avLst/>
          </a:prstGeom>
        </p:spPr>
        <p:txBody>
          <a:bodyPr wrap="none">
            <a:spAutoFit/>
          </a:bodyPr>
          <a:lstStyle/>
          <a:p>
            <a:r>
              <a:rPr lang="en-GB">
                <a:solidFill>
                  <a:srgbClr val="0070C0"/>
                </a:solidFill>
                <a:latin typeface="Arial" panose="020B0604020202020204" pitchFamily="34" charset="0"/>
                <a:cs typeface="Arial" panose="020B0604020202020204" pitchFamily="34" charset="0"/>
              </a:rPr>
              <a:t>Activity 4</a:t>
            </a:r>
            <a:endParaRPr lang="en-GB">
              <a:latin typeface="Arial" panose="020B0604020202020204" pitchFamily="34" charset="0"/>
              <a:cs typeface="Arial" panose="020B0604020202020204" pitchFamily="34" charset="0"/>
            </a:endParaRPr>
          </a:p>
        </p:txBody>
      </p:sp>
      <p:sp>
        <p:nvSpPr>
          <p:cNvPr id="15" name="Title 1">
            <a:extLst>
              <a:ext uri="{FF2B5EF4-FFF2-40B4-BE49-F238E27FC236}">
                <a16:creationId xmlns:a16="http://schemas.microsoft.com/office/drawing/2014/main" id="{9558AFF7-3198-4909-ADC2-023E6A67C003}"/>
              </a:ext>
            </a:extLst>
          </p:cNvPr>
          <p:cNvSpPr txBox="1">
            <a:spLocks/>
          </p:cNvSpPr>
          <p:nvPr/>
        </p:nvSpPr>
        <p:spPr>
          <a:xfrm>
            <a:off x="2438763" y="890718"/>
            <a:ext cx="4320480" cy="486054"/>
          </a:xfrm>
          <a:prstGeom prst="rect">
            <a:avLst/>
          </a:prstGeom>
        </p:spPr>
        <p:txBody>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GB" sz="2400">
                <a:solidFill>
                  <a:srgbClr val="FF0000"/>
                </a:solidFill>
                <a:latin typeface="Arial" panose="020B0604020202020204" pitchFamily="34" charset="0"/>
                <a:cs typeface="Arial" panose="020B0604020202020204" pitchFamily="34" charset="0"/>
              </a:rPr>
              <a:t>Translation: The Genetic Code</a:t>
            </a:r>
          </a:p>
        </p:txBody>
      </p:sp>
    </p:spTree>
    <p:extLst>
      <p:ext uri="{BB962C8B-B14F-4D97-AF65-F5344CB8AC3E}">
        <p14:creationId xmlns:p14="http://schemas.microsoft.com/office/powerpoint/2010/main" val="24149425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1000"/>
                                        <p:tgtEl>
                                          <p:spTgt spid="10"/>
                                        </p:tgtEl>
                                      </p:cBhvr>
                                    </p:animEffect>
                                    <p:anim calcmode="lin" valueType="num">
                                      <p:cBhvr>
                                        <p:cTn id="8" dur="1000" fill="hold"/>
                                        <p:tgtEl>
                                          <p:spTgt spid="10"/>
                                        </p:tgtEl>
                                        <p:attrNameLst>
                                          <p:attrName>ppt_x</p:attrName>
                                        </p:attrNameLst>
                                      </p:cBhvr>
                                      <p:tavLst>
                                        <p:tav tm="0">
                                          <p:val>
                                            <p:strVal val="#ppt_x"/>
                                          </p:val>
                                        </p:tav>
                                        <p:tav tm="100000">
                                          <p:val>
                                            <p:strVal val="#ppt_x"/>
                                          </p:val>
                                        </p:tav>
                                      </p:tavLst>
                                    </p:anim>
                                    <p:anim calcmode="lin" valueType="num">
                                      <p:cBhvr>
                                        <p:cTn id="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1000"/>
                                        <p:tgtEl>
                                          <p:spTgt spid="12"/>
                                        </p:tgtEl>
                                      </p:cBhvr>
                                    </p:animEffect>
                                    <p:anim calcmode="lin" valueType="num">
                                      <p:cBhvr>
                                        <p:cTn id="15" dur="1000" fill="hold"/>
                                        <p:tgtEl>
                                          <p:spTgt spid="12"/>
                                        </p:tgtEl>
                                        <p:attrNameLst>
                                          <p:attrName>ppt_x</p:attrName>
                                        </p:attrNameLst>
                                      </p:cBhvr>
                                      <p:tavLst>
                                        <p:tav tm="0">
                                          <p:val>
                                            <p:strVal val="#ppt_x"/>
                                          </p:val>
                                        </p:tav>
                                        <p:tav tm="100000">
                                          <p:val>
                                            <p:strVal val="#ppt_x"/>
                                          </p:val>
                                        </p:tav>
                                      </p:tavLst>
                                    </p:anim>
                                    <p:anim calcmode="lin" valueType="num">
                                      <p:cBhvr>
                                        <p:cTn id="16" dur="1000" fill="hold"/>
                                        <p:tgtEl>
                                          <p:spTgt spid="12"/>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1000"/>
                                        <p:tgtEl>
                                          <p:spTgt spid="14"/>
                                        </p:tgtEl>
                                      </p:cBhvr>
                                    </p:animEffect>
                                    <p:anim calcmode="lin" valueType="num">
                                      <p:cBhvr>
                                        <p:cTn id="20" dur="1000" fill="hold"/>
                                        <p:tgtEl>
                                          <p:spTgt spid="14"/>
                                        </p:tgtEl>
                                        <p:attrNameLst>
                                          <p:attrName>ppt_x</p:attrName>
                                        </p:attrNameLst>
                                      </p:cBhvr>
                                      <p:tavLst>
                                        <p:tav tm="0">
                                          <p:val>
                                            <p:strVal val="#ppt_x"/>
                                          </p:val>
                                        </p:tav>
                                        <p:tav tm="100000">
                                          <p:val>
                                            <p:strVal val="#ppt_x"/>
                                          </p:val>
                                        </p:tav>
                                      </p:tavLst>
                                    </p:anim>
                                    <p:anim calcmode="lin" valueType="num">
                                      <p:cBhvr>
                                        <p:cTn id="21"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fade">
                                      <p:cBhvr>
                                        <p:cTn id="26" dur="1000"/>
                                        <p:tgtEl>
                                          <p:spTgt spid="13"/>
                                        </p:tgtEl>
                                      </p:cBhvr>
                                    </p:animEffect>
                                    <p:anim calcmode="lin" valueType="num">
                                      <p:cBhvr>
                                        <p:cTn id="27" dur="1000" fill="hold"/>
                                        <p:tgtEl>
                                          <p:spTgt spid="13"/>
                                        </p:tgtEl>
                                        <p:attrNameLst>
                                          <p:attrName>ppt_x</p:attrName>
                                        </p:attrNameLst>
                                      </p:cBhvr>
                                      <p:tavLst>
                                        <p:tav tm="0">
                                          <p:val>
                                            <p:strVal val="#ppt_x"/>
                                          </p:val>
                                        </p:tav>
                                        <p:tav tm="100000">
                                          <p:val>
                                            <p:strVal val="#ppt_x"/>
                                          </p:val>
                                        </p:tav>
                                      </p:tavLst>
                                    </p:anim>
                                    <p:anim calcmode="lin" valueType="num">
                                      <p:cBhvr>
                                        <p:cTn id="28"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p:bldP spid="13" grpId="0" animBg="1"/>
      <p:bldP spid="14"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F8E73F-1A9C-49B6-ADCF-D04CFE483FFA}"/>
              </a:ext>
            </a:extLst>
          </p:cNvPr>
          <p:cNvSpPr>
            <a:spLocks noGrp="1"/>
          </p:cNvSpPr>
          <p:nvPr>
            <p:ph type="title"/>
          </p:nvPr>
        </p:nvSpPr>
        <p:spPr>
          <a:xfrm>
            <a:off x="2037320" y="69979"/>
            <a:ext cx="5772150" cy="611058"/>
          </a:xfrm>
        </p:spPr>
        <p:txBody>
          <a:bodyPr>
            <a:normAutofit fontScale="90000"/>
          </a:bodyPr>
          <a:lstStyle/>
          <a:p>
            <a:r>
              <a:rPr lang="en-GB" dirty="0"/>
              <a:t>Gene and Protein</a:t>
            </a:r>
          </a:p>
        </p:txBody>
      </p:sp>
      <p:pic>
        <p:nvPicPr>
          <p:cNvPr id="4" name="Online Media 3" title="Genes to Proteins">
            <a:hlinkClick r:id="" action="ppaction://media"/>
            <a:extLst>
              <a:ext uri="{FF2B5EF4-FFF2-40B4-BE49-F238E27FC236}">
                <a16:creationId xmlns:a16="http://schemas.microsoft.com/office/drawing/2014/main" id="{633804EB-25C3-4CDA-81B9-414BF1BF6EF1}"/>
              </a:ext>
            </a:extLst>
          </p:cNvPr>
          <p:cNvPicPr>
            <a:picLocks noGrp="1" noRot="1" noChangeAspect="1"/>
          </p:cNvPicPr>
          <p:nvPr>
            <p:ph idx="1"/>
            <a:videoFile r:link="rId1"/>
          </p:nvPr>
        </p:nvPicPr>
        <p:blipFill>
          <a:blip r:embed="rId3"/>
          <a:stretch>
            <a:fillRect/>
          </a:stretch>
        </p:blipFill>
        <p:spPr>
          <a:xfrm>
            <a:off x="112000" y="1087395"/>
            <a:ext cx="8920000" cy="5040141"/>
          </a:xfrm>
          <a:prstGeom prst="rect">
            <a:avLst/>
          </a:prstGeom>
        </p:spPr>
      </p:pic>
    </p:spTree>
    <p:extLst>
      <p:ext uri="{BB962C8B-B14F-4D97-AF65-F5344CB8AC3E}">
        <p14:creationId xmlns:p14="http://schemas.microsoft.com/office/powerpoint/2010/main" val="2170956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860045"/>
            <a:ext cx="4694659" cy="573405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10299"/>
          <a:stretch/>
        </p:blipFill>
        <p:spPr>
          <a:xfrm>
            <a:off x="-1" y="857250"/>
            <a:ext cx="9144001" cy="5734050"/>
          </a:xfrm>
          <a:prstGeom prst="rect">
            <a:avLst/>
          </a:prstGeom>
        </p:spPr>
      </p:pic>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25" y="1468363"/>
            <a:ext cx="4180922" cy="4515805"/>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1350"/>
          </a:p>
        </p:txBody>
      </p:sp>
      <p:pic>
        <p:nvPicPr>
          <p:cNvPr id="7" name="Graphic 6" descr="Question mark">
            <a:extLst>
              <a:ext uri="{FF2B5EF4-FFF2-40B4-BE49-F238E27FC236}">
                <a16:creationId xmlns:a16="http://schemas.microsoft.com/office/drawing/2014/main" id="{1A6DB0B7-44F8-472B-92A7-13AAF09D050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39490" y="2079067"/>
            <a:ext cx="3026740" cy="3026740"/>
          </a:xfrm>
          <a:prstGeom prst="rect">
            <a:avLst/>
          </a:prstGeom>
        </p:spPr>
      </p:pic>
      <p:sp>
        <p:nvSpPr>
          <p:cNvPr id="3" name="Content Placeholder 2"/>
          <p:cNvSpPr>
            <a:spLocks noGrp="1"/>
          </p:cNvSpPr>
          <p:nvPr>
            <p:ph idx="1"/>
          </p:nvPr>
        </p:nvSpPr>
        <p:spPr>
          <a:xfrm>
            <a:off x="4917522" y="1339177"/>
            <a:ext cx="4003614" cy="2927188"/>
          </a:xfrm>
        </p:spPr>
        <p:txBody>
          <a:bodyPr anchor="ctr">
            <a:normAutofit/>
          </a:bodyPr>
          <a:lstStyle/>
          <a:p>
            <a:pPr marL="0" indent="0">
              <a:buNone/>
            </a:pPr>
            <a:endParaRPr lang="en-GB" sz="1500" dirty="0">
              <a:solidFill>
                <a:srgbClr val="000000"/>
              </a:solidFill>
            </a:endParaRPr>
          </a:p>
          <a:p>
            <a:pPr marL="0" indent="0">
              <a:buNone/>
            </a:pPr>
            <a:r>
              <a:rPr lang="en-GB" sz="4800" dirty="0">
                <a:solidFill>
                  <a:srgbClr val="000000"/>
                </a:solidFill>
              </a:rPr>
              <a:t>Questions?</a:t>
            </a:r>
          </a:p>
        </p:txBody>
      </p:sp>
    </p:spTree>
    <p:extLst>
      <p:ext uri="{BB962C8B-B14F-4D97-AF65-F5344CB8AC3E}">
        <p14:creationId xmlns:p14="http://schemas.microsoft.com/office/powerpoint/2010/main" val="645346024"/>
      </p:ext>
    </p:extLst>
  </p:cSld>
  <p:clrMapOvr>
    <a:masterClrMapping/>
  </p:clrMapOvr>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42</TotalTime>
  <Words>2944</Words>
  <Application>Microsoft Office PowerPoint</Application>
  <PresentationFormat>On-screen Show (4:3)</PresentationFormat>
  <Paragraphs>294</Paragraphs>
  <Slides>48</Slides>
  <Notes>11</Notes>
  <HiddenSlides>0</HiddenSlides>
  <MMClips>2</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48</vt:i4>
      </vt:variant>
    </vt:vector>
  </HeadingPairs>
  <TitlesOfParts>
    <vt:vector size="56" baseType="lpstr">
      <vt:lpstr>Arial</vt:lpstr>
      <vt:lpstr>Arial Black</vt:lpstr>
      <vt:lpstr>Calibri</vt:lpstr>
      <vt:lpstr>Calibri Light</vt:lpstr>
      <vt:lpstr>Times New Roman</vt:lpstr>
      <vt:lpstr>Wingdings</vt:lpstr>
      <vt:lpstr>Office Theme</vt:lpstr>
      <vt:lpstr>Essential</vt:lpstr>
      <vt:lpstr>PowerPoint Presentation</vt:lpstr>
      <vt:lpstr>PowerPoint Presentation</vt:lpstr>
      <vt:lpstr>PowerPoint Presentation</vt:lpstr>
      <vt:lpstr>Flow of genetic information</vt:lpstr>
      <vt:lpstr>Degeneracy of the genetic code</vt:lpstr>
      <vt:lpstr>PowerPoint Presentation</vt:lpstr>
      <vt:lpstr>PowerPoint Presentation</vt:lpstr>
      <vt:lpstr>PowerPoint Presentation</vt:lpstr>
      <vt:lpstr> Why is uracil rather than thymine used in RNA? </vt:lpstr>
      <vt:lpstr>DNA vs. RNA</vt:lpstr>
      <vt:lpstr>PowerPoint Presentation</vt:lpstr>
      <vt:lpstr>Steps of transcription</vt:lpstr>
      <vt:lpstr>Initiation</vt:lpstr>
      <vt:lpstr>The first part of Transcription</vt:lpstr>
      <vt:lpstr>Elongation</vt:lpstr>
      <vt:lpstr>termination</vt:lpstr>
      <vt:lpstr>PowerPoint Presentation</vt:lpstr>
      <vt:lpstr>Transcription</vt:lpstr>
      <vt:lpstr>Termination</vt:lpstr>
      <vt:lpstr>Types of eukaryotic polymerases</vt:lpstr>
      <vt:lpstr>Initiation</vt:lpstr>
      <vt:lpstr>elongation</vt:lpstr>
      <vt:lpstr>mRNA processing</vt:lpstr>
      <vt:lpstr>mRNA Processing</vt:lpstr>
      <vt:lpstr>Pre-mRNA Splicing</vt:lpstr>
      <vt:lpstr>Rna and Trna processing</vt:lpstr>
      <vt:lpstr>PowerPoint Presentation</vt:lpstr>
      <vt:lpstr>PowerPoint Presentation</vt:lpstr>
      <vt:lpstr>protein synthesis</vt:lpstr>
      <vt:lpstr>Peptide Bond</vt:lpstr>
      <vt:lpstr>Translation Process</vt:lpstr>
      <vt:lpstr>PowerPoint Presentation</vt:lpstr>
      <vt:lpstr>Protein Synthesis</vt:lpstr>
      <vt:lpstr>Translation Process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Frameshift mutations</vt:lpstr>
      <vt:lpstr>PowerPoint Presentation</vt:lpstr>
      <vt:lpstr>PowerPoint Presentation</vt:lpstr>
      <vt:lpstr>Gene and Protein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Tatiana Gaines &lt;School of Medicine&gt;</dc:creator>
  <cp:lastModifiedBy>Tatiana Gaines</cp:lastModifiedBy>
  <cp:revision>3</cp:revision>
  <dcterms:created xsi:type="dcterms:W3CDTF">2020-11-20T13:19:52Z</dcterms:created>
  <dcterms:modified xsi:type="dcterms:W3CDTF">2021-12-08T14:44:16Z</dcterms:modified>
</cp:coreProperties>
</file>